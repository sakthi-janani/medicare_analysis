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61"/>
  </p:notesMasterIdLst>
  <p:handoutMasterIdLst>
    <p:handoutMasterId r:id="rId62"/>
  </p:handoutMasterIdLst>
  <p:sldIdLst>
    <p:sldId id="1119" r:id="rId2"/>
    <p:sldId id="790" r:id="rId3"/>
    <p:sldId id="1426" r:id="rId4"/>
    <p:sldId id="1441" r:id="rId5"/>
    <p:sldId id="1440" r:id="rId6"/>
    <p:sldId id="1429" r:id="rId7"/>
    <p:sldId id="1427" r:id="rId8"/>
    <p:sldId id="1470" r:id="rId9"/>
    <p:sldId id="1430" r:id="rId10"/>
    <p:sldId id="1473" r:id="rId11"/>
    <p:sldId id="1425" r:id="rId12"/>
    <p:sldId id="1471" r:id="rId13"/>
    <p:sldId id="1431" r:id="rId14"/>
    <p:sldId id="1432" r:id="rId15"/>
    <p:sldId id="1433" r:id="rId16"/>
    <p:sldId id="1434" r:id="rId17"/>
    <p:sldId id="1435" r:id="rId18"/>
    <p:sldId id="1436" r:id="rId19"/>
    <p:sldId id="1438" r:id="rId20"/>
    <p:sldId id="1443" r:id="rId21"/>
    <p:sldId id="1444" r:id="rId22"/>
    <p:sldId id="1445" r:id="rId23"/>
    <p:sldId id="1453" r:id="rId24"/>
    <p:sldId id="1454" r:id="rId25"/>
    <p:sldId id="1446" r:id="rId26"/>
    <p:sldId id="1447" r:id="rId27"/>
    <p:sldId id="1448" r:id="rId28"/>
    <p:sldId id="1449" r:id="rId29"/>
    <p:sldId id="1450" r:id="rId30"/>
    <p:sldId id="1455" r:id="rId31"/>
    <p:sldId id="1456" r:id="rId32"/>
    <p:sldId id="1457" r:id="rId33"/>
    <p:sldId id="1481" r:id="rId34"/>
    <p:sldId id="1474" r:id="rId35"/>
    <p:sldId id="1480" r:id="rId36"/>
    <p:sldId id="1476" r:id="rId37"/>
    <p:sldId id="1477" r:id="rId38"/>
    <p:sldId id="1478" r:id="rId39"/>
    <p:sldId id="1479" r:id="rId40"/>
    <p:sldId id="1482" r:id="rId41"/>
    <p:sldId id="1483" r:id="rId42"/>
    <p:sldId id="1488" r:id="rId43"/>
    <p:sldId id="1484" r:id="rId44"/>
    <p:sldId id="1458" r:id="rId45"/>
    <p:sldId id="1459" r:id="rId46"/>
    <p:sldId id="1460" r:id="rId47"/>
    <p:sldId id="1452" r:id="rId48"/>
    <p:sldId id="1462" r:id="rId49"/>
    <p:sldId id="1461" r:id="rId50"/>
    <p:sldId id="1463" r:id="rId51"/>
    <p:sldId id="1464" r:id="rId52"/>
    <p:sldId id="1465" r:id="rId53"/>
    <p:sldId id="1466" r:id="rId54"/>
    <p:sldId id="1467" r:id="rId55"/>
    <p:sldId id="1468" r:id="rId56"/>
    <p:sldId id="1469" r:id="rId57"/>
    <p:sldId id="1489" r:id="rId58"/>
    <p:sldId id="1490" r:id="rId59"/>
    <p:sldId id="301" r:id="rId60"/>
  </p:sldIdLst>
  <p:sldSz cx="9144000" cy="5143500" type="screen16x9"/>
  <p:notesSz cx="6858000" cy="9144000"/>
  <p:embeddedFontLst>
    <p:embeddedFont>
      <p:font typeface="Georgia" panose="02040502050405020303" pitchFamily="18" charset="0"/>
      <p:regular r:id="rId63"/>
      <p:bold r:id="rId64"/>
      <p:italic r:id="rId65"/>
      <p:boldItalic r:id="rId66"/>
    </p:embeddedFont>
    <p:embeddedFont>
      <p:font typeface="Open Sans" panose="020B0606030504020204" pitchFamily="34" charset="0"/>
      <p:regular r:id="rId67"/>
      <p:bold r:id="rId68"/>
      <p:italic r:id="rId69"/>
      <p:boldItalic r:id="rId70"/>
    </p:embeddedFont>
    <p:embeddedFont>
      <p:font typeface="PT Sans Narrow" panose="020B0506020203020204" pitchFamily="34" charset="0"/>
      <p:regular r:id="rId71"/>
      <p:bold r:id="rId72"/>
    </p:embeddedFont>
    <p:embeddedFont>
      <p:font typeface="Raleway" pitchFamily="2"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kita Gupta"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47A1"/>
    <a:srgbClr val="E3F2FD"/>
    <a:srgbClr val="FEC200"/>
    <a:srgbClr val="DAA600"/>
    <a:srgbClr val="005A9C"/>
    <a:srgbClr val="007C7C"/>
    <a:srgbClr val="91CBF7"/>
    <a:srgbClr val="DDDDDD"/>
    <a:srgbClr val="156DC5"/>
    <a:srgbClr val="499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7A202-D894-4549-BF34-816215706C42}">
  <a:tblStyle styleId="{8EC7A202-D894-4549-BF34-816215706C42}"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784" autoAdjust="0"/>
  </p:normalViewPr>
  <p:slideViewPr>
    <p:cSldViewPr snapToGrid="0">
      <p:cViewPr>
        <p:scale>
          <a:sx n="75" d="100"/>
          <a:sy n="75" d="100"/>
        </p:scale>
        <p:origin x="1044" y="-148"/>
      </p:cViewPr>
      <p:guideLst>
        <p:guide orient="horz" pos="1620"/>
        <p:guide pos="2880"/>
      </p:guideLst>
    </p:cSldViewPr>
  </p:slideViewPr>
  <p:outlineViewPr>
    <p:cViewPr>
      <p:scale>
        <a:sx n="33" d="100"/>
        <a:sy n="33" d="100"/>
      </p:scale>
      <p:origin x="0" y="-3604"/>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2.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70" Type="http://schemas.openxmlformats.org/officeDocument/2006/relationships/font" Target="fonts/font8.fntdata"/><Relationship Id="rId75"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4.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2730FA-89E8-463B-9133-04F5081F81FB}"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A8631179-9BE9-440C-8B74-45CFAC9B9057}">
      <dgm:prSet custT="1"/>
      <dgm:spPr/>
      <dgm:t>
        <a:bodyPr/>
        <a:lstStyle/>
        <a:p>
          <a:r>
            <a:rPr lang="en-US" sz="1400" b="1" i="0" dirty="0">
              <a:latin typeface="Georgia" panose="02040502050405020303" pitchFamily="18" charset="0"/>
            </a:rPr>
            <a:t>Imported CSV File</a:t>
          </a:r>
          <a:r>
            <a:rPr lang="en-US" sz="1400" b="0" i="0" dirty="0">
              <a:latin typeface="Georgia" panose="02040502050405020303" pitchFamily="18" charset="0"/>
            </a:rPr>
            <a:t>: Used </a:t>
          </a:r>
          <a:r>
            <a:rPr lang="en-US" sz="1400" b="1" i="0" dirty="0">
              <a:latin typeface="Georgia" panose="02040502050405020303" pitchFamily="18" charset="0"/>
            </a:rPr>
            <a:t>Flat File Import</a:t>
          </a:r>
          <a:r>
            <a:rPr lang="en-US" sz="1400" b="0" i="0" dirty="0">
              <a:latin typeface="Georgia" panose="02040502050405020303" pitchFamily="18" charset="0"/>
            </a:rPr>
            <a:t> to load data into SQL Server.</a:t>
          </a:r>
          <a:endParaRPr lang="en-IN" sz="1400" dirty="0">
            <a:latin typeface="Georgia" panose="02040502050405020303" pitchFamily="18" charset="0"/>
          </a:endParaRPr>
        </a:p>
      </dgm:t>
    </dgm:pt>
    <dgm:pt modelId="{49DD7338-E093-4A90-8F16-48B6518FD80D}" type="parTrans" cxnId="{B0FE7BB9-3E1E-44C5-A5BE-27F7FD71E34D}">
      <dgm:prSet/>
      <dgm:spPr/>
      <dgm:t>
        <a:bodyPr/>
        <a:lstStyle/>
        <a:p>
          <a:endParaRPr lang="en-IN" sz="1400"/>
        </a:p>
      </dgm:t>
    </dgm:pt>
    <dgm:pt modelId="{29DEE527-8CA4-4A43-84FD-743CB566F1BE}" type="sibTrans" cxnId="{B0FE7BB9-3E1E-44C5-A5BE-27F7FD71E34D}">
      <dgm:prSet/>
      <dgm:spPr/>
      <dgm:t>
        <a:bodyPr/>
        <a:lstStyle/>
        <a:p>
          <a:endParaRPr lang="en-IN" sz="1400"/>
        </a:p>
      </dgm:t>
    </dgm:pt>
    <dgm:pt modelId="{AF8FF39A-BA99-4102-9F28-0CDAAA1B5FFA}">
      <dgm:prSet custT="1"/>
      <dgm:spPr/>
      <dgm:t>
        <a:bodyPr/>
        <a:lstStyle/>
        <a:p>
          <a:r>
            <a:rPr lang="en-US" sz="1400" b="1" i="0" dirty="0">
              <a:latin typeface="Georgia" panose="02040502050405020303" pitchFamily="18" charset="0"/>
            </a:rPr>
            <a:t>Stored Dataset</a:t>
          </a:r>
          <a:r>
            <a:rPr lang="en-US" sz="1400" b="0" i="0" dirty="0">
              <a:latin typeface="Georgia" panose="02040502050405020303" pitchFamily="18" charset="0"/>
            </a:rPr>
            <a:t>: Organized data into </a:t>
          </a:r>
          <a:r>
            <a:rPr lang="en-US" sz="1400" b="1" i="0" dirty="0">
              <a:latin typeface="Georgia" panose="02040502050405020303" pitchFamily="18" charset="0"/>
            </a:rPr>
            <a:t>SQL Server tables</a:t>
          </a:r>
          <a:r>
            <a:rPr lang="en-US" sz="1400" b="0" i="0" dirty="0">
              <a:latin typeface="Georgia" panose="02040502050405020303" pitchFamily="18" charset="0"/>
            </a:rPr>
            <a:t> for efficient querying and analysis.</a:t>
          </a:r>
          <a:endParaRPr lang="en-IN" sz="1400" dirty="0">
            <a:latin typeface="Georgia" panose="02040502050405020303" pitchFamily="18" charset="0"/>
          </a:endParaRPr>
        </a:p>
      </dgm:t>
    </dgm:pt>
    <dgm:pt modelId="{C3B27656-D7FB-401E-A756-7EB75556DBC9}" type="parTrans" cxnId="{C313BEEE-2EC4-47F9-BA2F-FDE65CC0EA15}">
      <dgm:prSet/>
      <dgm:spPr/>
      <dgm:t>
        <a:bodyPr/>
        <a:lstStyle/>
        <a:p>
          <a:endParaRPr lang="en-IN" sz="1400"/>
        </a:p>
      </dgm:t>
    </dgm:pt>
    <dgm:pt modelId="{53C3E891-A65A-4BC6-9534-FDED1B4AD3B3}" type="sibTrans" cxnId="{C313BEEE-2EC4-47F9-BA2F-FDE65CC0EA15}">
      <dgm:prSet/>
      <dgm:spPr/>
      <dgm:t>
        <a:bodyPr/>
        <a:lstStyle/>
        <a:p>
          <a:endParaRPr lang="en-IN" sz="1400"/>
        </a:p>
      </dgm:t>
    </dgm:pt>
    <dgm:pt modelId="{1850C37E-89B2-43D8-B5FD-ED210A5A95FC}" type="pres">
      <dgm:prSet presAssocID="{1D2730FA-89E8-463B-9133-04F5081F81FB}" presName="linear" presStyleCnt="0">
        <dgm:presLayoutVars>
          <dgm:animLvl val="lvl"/>
          <dgm:resizeHandles val="exact"/>
        </dgm:presLayoutVars>
      </dgm:prSet>
      <dgm:spPr/>
    </dgm:pt>
    <dgm:pt modelId="{98B20537-C2F0-413C-8A44-CD7B4A2BC204}" type="pres">
      <dgm:prSet presAssocID="{A8631179-9BE9-440C-8B74-45CFAC9B9057}" presName="parentText" presStyleLbl="node1" presStyleIdx="0" presStyleCnt="2">
        <dgm:presLayoutVars>
          <dgm:chMax val="0"/>
          <dgm:bulletEnabled val="1"/>
        </dgm:presLayoutVars>
      </dgm:prSet>
      <dgm:spPr/>
    </dgm:pt>
    <dgm:pt modelId="{AD84530F-85C3-484E-AE28-F6B569194CB9}" type="pres">
      <dgm:prSet presAssocID="{29DEE527-8CA4-4A43-84FD-743CB566F1BE}" presName="spacer" presStyleCnt="0"/>
      <dgm:spPr/>
    </dgm:pt>
    <dgm:pt modelId="{E2B7F5F5-6128-4B57-BBF9-E443D54110A0}" type="pres">
      <dgm:prSet presAssocID="{AF8FF39A-BA99-4102-9F28-0CDAAA1B5FFA}" presName="parentText" presStyleLbl="node1" presStyleIdx="1" presStyleCnt="2">
        <dgm:presLayoutVars>
          <dgm:chMax val="0"/>
          <dgm:bulletEnabled val="1"/>
        </dgm:presLayoutVars>
      </dgm:prSet>
      <dgm:spPr/>
    </dgm:pt>
  </dgm:ptLst>
  <dgm:cxnLst>
    <dgm:cxn modelId="{A386B307-AD11-48E8-94B1-6CD9679B8226}" type="presOf" srcId="{AF8FF39A-BA99-4102-9F28-0CDAAA1B5FFA}" destId="{E2B7F5F5-6128-4B57-BBF9-E443D54110A0}" srcOrd="0" destOrd="0" presId="urn:microsoft.com/office/officeart/2005/8/layout/vList2"/>
    <dgm:cxn modelId="{ABC91F86-E14A-4D6C-A100-DDE2D493E78F}" type="presOf" srcId="{1D2730FA-89E8-463B-9133-04F5081F81FB}" destId="{1850C37E-89B2-43D8-B5FD-ED210A5A95FC}" srcOrd="0" destOrd="0" presId="urn:microsoft.com/office/officeart/2005/8/layout/vList2"/>
    <dgm:cxn modelId="{E2BB9AA2-CD8D-4677-8223-2CB5DA4D0C37}" type="presOf" srcId="{A8631179-9BE9-440C-8B74-45CFAC9B9057}" destId="{98B20537-C2F0-413C-8A44-CD7B4A2BC204}" srcOrd="0" destOrd="0" presId="urn:microsoft.com/office/officeart/2005/8/layout/vList2"/>
    <dgm:cxn modelId="{B0FE7BB9-3E1E-44C5-A5BE-27F7FD71E34D}" srcId="{1D2730FA-89E8-463B-9133-04F5081F81FB}" destId="{A8631179-9BE9-440C-8B74-45CFAC9B9057}" srcOrd="0" destOrd="0" parTransId="{49DD7338-E093-4A90-8F16-48B6518FD80D}" sibTransId="{29DEE527-8CA4-4A43-84FD-743CB566F1BE}"/>
    <dgm:cxn modelId="{C313BEEE-2EC4-47F9-BA2F-FDE65CC0EA15}" srcId="{1D2730FA-89E8-463B-9133-04F5081F81FB}" destId="{AF8FF39A-BA99-4102-9F28-0CDAAA1B5FFA}" srcOrd="1" destOrd="0" parTransId="{C3B27656-D7FB-401E-A756-7EB75556DBC9}" sibTransId="{53C3E891-A65A-4BC6-9534-FDED1B4AD3B3}"/>
    <dgm:cxn modelId="{81FFF418-0DF3-4E95-8413-B337FE7A5357}" type="presParOf" srcId="{1850C37E-89B2-43D8-B5FD-ED210A5A95FC}" destId="{98B20537-C2F0-413C-8A44-CD7B4A2BC204}" srcOrd="0" destOrd="0" presId="urn:microsoft.com/office/officeart/2005/8/layout/vList2"/>
    <dgm:cxn modelId="{F976E0A4-769E-4726-B6F8-92044BD6D0B8}" type="presParOf" srcId="{1850C37E-89B2-43D8-B5FD-ED210A5A95FC}" destId="{AD84530F-85C3-484E-AE28-F6B569194CB9}" srcOrd="1" destOrd="0" presId="urn:microsoft.com/office/officeart/2005/8/layout/vList2"/>
    <dgm:cxn modelId="{ED473B4D-697F-4A39-A3BC-643788B453BD}" type="presParOf" srcId="{1850C37E-89B2-43D8-B5FD-ED210A5A95FC}" destId="{E2B7F5F5-6128-4B57-BBF9-E443D54110A0}"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E4BE45-FE5A-4922-88F6-9064E991AEB3}"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69001BD9-A541-42F6-9723-C7A31A850F92}">
      <dgm:prSet custT="1"/>
      <dgm:spPr/>
      <dgm:t>
        <a:bodyPr/>
        <a:lstStyle/>
        <a:p>
          <a:r>
            <a:rPr lang="en-US" sz="1400" b="1" i="0" dirty="0">
              <a:latin typeface="Georgia" panose="02040502050405020303" pitchFamily="18" charset="0"/>
            </a:rPr>
            <a:t>Checked Data Types</a:t>
          </a:r>
          <a:r>
            <a:rPr lang="en-US" sz="1400" b="0" i="0" dirty="0">
              <a:latin typeface="Georgia" panose="02040502050405020303" pitchFamily="18" charset="0"/>
            </a:rPr>
            <a:t>: Verified the data type of each column.</a:t>
          </a:r>
          <a:endParaRPr lang="en-IN" sz="1400" dirty="0">
            <a:latin typeface="Georgia" panose="02040502050405020303" pitchFamily="18" charset="0"/>
          </a:endParaRPr>
        </a:p>
      </dgm:t>
    </dgm:pt>
    <dgm:pt modelId="{968808DF-C9A2-49C5-9DD1-D4BD3F51D38C}" type="parTrans" cxnId="{841467CD-0A9F-4BD2-886C-9A55C44F094B}">
      <dgm:prSet/>
      <dgm:spPr/>
      <dgm:t>
        <a:bodyPr/>
        <a:lstStyle/>
        <a:p>
          <a:endParaRPr lang="en-IN"/>
        </a:p>
      </dgm:t>
    </dgm:pt>
    <dgm:pt modelId="{E8151F68-8E37-4D8A-BDAC-027601F4DFC8}" type="sibTrans" cxnId="{841467CD-0A9F-4BD2-886C-9A55C44F094B}">
      <dgm:prSet/>
      <dgm:spPr/>
      <dgm:t>
        <a:bodyPr/>
        <a:lstStyle/>
        <a:p>
          <a:endParaRPr lang="en-IN"/>
        </a:p>
      </dgm:t>
    </dgm:pt>
    <dgm:pt modelId="{5B14B61B-51DC-4F6A-8E62-06E4FC83D00F}">
      <dgm:prSet custT="1"/>
      <dgm:spPr/>
      <dgm:t>
        <a:bodyPr/>
        <a:lstStyle/>
        <a:p>
          <a:r>
            <a:rPr lang="en-US" sz="1400" b="1" i="0" dirty="0">
              <a:latin typeface="Georgia" panose="02040502050405020303" pitchFamily="18" charset="0"/>
            </a:rPr>
            <a:t>Row Count Analysis</a:t>
          </a:r>
          <a:r>
            <a:rPr lang="en-US" sz="1400" b="0" i="0" dirty="0">
              <a:latin typeface="Georgia" panose="02040502050405020303" pitchFamily="18" charset="0"/>
            </a:rPr>
            <a:t>: Identified the number of records in each table.</a:t>
          </a:r>
          <a:endParaRPr lang="en-IN" sz="1400" dirty="0">
            <a:latin typeface="Georgia" panose="02040502050405020303" pitchFamily="18" charset="0"/>
          </a:endParaRPr>
        </a:p>
      </dgm:t>
    </dgm:pt>
    <dgm:pt modelId="{9B02800F-98DA-4BC5-A0BE-A52483DC6348}" type="parTrans" cxnId="{225EF1E1-AD6C-4735-AA8D-964FE6B16C26}">
      <dgm:prSet/>
      <dgm:spPr/>
      <dgm:t>
        <a:bodyPr/>
        <a:lstStyle/>
        <a:p>
          <a:endParaRPr lang="en-IN"/>
        </a:p>
      </dgm:t>
    </dgm:pt>
    <dgm:pt modelId="{355C2E2D-0E8A-448F-A824-A1B31211EB40}" type="sibTrans" cxnId="{225EF1E1-AD6C-4735-AA8D-964FE6B16C26}">
      <dgm:prSet/>
      <dgm:spPr/>
      <dgm:t>
        <a:bodyPr/>
        <a:lstStyle/>
        <a:p>
          <a:endParaRPr lang="en-IN"/>
        </a:p>
      </dgm:t>
    </dgm:pt>
    <dgm:pt modelId="{DBA3E391-12F3-4EC7-961D-2CF5437EB684}">
      <dgm:prSet custT="1"/>
      <dgm:spPr/>
      <dgm:t>
        <a:bodyPr/>
        <a:lstStyle/>
        <a:p>
          <a:r>
            <a:rPr lang="en-US" sz="1400" b="1" i="0" dirty="0">
              <a:latin typeface="Georgia" panose="02040502050405020303" pitchFamily="18" charset="0"/>
            </a:rPr>
            <a:t>Null Value Handling</a:t>
          </a:r>
          <a:r>
            <a:rPr lang="en-US" sz="1400" b="0" i="0" dirty="0">
              <a:latin typeface="Georgia" panose="02040502050405020303" pitchFamily="18" charset="0"/>
            </a:rPr>
            <a:t>: Detected missing values and applied appropriate handling techniques</a:t>
          </a:r>
          <a:endParaRPr lang="en-IN" sz="1400" dirty="0">
            <a:latin typeface="Georgia" panose="02040502050405020303" pitchFamily="18" charset="0"/>
          </a:endParaRPr>
        </a:p>
      </dgm:t>
    </dgm:pt>
    <dgm:pt modelId="{EDE46F45-C58A-4DE7-A72B-FFE50A9C1D6E}" type="parTrans" cxnId="{D39E9176-58D9-4B43-88AD-EA8AC6F2C17C}">
      <dgm:prSet/>
      <dgm:spPr/>
      <dgm:t>
        <a:bodyPr/>
        <a:lstStyle/>
        <a:p>
          <a:endParaRPr lang="en-IN"/>
        </a:p>
      </dgm:t>
    </dgm:pt>
    <dgm:pt modelId="{410ADF69-3EC9-49AE-8C7F-7FE6FC2E3285}" type="sibTrans" cxnId="{D39E9176-58D9-4B43-88AD-EA8AC6F2C17C}">
      <dgm:prSet/>
      <dgm:spPr/>
      <dgm:t>
        <a:bodyPr/>
        <a:lstStyle/>
        <a:p>
          <a:endParaRPr lang="en-IN"/>
        </a:p>
      </dgm:t>
    </dgm:pt>
    <dgm:pt modelId="{FAFDD14D-6F2C-4014-9536-C9869DC2A5F0}" type="pres">
      <dgm:prSet presAssocID="{C7E4BE45-FE5A-4922-88F6-9064E991AEB3}" presName="linear" presStyleCnt="0">
        <dgm:presLayoutVars>
          <dgm:animLvl val="lvl"/>
          <dgm:resizeHandles val="exact"/>
        </dgm:presLayoutVars>
      </dgm:prSet>
      <dgm:spPr/>
    </dgm:pt>
    <dgm:pt modelId="{43690769-D0F4-4B39-A5BD-C3F44A14565F}" type="pres">
      <dgm:prSet presAssocID="{69001BD9-A541-42F6-9723-C7A31A850F92}" presName="parentText" presStyleLbl="node1" presStyleIdx="0" presStyleCnt="3">
        <dgm:presLayoutVars>
          <dgm:chMax val="0"/>
          <dgm:bulletEnabled val="1"/>
        </dgm:presLayoutVars>
      </dgm:prSet>
      <dgm:spPr/>
    </dgm:pt>
    <dgm:pt modelId="{F6DBC9BC-24B2-4493-A167-52FB239F1458}" type="pres">
      <dgm:prSet presAssocID="{E8151F68-8E37-4D8A-BDAC-027601F4DFC8}" presName="spacer" presStyleCnt="0"/>
      <dgm:spPr/>
    </dgm:pt>
    <dgm:pt modelId="{3D4A274D-56C0-4C50-A81C-14252A004D6F}" type="pres">
      <dgm:prSet presAssocID="{5B14B61B-51DC-4F6A-8E62-06E4FC83D00F}" presName="parentText" presStyleLbl="node1" presStyleIdx="1" presStyleCnt="3">
        <dgm:presLayoutVars>
          <dgm:chMax val="0"/>
          <dgm:bulletEnabled val="1"/>
        </dgm:presLayoutVars>
      </dgm:prSet>
      <dgm:spPr/>
    </dgm:pt>
    <dgm:pt modelId="{2791D18F-E97E-4F05-9D29-452E06524AE2}" type="pres">
      <dgm:prSet presAssocID="{355C2E2D-0E8A-448F-A824-A1B31211EB40}" presName="spacer" presStyleCnt="0"/>
      <dgm:spPr/>
    </dgm:pt>
    <dgm:pt modelId="{B4B33485-8A12-4789-9AA1-8DF1EEA122CC}" type="pres">
      <dgm:prSet presAssocID="{DBA3E391-12F3-4EC7-961D-2CF5437EB684}" presName="parentText" presStyleLbl="node1" presStyleIdx="2" presStyleCnt="3">
        <dgm:presLayoutVars>
          <dgm:chMax val="0"/>
          <dgm:bulletEnabled val="1"/>
        </dgm:presLayoutVars>
      </dgm:prSet>
      <dgm:spPr/>
    </dgm:pt>
  </dgm:ptLst>
  <dgm:cxnLst>
    <dgm:cxn modelId="{D39E9176-58D9-4B43-88AD-EA8AC6F2C17C}" srcId="{C7E4BE45-FE5A-4922-88F6-9064E991AEB3}" destId="{DBA3E391-12F3-4EC7-961D-2CF5437EB684}" srcOrd="2" destOrd="0" parTransId="{EDE46F45-C58A-4DE7-A72B-FFE50A9C1D6E}" sibTransId="{410ADF69-3EC9-49AE-8C7F-7FE6FC2E3285}"/>
    <dgm:cxn modelId="{595BE377-4BDF-4B83-BE29-A9A866971637}" type="presOf" srcId="{C7E4BE45-FE5A-4922-88F6-9064E991AEB3}" destId="{FAFDD14D-6F2C-4014-9536-C9869DC2A5F0}" srcOrd="0" destOrd="0" presId="urn:microsoft.com/office/officeart/2005/8/layout/vList2"/>
    <dgm:cxn modelId="{425B1BA0-C34A-4BBB-8F57-08C947FB80A8}" type="presOf" srcId="{69001BD9-A541-42F6-9723-C7A31A850F92}" destId="{43690769-D0F4-4B39-A5BD-C3F44A14565F}" srcOrd="0" destOrd="0" presId="urn:microsoft.com/office/officeart/2005/8/layout/vList2"/>
    <dgm:cxn modelId="{841467CD-0A9F-4BD2-886C-9A55C44F094B}" srcId="{C7E4BE45-FE5A-4922-88F6-9064E991AEB3}" destId="{69001BD9-A541-42F6-9723-C7A31A850F92}" srcOrd="0" destOrd="0" parTransId="{968808DF-C9A2-49C5-9DD1-D4BD3F51D38C}" sibTransId="{E8151F68-8E37-4D8A-BDAC-027601F4DFC8}"/>
    <dgm:cxn modelId="{225EF1E1-AD6C-4735-AA8D-964FE6B16C26}" srcId="{C7E4BE45-FE5A-4922-88F6-9064E991AEB3}" destId="{5B14B61B-51DC-4F6A-8E62-06E4FC83D00F}" srcOrd="1" destOrd="0" parTransId="{9B02800F-98DA-4BC5-A0BE-A52483DC6348}" sibTransId="{355C2E2D-0E8A-448F-A824-A1B31211EB40}"/>
    <dgm:cxn modelId="{72C956E2-0F07-42C4-9CCC-2FB626173FED}" type="presOf" srcId="{DBA3E391-12F3-4EC7-961D-2CF5437EB684}" destId="{B4B33485-8A12-4789-9AA1-8DF1EEA122CC}" srcOrd="0" destOrd="0" presId="urn:microsoft.com/office/officeart/2005/8/layout/vList2"/>
    <dgm:cxn modelId="{BF80B5FE-8F7B-4C4C-BB4A-8DB54CF8051B}" type="presOf" srcId="{5B14B61B-51DC-4F6A-8E62-06E4FC83D00F}" destId="{3D4A274D-56C0-4C50-A81C-14252A004D6F}" srcOrd="0" destOrd="0" presId="urn:microsoft.com/office/officeart/2005/8/layout/vList2"/>
    <dgm:cxn modelId="{04F63503-D961-48F3-A510-0D25A248AC98}" type="presParOf" srcId="{FAFDD14D-6F2C-4014-9536-C9869DC2A5F0}" destId="{43690769-D0F4-4B39-A5BD-C3F44A14565F}" srcOrd="0" destOrd="0" presId="urn:microsoft.com/office/officeart/2005/8/layout/vList2"/>
    <dgm:cxn modelId="{52E1068D-F852-4E8D-9D0B-17B80628BE93}" type="presParOf" srcId="{FAFDD14D-6F2C-4014-9536-C9869DC2A5F0}" destId="{F6DBC9BC-24B2-4493-A167-52FB239F1458}" srcOrd="1" destOrd="0" presId="urn:microsoft.com/office/officeart/2005/8/layout/vList2"/>
    <dgm:cxn modelId="{9D36C6B4-8214-4C6C-BEE7-0084836D686B}" type="presParOf" srcId="{FAFDD14D-6F2C-4014-9536-C9869DC2A5F0}" destId="{3D4A274D-56C0-4C50-A81C-14252A004D6F}" srcOrd="2" destOrd="0" presId="urn:microsoft.com/office/officeart/2005/8/layout/vList2"/>
    <dgm:cxn modelId="{D50BD811-402F-4954-ABFD-386F7F37567F}" type="presParOf" srcId="{FAFDD14D-6F2C-4014-9536-C9869DC2A5F0}" destId="{2791D18F-E97E-4F05-9D29-452E06524AE2}" srcOrd="3" destOrd="0" presId="urn:microsoft.com/office/officeart/2005/8/layout/vList2"/>
    <dgm:cxn modelId="{3AA8EC2E-8232-4289-8A43-C9F8021C9490}" type="presParOf" srcId="{FAFDD14D-6F2C-4014-9536-C9869DC2A5F0}" destId="{B4B33485-8A12-4789-9AA1-8DF1EEA122CC}"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6167CF-3FE8-43EE-9722-0AE0A6D6104B}" type="doc">
      <dgm:prSet loTypeId="urn:microsoft.com/office/officeart/2005/8/layout/hList9" loCatId="list" qsTypeId="urn:microsoft.com/office/officeart/2005/8/quickstyle/simple1" qsCatId="simple" csTypeId="urn:microsoft.com/office/officeart/2005/8/colors/colorful5" csCatId="colorful" phldr="1"/>
      <dgm:spPr/>
      <dgm:t>
        <a:bodyPr/>
        <a:lstStyle/>
        <a:p>
          <a:endParaRPr lang="en-IN"/>
        </a:p>
      </dgm:t>
    </dgm:pt>
    <dgm:pt modelId="{9913B87B-40D3-4E6C-9C3E-5B100E2179D9}">
      <dgm:prSet custT="1"/>
      <dgm:spPr/>
      <dgm:t>
        <a:bodyPr/>
        <a:lstStyle/>
        <a:p>
          <a:r>
            <a:rPr lang="en-IN" sz="2400" b="0" i="0">
              <a:latin typeface="Georgia" panose="02040502050405020303" pitchFamily="18" charset="0"/>
            </a:rPr>
            <a:t>27%</a:t>
          </a:r>
          <a:endParaRPr lang="en-IN" sz="2400" dirty="0">
            <a:latin typeface="Georgia" panose="02040502050405020303" pitchFamily="18" charset="0"/>
          </a:endParaRPr>
        </a:p>
      </dgm:t>
    </dgm:pt>
    <dgm:pt modelId="{A2009D2B-5FC6-4A5C-8325-6A8C004DED3F}" type="parTrans" cxnId="{BF2D2A1C-F49D-4926-B569-2D9BEBC93ACB}">
      <dgm:prSet/>
      <dgm:spPr/>
      <dgm:t>
        <a:bodyPr/>
        <a:lstStyle/>
        <a:p>
          <a:endParaRPr lang="en-IN"/>
        </a:p>
      </dgm:t>
    </dgm:pt>
    <dgm:pt modelId="{3E86C9A9-2352-4256-A7D6-1A9B175CD84E}" type="sibTrans" cxnId="{BF2D2A1C-F49D-4926-B569-2D9BEBC93ACB}">
      <dgm:prSet/>
      <dgm:spPr/>
      <dgm:t>
        <a:bodyPr/>
        <a:lstStyle/>
        <a:p>
          <a:endParaRPr lang="en-IN"/>
        </a:p>
      </dgm:t>
    </dgm:pt>
    <dgm:pt modelId="{2F4DF076-5496-4D20-AE74-27DBADF38F0E}">
      <dgm:prSet custT="1"/>
      <dgm:spPr/>
      <dgm:t>
        <a:bodyPr/>
        <a:lstStyle/>
        <a:p>
          <a:r>
            <a:rPr lang="en-IN" sz="2400" b="0" i="0">
              <a:latin typeface="Georgia" panose="02040502050405020303" pitchFamily="18" charset="0"/>
            </a:rPr>
            <a:t>23%</a:t>
          </a:r>
          <a:endParaRPr lang="en-IN" sz="2400" dirty="0">
            <a:latin typeface="Georgia" panose="02040502050405020303" pitchFamily="18" charset="0"/>
          </a:endParaRPr>
        </a:p>
      </dgm:t>
    </dgm:pt>
    <dgm:pt modelId="{D3822ECB-29BD-4ED4-BCAE-26C00775E087}" type="parTrans" cxnId="{E5FB8DB8-FAEE-47CA-8FB8-B740EBD5CBFE}">
      <dgm:prSet/>
      <dgm:spPr/>
      <dgm:t>
        <a:bodyPr/>
        <a:lstStyle/>
        <a:p>
          <a:endParaRPr lang="en-IN"/>
        </a:p>
      </dgm:t>
    </dgm:pt>
    <dgm:pt modelId="{004D57F7-E121-4105-A4A1-58D5B5C9901E}" type="sibTrans" cxnId="{E5FB8DB8-FAEE-47CA-8FB8-B740EBD5CBFE}">
      <dgm:prSet/>
      <dgm:spPr/>
      <dgm:t>
        <a:bodyPr/>
        <a:lstStyle/>
        <a:p>
          <a:endParaRPr lang="en-IN"/>
        </a:p>
      </dgm:t>
    </dgm:pt>
    <dgm:pt modelId="{C13E2D63-8B12-4183-BA3E-83D27355B42B}">
      <dgm:prSet custT="1">
        <dgm:style>
          <a:lnRef idx="1">
            <a:schemeClr val="accent1"/>
          </a:lnRef>
          <a:fillRef idx="2">
            <a:schemeClr val="accent1"/>
          </a:fillRef>
          <a:effectRef idx="1">
            <a:schemeClr val="accent1"/>
          </a:effectRef>
          <a:fontRef idx="minor">
            <a:schemeClr val="dk1"/>
          </a:fontRef>
        </dgm:style>
      </dgm:prSet>
      <dgm:spPr/>
      <dgm:t>
        <a:bodyPr/>
        <a:lstStyle/>
        <a:p>
          <a:r>
            <a:rPr lang="en-IN" sz="1200">
              <a:latin typeface="Georgia" panose="02040502050405020303" pitchFamily="18" charset="0"/>
            </a:rPr>
            <a:t>Average % of amount paid out of the total bill</a:t>
          </a:r>
          <a:endParaRPr lang="en-IN" sz="1200" dirty="0">
            <a:latin typeface="Georgia" panose="02040502050405020303" pitchFamily="18" charset="0"/>
          </a:endParaRPr>
        </a:p>
      </dgm:t>
    </dgm:pt>
    <dgm:pt modelId="{B105F554-7AF9-480A-8031-9A6FC3F6BA29}" type="parTrans" cxnId="{CB4C9B06-1E46-415D-A8DC-30D077EB3087}">
      <dgm:prSet/>
      <dgm:spPr/>
      <dgm:t>
        <a:bodyPr/>
        <a:lstStyle/>
        <a:p>
          <a:endParaRPr lang="en-IN"/>
        </a:p>
      </dgm:t>
    </dgm:pt>
    <dgm:pt modelId="{8893D027-6FAF-49DA-9C65-44EF53BCCD11}" type="sibTrans" cxnId="{CB4C9B06-1E46-415D-A8DC-30D077EB3087}">
      <dgm:prSet/>
      <dgm:spPr/>
      <dgm:t>
        <a:bodyPr/>
        <a:lstStyle/>
        <a:p>
          <a:endParaRPr lang="en-IN"/>
        </a:p>
      </dgm:t>
    </dgm:pt>
    <dgm:pt modelId="{F0A6F01F-3BC3-4232-B3AC-A4455DCA0FED}">
      <dgm:prSet custT="1">
        <dgm:style>
          <a:lnRef idx="1">
            <a:schemeClr val="accent1"/>
          </a:lnRef>
          <a:fillRef idx="2">
            <a:schemeClr val="accent1"/>
          </a:fillRef>
          <a:effectRef idx="1">
            <a:schemeClr val="accent1"/>
          </a:effectRef>
          <a:fontRef idx="minor">
            <a:schemeClr val="dk1"/>
          </a:fontRef>
        </dgm:style>
      </dgm:prSet>
      <dgm:spPr/>
      <dgm:t>
        <a:bodyPr/>
        <a:lstStyle/>
        <a:p>
          <a:r>
            <a:rPr lang="en-IN" sz="1200" b="0" i="0" dirty="0">
              <a:latin typeface="Georgia" panose="02040502050405020303" pitchFamily="18" charset="0"/>
            </a:rPr>
            <a:t>Average % of amount paid by Medicare out of the total bill</a:t>
          </a:r>
          <a:endParaRPr lang="en-IN" sz="1200" dirty="0">
            <a:latin typeface="Georgia" panose="02040502050405020303" pitchFamily="18" charset="0"/>
          </a:endParaRPr>
        </a:p>
      </dgm:t>
    </dgm:pt>
    <dgm:pt modelId="{38E54902-7153-4BF1-A999-3B039EBE00EA}" type="parTrans" cxnId="{35303A20-0A55-4932-9B41-8D2D183D5EFD}">
      <dgm:prSet/>
      <dgm:spPr/>
      <dgm:t>
        <a:bodyPr/>
        <a:lstStyle/>
        <a:p>
          <a:endParaRPr lang="en-IN"/>
        </a:p>
      </dgm:t>
    </dgm:pt>
    <dgm:pt modelId="{CF790F9C-CB1F-42A5-9CE1-360605B804D0}" type="sibTrans" cxnId="{35303A20-0A55-4932-9B41-8D2D183D5EFD}">
      <dgm:prSet/>
      <dgm:spPr/>
      <dgm:t>
        <a:bodyPr/>
        <a:lstStyle/>
        <a:p>
          <a:endParaRPr lang="en-IN"/>
        </a:p>
      </dgm:t>
    </dgm:pt>
    <dgm:pt modelId="{15A2BB13-57CE-4D10-A521-E7831EB87AE7}">
      <dgm:prSet custT="1"/>
      <dgm:spPr/>
      <dgm:t>
        <a:bodyPr/>
        <a:lstStyle/>
        <a:p>
          <a:r>
            <a:rPr lang="en-US" sz="2400" b="0" i="0">
              <a:latin typeface="Georgia" panose="02040502050405020303" pitchFamily="18" charset="0"/>
            </a:rPr>
            <a:t>85%</a:t>
          </a:r>
          <a:endParaRPr lang="en-IN" sz="2400" dirty="0">
            <a:latin typeface="Georgia" panose="02040502050405020303" pitchFamily="18" charset="0"/>
          </a:endParaRPr>
        </a:p>
      </dgm:t>
    </dgm:pt>
    <dgm:pt modelId="{B7FB2A5D-F851-422B-8BFD-D1F4806B9AF7}" type="parTrans" cxnId="{0DFA7E6D-C6C5-4D97-9AAF-59EE746D6562}">
      <dgm:prSet/>
      <dgm:spPr/>
      <dgm:t>
        <a:bodyPr/>
        <a:lstStyle/>
        <a:p>
          <a:endParaRPr lang="en-IN"/>
        </a:p>
      </dgm:t>
    </dgm:pt>
    <dgm:pt modelId="{230370FB-9468-486B-888B-3D79E2CFAF1C}" type="sibTrans" cxnId="{0DFA7E6D-C6C5-4D97-9AAF-59EE746D6562}">
      <dgm:prSet/>
      <dgm:spPr/>
      <dgm:t>
        <a:bodyPr/>
        <a:lstStyle/>
        <a:p>
          <a:endParaRPr lang="en-IN"/>
        </a:p>
      </dgm:t>
    </dgm:pt>
    <dgm:pt modelId="{684E9D5E-9D5E-48F0-A014-48770870ACBD}">
      <dgm:prSet custT="1">
        <dgm:style>
          <a:lnRef idx="1">
            <a:schemeClr val="accent1"/>
          </a:lnRef>
          <a:fillRef idx="2">
            <a:schemeClr val="accent1"/>
          </a:fillRef>
          <a:effectRef idx="1">
            <a:schemeClr val="accent1"/>
          </a:effectRef>
          <a:fontRef idx="minor">
            <a:schemeClr val="dk1"/>
          </a:fontRef>
        </dgm:style>
      </dgm:prSet>
      <dgm:spPr/>
      <dgm:t>
        <a:bodyPr/>
        <a:lstStyle/>
        <a:p>
          <a:r>
            <a:rPr lang="en-US" sz="1200" b="0" i="0" dirty="0">
              <a:latin typeface="Georgia" panose="02040502050405020303" pitchFamily="18" charset="0"/>
            </a:rPr>
            <a:t>Medicare contributes out of the total amount that gets paid</a:t>
          </a:r>
          <a:endParaRPr lang="en-IN" sz="1200" dirty="0">
            <a:latin typeface="Georgia" panose="02040502050405020303" pitchFamily="18" charset="0"/>
          </a:endParaRPr>
        </a:p>
      </dgm:t>
    </dgm:pt>
    <dgm:pt modelId="{37674761-CB0A-4E6A-861E-748F781E46A1}" type="parTrans" cxnId="{8EDBB738-728D-4B38-9216-200EAF15FD23}">
      <dgm:prSet/>
      <dgm:spPr/>
      <dgm:t>
        <a:bodyPr/>
        <a:lstStyle/>
        <a:p>
          <a:endParaRPr lang="en-IN"/>
        </a:p>
      </dgm:t>
    </dgm:pt>
    <dgm:pt modelId="{10A454B3-A536-4923-95A5-2A1D48CD4C17}" type="sibTrans" cxnId="{8EDBB738-728D-4B38-9216-200EAF15FD23}">
      <dgm:prSet/>
      <dgm:spPr/>
      <dgm:t>
        <a:bodyPr/>
        <a:lstStyle/>
        <a:p>
          <a:endParaRPr lang="en-IN"/>
        </a:p>
      </dgm:t>
    </dgm:pt>
    <dgm:pt modelId="{44EDE9E6-D0F1-4528-8D16-E6B21DE9561A}" type="pres">
      <dgm:prSet presAssocID="{AA6167CF-3FE8-43EE-9722-0AE0A6D6104B}" presName="list" presStyleCnt="0">
        <dgm:presLayoutVars>
          <dgm:dir/>
          <dgm:animLvl val="lvl"/>
        </dgm:presLayoutVars>
      </dgm:prSet>
      <dgm:spPr/>
    </dgm:pt>
    <dgm:pt modelId="{D111B475-9034-4338-B832-F7A3B01BD1CE}" type="pres">
      <dgm:prSet presAssocID="{9913B87B-40D3-4E6C-9C3E-5B100E2179D9}" presName="posSpace" presStyleCnt="0"/>
      <dgm:spPr/>
    </dgm:pt>
    <dgm:pt modelId="{325F5A0A-59FD-4392-9E2F-27D58DF4712C}" type="pres">
      <dgm:prSet presAssocID="{9913B87B-40D3-4E6C-9C3E-5B100E2179D9}" presName="vertFlow" presStyleCnt="0"/>
      <dgm:spPr/>
    </dgm:pt>
    <dgm:pt modelId="{92CBE59F-A633-4A56-80A1-B276F62A55D3}" type="pres">
      <dgm:prSet presAssocID="{9913B87B-40D3-4E6C-9C3E-5B100E2179D9}" presName="topSpace" presStyleCnt="0"/>
      <dgm:spPr/>
    </dgm:pt>
    <dgm:pt modelId="{4A5BF03D-ACC8-4AE6-B26E-0D9E36C67527}" type="pres">
      <dgm:prSet presAssocID="{9913B87B-40D3-4E6C-9C3E-5B100E2179D9}" presName="firstComp" presStyleCnt="0"/>
      <dgm:spPr/>
    </dgm:pt>
    <dgm:pt modelId="{1C46CE8A-A793-427E-9A1A-EF97501A0A5D}" type="pres">
      <dgm:prSet presAssocID="{9913B87B-40D3-4E6C-9C3E-5B100E2179D9}" presName="firstChild" presStyleLbl="bgAccFollowNode1" presStyleIdx="0" presStyleCnt="3"/>
      <dgm:spPr/>
    </dgm:pt>
    <dgm:pt modelId="{1A869DF0-3654-4FBB-9439-B4B3D489ED30}" type="pres">
      <dgm:prSet presAssocID="{9913B87B-40D3-4E6C-9C3E-5B100E2179D9}" presName="firstChildTx" presStyleLbl="bgAccFollowNode1" presStyleIdx="0" presStyleCnt="3">
        <dgm:presLayoutVars>
          <dgm:bulletEnabled val="1"/>
        </dgm:presLayoutVars>
      </dgm:prSet>
      <dgm:spPr/>
    </dgm:pt>
    <dgm:pt modelId="{68D6491C-03F4-404A-B4A6-C33515B6269D}" type="pres">
      <dgm:prSet presAssocID="{9913B87B-40D3-4E6C-9C3E-5B100E2179D9}" presName="negSpace" presStyleCnt="0"/>
      <dgm:spPr/>
    </dgm:pt>
    <dgm:pt modelId="{7CCBB485-83B7-47FE-99AE-DC3FEA33BFF0}" type="pres">
      <dgm:prSet presAssocID="{9913B87B-40D3-4E6C-9C3E-5B100E2179D9}" presName="circle" presStyleLbl="node1" presStyleIdx="0" presStyleCnt="3"/>
      <dgm:spPr/>
    </dgm:pt>
    <dgm:pt modelId="{7A72FAF2-C84E-482F-8860-F705C41EE891}" type="pres">
      <dgm:prSet presAssocID="{3E86C9A9-2352-4256-A7D6-1A9B175CD84E}" presName="transSpace" presStyleCnt="0"/>
      <dgm:spPr/>
    </dgm:pt>
    <dgm:pt modelId="{9668E86B-C431-49BC-B265-712AA2998AF6}" type="pres">
      <dgm:prSet presAssocID="{2F4DF076-5496-4D20-AE74-27DBADF38F0E}" presName="posSpace" presStyleCnt="0"/>
      <dgm:spPr/>
    </dgm:pt>
    <dgm:pt modelId="{465C189B-1499-4A0C-BA04-217E1559FE7E}" type="pres">
      <dgm:prSet presAssocID="{2F4DF076-5496-4D20-AE74-27DBADF38F0E}" presName="vertFlow" presStyleCnt="0"/>
      <dgm:spPr/>
    </dgm:pt>
    <dgm:pt modelId="{A96C62FF-89A9-489C-AA64-34D883F1C3D5}" type="pres">
      <dgm:prSet presAssocID="{2F4DF076-5496-4D20-AE74-27DBADF38F0E}" presName="topSpace" presStyleCnt="0"/>
      <dgm:spPr/>
    </dgm:pt>
    <dgm:pt modelId="{B71FD8FC-79B0-4131-AF63-EDCE0705A448}" type="pres">
      <dgm:prSet presAssocID="{2F4DF076-5496-4D20-AE74-27DBADF38F0E}" presName="firstComp" presStyleCnt="0"/>
      <dgm:spPr/>
    </dgm:pt>
    <dgm:pt modelId="{FEA8E436-35CB-4F10-904A-4F19BE37AB4D}" type="pres">
      <dgm:prSet presAssocID="{2F4DF076-5496-4D20-AE74-27DBADF38F0E}" presName="firstChild" presStyleLbl="bgAccFollowNode1" presStyleIdx="1" presStyleCnt="3"/>
      <dgm:spPr/>
    </dgm:pt>
    <dgm:pt modelId="{4D9A8389-A7C5-4702-AE8F-EAEDAED30CFF}" type="pres">
      <dgm:prSet presAssocID="{2F4DF076-5496-4D20-AE74-27DBADF38F0E}" presName="firstChildTx" presStyleLbl="bgAccFollowNode1" presStyleIdx="1" presStyleCnt="3">
        <dgm:presLayoutVars>
          <dgm:bulletEnabled val="1"/>
        </dgm:presLayoutVars>
      </dgm:prSet>
      <dgm:spPr/>
    </dgm:pt>
    <dgm:pt modelId="{8B970853-9AD4-48BE-9C04-FA1B5929EB49}" type="pres">
      <dgm:prSet presAssocID="{2F4DF076-5496-4D20-AE74-27DBADF38F0E}" presName="negSpace" presStyleCnt="0"/>
      <dgm:spPr/>
    </dgm:pt>
    <dgm:pt modelId="{07BB92E0-1B9B-4787-A5C6-46E6A22D05A0}" type="pres">
      <dgm:prSet presAssocID="{2F4DF076-5496-4D20-AE74-27DBADF38F0E}" presName="circle" presStyleLbl="node1" presStyleIdx="1" presStyleCnt="3"/>
      <dgm:spPr/>
    </dgm:pt>
    <dgm:pt modelId="{6590E7C1-1524-4A24-9A25-6B34DAD21F76}" type="pres">
      <dgm:prSet presAssocID="{004D57F7-E121-4105-A4A1-58D5B5C9901E}" presName="transSpace" presStyleCnt="0"/>
      <dgm:spPr/>
    </dgm:pt>
    <dgm:pt modelId="{A19CF82E-225F-484A-AE49-E8829177C3BA}" type="pres">
      <dgm:prSet presAssocID="{15A2BB13-57CE-4D10-A521-E7831EB87AE7}" presName="posSpace" presStyleCnt="0"/>
      <dgm:spPr/>
    </dgm:pt>
    <dgm:pt modelId="{9593E2C8-2192-409D-A83B-9902D2AD57BD}" type="pres">
      <dgm:prSet presAssocID="{15A2BB13-57CE-4D10-A521-E7831EB87AE7}" presName="vertFlow" presStyleCnt="0"/>
      <dgm:spPr/>
    </dgm:pt>
    <dgm:pt modelId="{3D98AA11-1F18-4F3B-ACCD-5E1FA7C4DBCE}" type="pres">
      <dgm:prSet presAssocID="{15A2BB13-57CE-4D10-A521-E7831EB87AE7}" presName="topSpace" presStyleCnt="0"/>
      <dgm:spPr/>
    </dgm:pt>
    <dgm:pt modelId="{3B290FFF-38B5-4BEF-9B30-60A43A6F20DE}" type="pres">
      <dgm:prSet presAssocID="{15A2BB13-57CE-4D10-A521-E7831EB87AE7}" presName="firstComp" presStyleCnt="0"/>
      <dgm:spPr/>
    </dgm:pt>
    <dgm:pt modelId="{01998262-30A4-40F1-A6DD-EADCFACD89DE}" type="pres">
      <dgm:prSet presAssocID="{15A2BB13-57CE-4D10-A521-E7831EB87AE7}" presName="firstChild" presStyleLbl="bgAccFollowNode1" presStyleIdx="2" presStyleCnt="3"/>
      <dgm:spPr/>
    </dgm:pt>
    <dgm:pt modelId="{77A8C701-1E60-4F90-9E74-57BD1AB64F39}" type="pres">
      <dgm:prSet presAssocID="{15A2BB13-57CE-4D10-A521-E7831EB87AE7}" presName="firstChildTx" presStyleLbl="bgAccFollowNode1" presStyleIdx="2" presStyleCnt="3">
        <dgm:presLayoutVars>
          <dgm:bulletEnabled val="1"/>
        </dgm:presLayoutVars>
      </dgm:prSet>
      <dgm:spPr/>
    </dgm:pt>
    <dgm:pt modelId="{DE1C9988-0C3C-46CE-BD02-DD20DCAB61F5}" type="pres">
      <dgm:prSet presAssocID="{15A2BB13-57CE-4D10-A521-E7831EB87AE7}" presName="negSpace" presStyleCnt="0"/>
      <dgm:spPr/>
    </dgm:pt>
    <dgm:pt modelId="{71B6A6D1-6F32-44C9-8D9F-ECCE3CD00D44}" type="pres">
      <dgm:prSet presAssocID="{15A2BB13-57CE-4D10-A521-E7831EB87AE7}" presName="circle" presStyleLbl="node1" presStyleIdx="2" presStyleCnt="3"/>
      <dgm:spPr/>
    </dgm:pt>
  </dgm:ptLst>
  <dgm:cxnLst>
    <dgm:cxn modelId="{7B566D06-7060-4CE8-94DC-30EB0F9DB316}" type="presOf" srcId="{15A2BB13-57CE-4D10-A521-E7831EB87AE7}" destId="{71B6A6D1-6F32-44C9-8D9F-ECCE3CD00D44}" srcOrd="0" destOrd="0" presId="urn:microsoft.com/office/officeart/2005/8/layout/hList9"/>
    <dgm:cxn modelId="{CB4C9B06-1E46-415D-A8DC-30D077EB3087}" srcId="{9913B87B-40D3-4E6C-9C3E-5B100E2179D9}" destId="{C13E2D63-8B12-4183-BA3E-83D27355B42B}" srcOrd="0" destOrd="0" parTransId="{B105F554-7AF9-480A-8031-9A6FC3F6BA29}" sibTransId="{8893D027-6FAF-49DA-9C65-44EF53BCCD11}"/>
    <dgm:cxn modelId="{BF2D2A1C-F49D-4926-B569-2D9BEBC93ACB}" srcId="{AA6167CF-3FE8-43EE-9722-0AE0A6D6104B}" destId="{9913B87B-40D3-4E6C-9C3E-5B100E2179D9}" srcOrd="0" destOrd="0" parTransId="{A2009D2B-5FC6-4A5C-8325-6A8C004DED3F}" sibTransId="{3E86C9A9-2352-4256-A7D6-1A9B175CD84E}"/>
    <dgm:cxn modelId="{35303A20-0A55-4932-9B41-8D2D183D5EFD}" srcId="{2F4DF076-5496-4D20-AE74-27DBADF38F0E}" destId="{F0A6F01F-3BC3-4232-B3AC-A4455DCA0FED}" srcOrd="0" destOrd="0" parTransId="{38E54902-7153-4BF1-A999-3B039EBE00EA}" sibTransId="{CF790F9C-CB1F-42A5-9CE1-360605B804D0}"/>
    <dgm:cxn modelId="{E3CF6C2B-5DD1-4529-AD5B-4E8751CD1435}" type="presOf" srcId="{2F4DF076-5496-4D20-AE74-27DBADF38F0E}" destId="{07BB92E0-1B9B-4787-A5C6-46E6A22D05A0}" srcOrd="0" destOrd="0" presId="urn:microsoft.com/office/officeart/2005/8/layout/hList9"/>
    <dgm:cxn modelId="{8EDBB738-728D-4B38-9216-200EAF15FD23}" srcId="{15A2BB13-57CE-4D10-A521-E7831EB87AE7}" destId="{684E9D5E-9D5E-48F0-A014-48770870ACBD}" srcOrd="0" destOrd="0" parTransId="{37674761-CB0A-4E6A-861E-748F781E46A1}" sibTransId="{10A454B3-A536-4923-95A5-2A1D48CD4C17}"/>
    <dgm:cxn modelId="{0DFA7E6D-C6C5-4D97-9AAF-59EE746D6562}" srcId="{AA6167CF-3FE8-43EE-9722-0AE0A6D6104B}" destId="{15A2BB13-57CE-4D10-A521-E7831EB87AE7}" srcOrd="2" destOrd="0" parTransId="{B7FB2A5D-F851-422B-8BFD-D1F4806B9AF7}" sibTransId="{230370FB-9468-486B-888B-3D79E2CFAF1C}"/>
    <dgm:cxn modelId="{77074B56-759B-49A9-BE0A-112F6FF7EA9E}" type="presOf" srcId="{684E9D5E-9D5E-48F0-A014-48770870ACBD}" destId="{77A8C701-1E60-4F90-9E74-57BD1AB64F39}" srcOrd="1" destOrd="0" presId="urn:microsoft.com/office/officeart/2005/8/layout/hList9"/>
    <dgm:cxn modelId="{2AE85081-4C2D-49F5-96A8-A3A2B5B01834}" type="presOf" srcId="{C13E2D63-8B12-4183-BA3E-83D27355B42B}" destId="{1A869DF0-3654-4FBB-9439-B4B3D489ED30}" srcOrd="1" destOrd="0" presId="urn:microsoft.com/office/officeart/2005/8/layout/hList9"/>
    <dgm:cxn modelId="{E5FB8DB8-FAEE-47CA-8FB8-B740EBD5CBFE}" srcId="{AA6167CF-3FE8-43EE-9722-0AE0A6D6104B}" destId="{2F4DF076-5496-4D20-AE74-27DBADF38F0E}" srcOrd="1" destOrd="0" parTransId="{D3822ECB-29BD-4ED4-BCAE-26C00775E087}" sibTransId="{004D57F7-E121-4105-A4A1-58D5B5C9901E}"/>
    <dgm:cxn modelId="{FB5CFBBD-03EE-48FC-AE57-4A96F02ED6FD}" type="presOf" srcId="{684E9D5E-9D5E-48F0-A014-48770870ACBD}" destId="{01998262-30A4-40F1-A6DD-EADCFACD89DE}" srcOrd="0" destOrd="0" presId="urn:microsoft.com/office/officeart/2005/8/layout/hList9"/>
    <dgm:cxn modelId="{14B3AFD6-DFDE-4BF8-BE7B-A51785EB6852}" type="presOf" srcId="{F0A6F01F-3BC3-4232-B3AC-A4455DCA0FED}" destId="{FEA8E436-35CB-4F10-904A-4F19BE37AB4D}" srcOrd="0" destOrd="0" presId="urn:microsoft.com/office/officeart/2005/8/layout/hList9"/>
    <dgm:cxn modelId="{9B7E47D7-F76B-40F6-9339-B95E2681F32E}" type="presOf" srcId="{AA6167CF-3FE8-43EE-9722-0AE0A6D6104B}" destId="{44EDE9E6-D0F1-4528-8D16-E6B21DE9561A}" srcOrd="0" destOrd="0" presId="urn:microsoft.com/office/officeart/2005/8/layout/hList9"/>
    <dgm:cxn modelId="{38C170E1-A26A-41D5-972F-A7DD42BA6491}" type="presOf" srcId="{9913B87B-40D3-4E6C-9C3E-5B100E2179D9}" destId="{7CCBB485-83B7-47FE-99AE-DC3FEA33BFF0}" srcOrd="0" destOrd="0" presId="urn:microsoft.com/office/officeart/2005/8/layout/hList9"/>
    <dgm:cxn modelId="{507A8BFA-CB02-414F-B715-80CD905E15A4}" type="presOf" srcId="{C13E2D63-8B12-4183-BA3E-83D27355B42B}" destId="{1C46CE8A-A793-427E-9A1A-EF97501A0A5D}" srcOrd="0" destOrd="0" presId="urn:microsoft.com/office/officeart/2005/8/layout/hList9"/>
    <dgm:cxn modelId="{0DCC36FD-4460-45BC-B503-7D262D86AAB4}" type="presOf" srcId="{F0A6F01F-3BC3-4232-B3AC-A4455DCA0FED}" destId="{4D9A8389-A7C5-4702-AE8F-EAEDAED30CFF}" srcOrd="1" destOrd="0" presId="urn:microsoft.com/office/officeart/2005/8/layout/hList9"/>
    <dgm:cxn modelId="{44DDD28D-CB3C-4215-8100-EFB02B28E413}" type="presParOf" srcId="{44EDE9E6-D0F1-4528-8D16-E6B21DE9561A}" destId="{D111B475-9034-4338-B832-F7A3B01BD1CE}" srcOrd="0" destOrd="0" presId="urn:microsoft.com/office/officeart/2005/8/layout/hList9"/>
    <dgm:cxn modelId="{4A9BBFA6-0A71-48D0-A3DE-F04208412B2F}" type="presParOf" srcId="{44EDE9E6-D0F1-4528-8D16-E6B21DE9561A}" destId="{325F5A0A-59FD-4392-9E2F-27D58DF4712C}" srcOrd="1" destOrd="0" presId="urn:microsoft.com/office/officeart/2005/8/layout/hList9"/>
    <dgm:cxn modelId="{4F18FBE3-6468-4C56-931C-EF5D878FF6AD}" type="presParOf" srcId="{325F5A0A-59FD-4392-9E2F-27D58DF4712C}" destId="{92CBE59F-A633-4A56-80A1-B276F62A55D3}" srcOrd="0" destOrd="0" presId="urn:microsoft.com/office/officeart/2005/8/layout/hList9"/>
    <dgm:cxn modelId="{33F09F1E-0506-4AB9-AC89-B7F09A6D321B}" type="presParOf" srcId="{325F5A0A-59FD-4392-9E2F-27D58DF4712C}" destId="{4A5BF03D-ACC8-4AE6-B26E-0D9E36C67527}" srcOrd="1" destOrd="0" presId="urn:microsoft.com/office/officeart/2005/8/layout/hList9"/>
    <dgm:cxn modelId="{7589AF4F-9AFE-4F2B-97AC-DB102D6740AA}" type="presParOf" srcId="{4A5BF03D-ACC8-4AE6-B26E-0D9E36C67527}" destId="{1C46CE8A-A793-427E-9A1A-EF97501A0A5D}" srcOrd="0" destOrd="0" presId="urn:microsoft.com/office/officeart/2005/8/layout/hList9"/>
    <dgm:cxn modelId="{2F3232B1-AFBD-492B-9FE3-7665A895A79E}" type="presParOf" srcId="{4A5BF03D-ACC8-4AE6-B26E-0D9E36C67527}" destId="{1A869DF0-3654-4FBB-9439-B4B3D489ED30}" srcOrd="1" destOrd="0" presId="urn:microsoft.com/office/officeart/2005/8/layout/hList9"/>
    <dgm:cxn modelId="{FF39DD7D-95B3-4572-A12D-91F5C1F3E837}" type="presParOf" srcId="{44EDE9E6-D0F1-4528-8D16-E6B21DE9561A}" destId="{68D6491C-03F4-404A-B4A6-C33515B6269D}" srcOrd="2" destOrd="0" presId="urn:microsoft.com/office/officeart/2005/8/layout/hList9"/>
    <dgm:cxn modelId="{1C75978B-DDC0-4B01-A623-9DE4244D2B4C}" type="presParOf" srcId="{44EDE9E6-D0F1-4528-8D16-E6B21DE9561A}" destId="{7CCBB485-83B7-47FE-99AE-DC3FEA33BFF0}" srcOrd="3" destOrd="0" presId="urn:microsoft.com/office/officeart/2005/8/layout/hList9"/>
    <dgm:cxn modelId="{C382A580-7186-4C5A-9A5E-12909FA16922}" type="presParOf" srcId="{44EDE9E6-D0F1-4528-8D16-E6B21DE9561A}" destId="{7A72FAF2-C84E-482F-8860-F705C41EE891}" srcOrd="4" destOrd="0" presId="urn:microsoft.com/office/officeart/2005/8/layout/hList9"/>
    <dgm:cxn modelId="{B9D53FCA-CBD7-4BB8-9A8B-97CED8D024CE}" type="presParOf" srcId="{44EDE9E6-D0F1-4528-8D16-E6B21DE9561A}" destId="{9668E86B-C431-49BC-B265-712AA2998AF6}" srcOrd="5" destOrd="0" presId="urn:microsoft.com/office/officeart/2005/8/layout/hList9"/>
    <dgm:cxn modelId="{48A3F5EF-9398-4002-8916-5A02372CE2AD}" type="presParOf" srcId="{44EDE9E6-D0F1-4528-8D16-E6B21DE9561A}" destId="{465C189B-1499-4A0C-BA04-217E1559FE7E}" srcOrd="6" destOrd="0" presId="urn:microsoft.com/office/officeart/2005/8/layout/hList9"/>
    <dgm:cxn modelId="{A2C892E7-F901-4501-98EB-C36BFD66646F}" type="presParOf" srcId="{465C189B-1499-4A0C-BA04-217E1559FE7E}" destId="{A96C62FF-89A9-489C-AA64-34D883F1C3D5}" srcOrd="0" destOrd="0" presId="urn:microsoft.com/office/officeart/2005/8/layout/hList9"/>
    <dgm:cxn modelId="{38C70EF1-E5D1-47BE-BE00-7ECAFE055840}" type="presParOf" srcId="{465C189B-1499-4A0C-BA04-217E1559FE7E}" destId="{B71FD8FC-79B0-4131-AF63-EDCE0705A448}" srcOrd="1" destOrd="0" presId="urn:microsoft.com/office/officeart/2005/8/layout/hList9"/>
    <dgm:cxn modelId="{44A5FA35-3AC1-4D53-8358-FD64D35E1D15}" type="presParOf" srcId="{B71FD8FC-79B0-4131-AF63-EDCE0705A448}" destId="{FEA8E436-35CB-4F10-904A-4F19BE37AB4D}" srcOrd="0" destOrd="0" presId="urn:microsoft.com/office/officeart/2005/8/layout/hList9"/>
    <dgm:cxn modelId="{7BFBEE93-D52D-4592-AE08-4A7A2CD85459}" type="presParOf" srcId="{B71FD8FC-79B0-4131-AF63-EDCE0705A448}" destId="{4D9A8389-A7C5-4702-AE8F-EAEDAED30CFF}" srcOrd="1" destOrd="0" presId="urn:microsoft.com/office/officeart/2005/8/layout/hList9"/>
    <dgm:cxn modelId="{E2DFA064-3B35-4D00-B6A3-6AF76E371147}" type="presParOf" srcId="{44EDE9E6-D0F1-4528-8D16-E6B21DE9561A}" destId="{8B970853-9AD4-48BE-9C04-FA1B5929EB49}" srcOrd="7" destOrd="0" presId="urn:microsoft.com/office/officeart/2005/8/layout/hList9"/>
    <dgm:cxn modelId="{913F7B61-60F0-4CCD-AABA-0482183FFF0A}" type="presParOf" srcId="{44EDE9E6-D0F1-4528-8D16-E6B21DE9561A}" destId="{07BB92E0-1B9B-4787-A5C6-46E6A22D05A0}" srcOrd="8" destOrd="0" presId="urn:microsoft.com/office/officeart/2005/8/layout/hList9"/>
    <dgm:cxn modelId="{3526682E-8BEE-4D20-AA6A-0BC519931A78}" type="presParOf" srcId="{44EDE9E6-D0F1-4528-8D16-E6B21DE9561A}" destId="{6590E7C1-1524-4A24-9A25-6B34DAD21F76}" srcOrd="9" destOrd="0" presId="urn:microsoft.com/office/officeart/2005/8/layout/hList9"/>
    <dgm:cxn modelId="{EE1B7683-FC5B-4363-AB96-A07E1C73AD5C}" type="presParOf" srcId="{44EDE9E6-D0F1-4528-8D16-E6B21DE9561A}" destId="{A19CF82E-225F-484A-AE49-E8829177C3BA}" srcOrd="10" destOrd="0" presId="urn:microsoft.com/office/officeart/2005/8/layout/hList9"/>
    <dgm:cxn modelId="{E5EF108A-839F-4B14-9D0D-7BE88D036CA1}" type="presParOf" srcId="{44EDE9E6-D0F1-4528-8D16-E6B21DE9561A}" destId="{9593E2C8-2192-409D-A83B-9902D2AD57BD}" srcOrd="11" destOrd="0" presId="urn:microsoft.com/office/officeart/2005/8/layout/hList9"/>
    <dgm:cxn modelId="{0E4623AB-33E7-430F-882F-6544947337F2}" type="presParOf" srcId="{9593E2C8-2192-409D-A83B-9902D2AD57BD}" destId="{3D98AA11-1F18-4F3B-ACCD-5E1FA7C4DBCE}" srcOrd="0" destOrd="0" presId="urn:microsoft.com/office/officeart/2005/8/layout/hList9"/>
    <dgm:cxn modelId="{D0D9F469-DF3F-4527-AA88-0FA51E853A49}" type="presParOf" srcId="{9593E2C8-2192-409D-A83B-9902D2AD57BD}" destId="{3B290FFF-38B5-4BEF-9B30-60A43A6F20DE}" srcOrd="1" destOrd="0" presId="urn:microsoft.com/office/officeart/2005/8/layout/hList9"/>
    <dgm:cxn modelId="{7208665A-7DFA-45D9-9950-262D554DB1C6}" type="presParOf" srcId="{3B290FFF-38B5-4BEF-9B30-60A43A6F20DE}" destId="{01998262-30A4-40F1-A6DD-EADCFACD89DE}" srcOrd="0" destOrd="0" presId="urn:microsoft.com/office/officeart/2005/8/layout/hList9"/>
    <dgm:cxn modelId="{E3E3C343-D18B-4A6D-A096-A388AB01E880}" type="presParOf" srcId="{3B290FFF-38B5-4BEF-9B30-60A43A6F20DE}" destId="{77A8C701-1E60-4F90-9E74-57BD1AB64F39}" srcOrd="1" destOrd="0" presId="urn:microsoft.com/office/officeart/2005/8/layout/hList9"/>
    <dgm:cxn modelId="{75EBF2E6-4853-42C3-9386-7DC8AD0D156A}" type="presParOf" srcId="{44EDE9E6-D0F1-4528-8D16-E6B21DE9561A}" destId="{DE1C9988-0C3C-46CE-BD02-DD20DCAB61F5}" srcOrd="12" destOrd="0" presId="urn:microsoft.com/office/officeart/2005/8/layout/hList9"/>
    <dgm:cxn modelId="{AB13B042-2565-405E-A90D-E6D7DA8BF273}" type="presParOf" srcId="{44EDE9E6-D0F1-4528-8D16-E6B21DE9561A}" destId="{71B6A6D1-6F32-44C9-8D9F-ECCE3CD00D44}" srcOrd="13"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49B706-57C1-4946-A2F3-469DF6C321C7}" type="doc">
      <dgm:prSet loTypeId="urn:microsoft.com/office/officeart/2005/8/layout/chevronAccent+Icon" loCatId="process" qsTypeId="urn:microsoft.com/office/officeart/2005/8/quickstyle/3d3" qsCatId="3D" csTypeId="urn:microsoft.com/office/officeart/2005/8/colors/accent1_2" csCatId="accent1" phldr="1"/>
      <dgm:spPr/>
      <dgm:t>
        <a:bodyPr/>
        <a:lstStyle/>
        <a:p>
          <a:endParaRPr lang="en-IN"/>
        </a:p>
      </dgm:t>
    </dgm:pt>
    <dgm:pt modelId="{65974383-0643-4AAC-9159-AFD95B01DEB0}">
      <dgm:prSet phldrT="[Text]"/>
      <dgm:spPr/>
      <dgm:t>
        <a:bodyPr/>
        <a:lstStyle/>
        <a:p>
          <a:r>
            <a:rPr lang="en-IN" dirty="0">
              <a:latin typeface="Georgia" panose="02040502050405020303" pitchFamily="18" charset="0"/>
            </a:rPr>
            <a:t>SQL Server</a:t>
          </a:r>
        </a:p>
      </dgm:t>
    </dgm:pt>
    <dgm:pt modelId="{52FE864F-A1EF-4822-8B1D-FCAA38F4C7BF}" type="parTrans" cxnId="{83FFA1D6-B830-4663-B8C2-EBF55D1DBEA1}">
      <dgm:prSet/>
      <dgm:spPr/>
      <dgm:t>
        <a:bodyPr/>
        <a:lstStyle/>
        <a:p>
          <a:endParaRPr lang="en-IN"/>
        </a:p>
      </dgm:t>
    </dgm:pt>
    <dgm:pt modelId="{529C590D-FAE5-47B7-A29A-822AB6A3F43A}" type="sibTrans" cxnId="{83FFA1D6-B830-4663-B8C2-EBF55D1DBEA1}">
      <dgm:prSet/>
      <dgm:spPr/>
      <dgm:t>
        <a:bodyPr/>
        <a:lstStyle/>
        <a:p>
          <a:endParaRPr lang="en-IN"/>
        </a:p>
      </dgm:t>
    </dgm:pt>
    <dgm:pt modelId="{648DBDFD-A9F0-4110-945C-2C7B61EFA197}">
      <dgm:prSet phldrT="[Text]"/>
      <dgm:spPr/>
      <dgm:t>
        <a:bodyPr/>
        <a:lstStyle/>
        <a:p>
          <a:r>
            <a:rPr lang="en-IN" dirty="0">
              <a:latin typeface="Georgia" panose="02040502050405020303" pitchFamily="18" charset="0"/>
            </a:rPr>
            <a:t>Python Engine</a:t>
          </a:r>
        </a:p>
      </dgm:t>
    </dgm:pt>
    <dgm:pt modelId="{A826CF84-49E8-4237-8FE2-5EE977698718}" type="parTrans" cxnId="{E6A3813D-A811-4B37-AE7D-4FA01956D415}">
      <dgm:prSet/>
      <dgm:spPr/>
      <dgm:t>
        <a:bodyPr/>
        <a:lstStyle/>
        <a:p>
          <a:endParaRPr lang="en-IN"/>
        </a:p>
      </dgm:t>
    </dgm:pt>
    <dgm:pt modelId="{1476C868-F7DD-44B6-9AF9-8A825777F573}" type="sibTrans" cxnId="{E6A3813D-A811-4B37-AE7D-4FA01956D415}">
      <dgm:prSet/>
      <dgm:spPr/>
      <dgm:t>
        <a:bodyPr/>
        <a:lstStyle/>
        <a:p>
          <a:endParaRPr lang="en-IN"/>
        </a:p>
      </dgm:t>
    </dgm:pt>
    <dgm:pt modelId="{FCD2BD78-1D26-4282-9D6C-92BAEFDF85C6}">
      <dgm:prSet phldrT="[Text]"/>
      <dgm:spPr/>
      <dgm:t>
        <a:bodyPr/>
        <a:lstStyle/>
        <a:p>
          <a:r>
            <a:rPr lang="en-IN" dirty="0">
              <a:latin typeface="Georgia" panose="02040502050405020303" pitchFamily="18" charset="0"/>
            </a:rPr>
            <a:t>Analysis</a:t>
          </a:r>
        </a:p>
      </dgm:t>
    </dgm:pt>
    <dgm:pt modelId="{9EE10C4B-A526-476A-BD72-CE904C80315A}" type="parTrans" cxnId="{F63C5057-22C3-4939-B12F-AEFC6D0F8237}">
      <dgm:prSet/>
      <dgm:spPr/>
      <dgm:t>
        <a:bodyPr/>
        <a:lstStyle/>
        <a:p>
          <a:endParaRPr lang="en-IN"/>
        </a:p>
      </dgm:t>
    </dgm:pt>
    <dgm:pt modelId="{95C91A56-E939-40D1-86C9-3FCFBAC09E82}" type="sibTrans" cxnId="{F63C5057-22C3-4939-B12F-AEFC6D0F8237}">
      <dgm:prSet/>
      <dgm:spPr/>
      <dgm:t>
        <a:bodyPr/>
        <a:lstStyle/>
        <a:p>
          <a:endParaRPr lang="en-IN"/>
        </a:p>
      </dgm:t>
    </dgm:pt>
    <dgm:pt modelId="{0460CE44-8186-4889-8A90-C265B215BF07}">
      <dgm:prSet phldrT="[Text]"/>
      <dgm:spPr/>
      <dgm:t>
        <a:bodyPr/>
        <a:lstStyle/>
        <a:p>
          <a:r>
            <a:rPr lang="en-IN" dirty="0">
              <a:latin typeface="Georgia" panose="02040502050405020303" pitchFamily="18" charset="0"/>
            </a:rPr>
            <a:t>Data Processing</a:t>
          </a:r>
        </a:p>
      </dgm:t>
    </dgm:pt>
    <dgm:pt modelId="{C9BA701D-F4D2-4437-8FD3-4BE0FFEC6E3A}" type="parTrans" cxnId="{0FDF4974-C35B-49C8-914F-539CA2CEAC24}">
      <dgm:prSet/>
      <dgm:spPr/>
      <dgm:t>
        <a:bodyPr/>
        <a:lstStyle/>
        <a:p>
          <a:endParaRPr lang="en-IN"/>
        </a:p>
      </dgm:t>
    </dgm:pt>
    <dgm:pt modelId="{DCE2EA76-6387-4366-88CD-FA81BA0680ED}" type="sibTrans" cxnId="{0FDF4974-C35B-49C8-914F-539CA2CEAC24}">
      <dgm:prSet/>
      <dgm:spPr/>
      <dgm:t>
        <a:bodyPr/>
        <a:lstStyle/>
        <a:p>
          <a:endParaRPr lang="en-IN"/>
        </a:p>
      </dgm:t>
    </dgm:pt>
    <dgm:pt modelId="{CFCD5A48-F2AC-42C0-A8A7-6BD99039719B}" type="pres">
      <dgm:prSet presAssocID="{5E49B706-57C1-4946-A2F3-469DF6C321C7}" presName="Name0" presStyleCnt="0">
        <dgm:presLayoutVars>
          <dgm:dir/>
          <dgm:resizeHandles val="exact"/>
        </dgm:presLayoutVars>
      </dgm:prSet>
      <dgm:spPr/>
    </dgm:pt>
    <dgm:pt modelId="{FDAFE022-2FC2-4E76-B1C5-CE93FD44AEB6}" type="pres">
      <dgm:prSet presAssocID="{65974383-0643-4AAC-9159-AFD95B01DEB0}" presName="composite" presStyleCnt="0"/>
      <dgm:spPr/>
    </dgm:pt>
    <dgm:pt modelId="{576B692A-8292-44BF-A7BB-9C58AE1A89BF}" type="pres">
      <dgm:prSet presAssocID="{65974383-0643-4AAC-9159-AFD95B01DEB0}" presName="bgChev" presStyleLbl="node1" presStyleIdx="0" presStyleCnt="4"/>
      <dgm:spPr/>
    </dgm:pt>
    <dgm:pt modelId="{B93DE45E-2665-46D1-9675-96CB017A2044}" type="pres">
      <dgm:prSet presAssocID="{65974383-0643-4AAC-9159-AFD95B01DEB0}" presName="txNode" presStyleLbl="fgAcc1" presStyleIdx="0" presStyleCnt="4">
        <dgm:presLayoutVars>
          <dgm:bulletEnabled val="1"/>
        </dgm:presLayoutVars>
      </dgm:prSet>
      <dgm:spPr/>
    </dgm:pt>
    <dgm:pt modelId="{019C95A0-ABBB-4A34-A5B9-7CF3CC4C8899}" type="pres">
      <dgm:prSet presAssocID="{529C590D-FAE5-47B7-A29A-822AB6A3F43A}" presName="compositeSpace" presStyleCnt="0"/>
      <dgm:spPr/>
    </dgm:pt>
    <dgm:pt modelId="{879AEAF4-8F4B-433C-9FA8-88590739DE9C}" type="pres">
      <dgm:prSet presAssocID="{648DBDFD-A9F0-4110-945C-2C7B61EFA197}" presName="composite" presStyleCnt="0"/>
      <dgm:spPr/>
    </dgm:pt>
    <dgm:pt modelId="{D53A2162-692E-4A86-8498-64654333FF37}" type="pres">
      <dgm:prSet presAssocID="{648DBDFD-A9F0-4110-945C-2C7B61EFA197}" presName="bgChev" presStyleLbl="node1" presStyleIdx="1" presStyleCnt="4"/>
      <dgm:spPr/>
    </dgm:pt>
    <dgm:pt modelId="{C29A72B3-CA14-4851-94FA-E1BF9583BABF}" type="pres">
      <dgm:prSet presAssocID="{648DBDFD-A9F0-4110-945C-2C7B61EFA197}" presName="txNode" presStyleLbl="fgAcc1" presStyleIdx="1" presStyleCnt="4">
        <dgm:presLayoutVars>
          <dgm:bulletEnabled val="1"/>
        </dgm:presLayoutVars>
      </dgm:prSet>
      <dgm:spPr/>
    </dgm:pt>
    <dgm:pt modelId="{74990430-2B7E-42B6-9AED-42627B242CD0}" type="pres">
      <dgm:prSet presAssocID="{1476C868-F7DD-44B6-9AF9-8A825777F573}" presName="compositeSpace" presStyleCnt="0"/>
      <dgm:spPr/>
    </dgm:pt>
    <dgm:pt modelId="{2F48DC63-E48E-40EE-B1A7-CE57446C3A2F}" type="pres">
      <dgm:prSet presAssocID="{0460CE44-8186-4889-8A90-C265B215BF07}" presName="composite" presStyleCnt="0"/>
      <dgm:spPr/>
    </dgm:pt>
    <dgm:pt modelId="{4ACFE16F-BC22-49F1-B824-CEC28678546A}" type="pres">
      <dgm:prSet presAssocID="{0460CE44-8186-4889-8A90-C265B215BF07}" presName="bgChev" presStyleLbl="node1" presStyleIdx="2" presStyleCnt="4"/>
      <dgm:spPr/>
    </dgm:pt>
    <dgm:pt modelId="{CC3E7B6A-7E56-4633-AF34-FA5153A2FB81}" type="pres">
      <dgm:prSet presAssocID="{0460CE44-8186-4889-8A90-C265B215BF07}" presName="txNode" presStyleLbl="fgAcc1" presStyleIdx="2" presStyleCnt="4">
        <dgm:presLayoutVars>
          <dgm:bulletEnabled val="1"/>
        </dgm:presLayoutVars>
      </dgm:prSet>
      <dgm:spPr/>
    </dgm:pt>
    <dgm:pt modelId="{0F44140D-D912-4CA4-860B-B1C2CABCE767}" type="pres">
      <dgm:prSet presAssocID="{DCE2EA76-6387-4366-88CD-FA81BA0680ED}" presName="compositeSpace" presStyleCnt="0"/>
      <dgm:spPr/>
    </dgm:pt>
    <dgm:pt modelId="{2206C0B4-035D-4AB2-880B-6D96F20FDE2D}" type="pres">
      <dgm:prSet presAssocID="{FCD2BD78-1D26-4282-9D6C-92BAEFDF85C6}" presName="composite" presStyleCnt="0"/>
      <dgm:spPr/>
    </dgm:pt>
    <dgm:pt modelId="{80A78279-EF23-47AF-8C66-FE34C17C635D}" type="pres">
      <dgm:prSet presAssocID="{FCD2BD78-1D26-4282-9D6C-92BAEFDF85C6}" presName="bgChev" presStyleLbl="node1" presStyleIdx="3" presStyleCnt="4"/>
      <dgm:spPr/>
    </dgm:pt>
    <dgm:pt modelId="{135A043C-6D0F-4AA5-9119-ADA365227085}" type="pres">
      <dgm:prSet presAssocID="{FCD2BD78-1D26-4282-9D6C-92BAEFDF85C6}" presName="txNode" presStyleLbl="fgAcc1" presStyleIdx="3" presStyleCnt="4">
        <dgm:presLayoutVars>
          <dgm:bulletEnabled val="1"/>
        </dgm:presLayoutVars>
      </dgm:prSet>
      <dgm:spPr/>
    </dgm:pt>
  </dgm:ptLst>
  <dgm:cxnLst>
    <dgm:cxn modelId="{E6A3813D-A811-4B37-AE7D-4FA01956D415}" srcId="{5E49B706-57C1-4946-A2F3-469DF6C321C7}" destId="{648DBDFD-A9F0-4110-945C-2C7B61EFA197}" srcOrd="1" destOrd="0" parTransId="{A826CF84-49E8-4237-8FE2-5EE977698718}" sibTransId="{1476C868-F7DD-44B6-9AF9-8A825777F573}"/>
    <dgm:cxn modelId="{9530E663-52D1-4E13-9ECC-00D67B9932D4}" type="presOf" srcId="{0460CE44-8186-4889-8A90-C265B215BF07}" destId="{CC3E7B6A-7E56-4633-AF34-FA5153A2FB81}" srcOrd="0" destOrd="0" presId="urn:microsoft.com/office/officeart/2005/8/layout/chevronAccent+Icon"/>
    <dgm:cxn modelId="{FDCA2A64-726D-401D-80DB-D9EDC55C10C9}" type="presOf" srcId="{648DBDFD-A9F0-4110-945C-2C7B61EFA197}" destId="{C29A72B3-CA14-4851-94FA-E1BF9583BABF}" srcOrd="0" destOrd="0" presId="urn:microsoft.com/office/officeart/2005/8/layout/chevronAccent+Icon"/>
    <dgm:cxn modelId="{B9AB0368-6C77-4DB5-BD75-AA7D0C95B8CD}" type="presOf" srcId="{65974383-0643-4AAC-9159-AFD95B01DEB0}" destId="{B93DE45E-2665-46D1-9675-96CB017A2044}" srcOrd="0" destOrd="0" presId="urn:microsoft.com/office/officeart/2005/8/layout/chevronAccent+Icon"/>
    <dgm:cxn modelId="{D5D7534A-4166-4192-8FA1-42B64970F56C}" type="presOf" srcId="{5E49B706-57C1-4946-A2F3-469DF6C321C7}" destId="{CFCD5A48-F2AC-42C0-A8A7-6BD99039719B}" srcOrd="0" destOrd="0" presId="urn:microsoft.com/office/officeart/2005/8/layout/chevronAccent+Icon"/>
    <dgm:cxn modelId="{0FDF4974-C35B-49C8-914F-539CA2CEAC24}" srcId="{5E49B706-57C1-4946-A2F3-469DF6C321C7}" destId="{0460CE44-8186-4889-8A90-C265B215BF07}" srcOrd="2" destOrd="0" parTransId="{C9BA701D-F4D2-4437-8FD3-4BE0FFEC6E3A}" sibTransId="{DCE2EA76-6387-4366-88CD-FA81BA0680ED}"/>
    <dgm:cxn modelId="{F63C5057-22C3-4939-B12F-AEFC6D0F8237}" srcId="{5E49B706-57C1-4946-A2F3-469DF6C321C7}" destId="{FCD2BD78-1D26-4282-9D6C-92BAEFDF85C6}" srcOrd="3" destOrd="0" parTransId="{9EE10C4B-A526-476A-BD72-CE904C80315A}" sibTransId="{95C91A56-E939-40D1-86C9-3FCFBAC09E82}"/>
    <dgm:cxn modelId="{F17EBEBE-05CB-4A07-A318-B76D7D513D4E}" type="presOf" srcId="{FCD2BD78-1D26-4282-9D6C-92BAEFDF85C6}" destId="{135A043C-6D0F-4AA5-9119-ADA365227085}" srcOrd="0" destOrd="0" presId="urn:microsoft.com/office/officeart/2005/8/layout/chevronAccent+Icon"/>
    <dgm:cxn modelId="{83FFA1D6-B830-4663-B8C2-EBF55D1DBEA1}" srcId="{5E49B706-57C1-4946-A2F3-469DF6C321C7}" destId="{65974383-0643-4AAC-9159-AFD95B01DEB0}" srcOrd="0" destOrd="0" parTransId="{52FE864F-A1EF-4822-8B1D-FCAA38F4C7BF}" sibTransId="{529C590D-FAE5-47B7-A29A-822AB6A3F43A}"/>
    <dgm:cxn modelId="{FC03C839-2671-4710-8DD7-EFC625D3C288}" type="presParOf" srcId="{CFCD5A48-F2AC-42C0-A8A7-6BD99039719B}" destId="{FDAFE022-2FC2-4E76-B1C5-CE93FD44AEB6}" srcOrd="0" destOrd="0" presId="urn:microsoft.com/office/officeart/2005/8/layout/chevronAccent+Icon"/>
    <dgm:cxn modelId="{1127E8C8-0DE9-48E9-89F6-91D0914A320A}" type="presParOf" srcId="{FDAFE022-2FC2-4E76-B1C5-CE93FD44AEB6}" destId="{576B692A-8292-44BF-A7BB-9C58AE1A89BF}" srcOrd="0" destOrd="0" presId="urn:microsoft.com/office/officeart/2005/8/layout/chevronAccent+Icon"/>
    <dgm:cxn modelId="{D14F7703-6E3D-46AC-BACD-B7EC06FA7343}" type="presParOf" srcId="{FDAFE022-2FC2-4E76-B1C5-CE93FD44AEB6}" destId="{B93DE45E-2665-46D1-9675-96CB017A2044}" srcOrd="1" destOrd="0" presId="urn:microsoft.com/office/officeart/2005/8/layout/chevronAccent+Icon"/>
    <dgm:cxn modelId="{ACD85780-728E-4969-96CE-C32568F32FA5}" type="presParOf" srcId="{CFCD5A48-F2AC-42C0-A8A7-6BD99039719B}" destId="{019C95A0-ABBB-4A34-A5B9-7CF3CC4C8899}" srcOrd="1" destOrd="0" presId="urn:microsoft.com/office/officeart/2005/8/layout/chevronAccent+Icon"/>
    <dgm:cxn modelId="{3BDB926F-A69E-4CFC-95DE-8A80B10F518C}" type="presParOf" srcId="{CFCD5A48-F2AC-42C0-A8A7-6BD99039719B}" destId="{879AEAF4-8F4B-433C-9FA8-88590739DE9C}" srcOrd="2" destOrd="0" presId="urn:microsoft.com/office/officeart/2005/8/layout/chevronAccent+Icon"/>
    <dgm:cxn modelId="{9CF07130-7F9A-4217-BDBC-4B96DFABB6DB}" type="presParOf" srcId="{879AEAF4-8F4B-433C-9FA8-88590739DE9C}" destId="{D53A2162-692E-4A86-8498-64654333FF37}" srcOrd="0" destOrd="0" presId="urn:microsoft.com/office/officeart/2005/8/layout/chevronAccent+Icon"/>
    <dgm:cxn modelId="{C8CFF550-BCE3-42D3-BDAF-4A274EA0C8BC}" type="presParOf" srcId="{879AEAF4-8F4B-433C-9FA8-88590739DE9C}" destId="{C29A72B3-CA14-4851-94FA-E1BF9583BABF}" srcOrd="1" destOrd="0" presId="urn:microsoft.com/office/officeart/2005/8/layout/chevronAccent+Icon"/>
    <dgm:cxn modelId="{B349C50D-FEF7-4BA2-9821-7D141F5B07C3}" type="presParOf" srcId="{CFCD5A48-F2AC-42C0-A8A7-6BD99039719B}" destId="{74990430-2B7E-42B6-9AED-42627B242CD0}" srcOrd="3" destOrd="0" presId="urn:microsoft.com/office/officeart/2005/8/layout/chevronAccent+Icon"/>
    <dgm:cxn modelId="{62B99A60-A939-457F-A93B-3BFFDBE9038E}" type="presParOf" srcId="{CFCD5A48-F2AC-42C0-A8A7-6BD99039719B}" destId="{2F48DC63-E48E-40EE-B1A7-CE57446C3A2F}" srcOrd="4" destOrd="0" presId="urn:microsoft.com/office/officeart/2005/8/layout/chevronAccent+Icon"/>
    <dgm:cxn modelId="{CE4AC5EC-C1F2-4843-8B65-374C91DD7835}" type="presParOf" srcId="{2F48DC63-E48E-40EE-B1A7-CE57446C3A2F}" destId="{4ACFE16F-BC22-49F1-B824-CEC28678546A}" srcOrd="0" destOrd="0" presId="urn:microsoft.com/office/officeart/2005/8/layout/chevronAccent+Icon"/>
    <dgm:cxn modelId="{69C12E7E-7188-414D-AC9D-EBFCC8FDEF80}" type="presParOf" srcId="{2F48DC63-E48E-40EE-B1A7-CE57446C3A2F}" destId="{CC3E7B6A-7E56-4633-AF34-FA5153A2FB81}" srcOrd="1" destOrd="0" presId="urn:microsoft.com/office/officeart/2005/8/layout/chevronAccent+Icon"/>
    <dgm:cxn modelId="{C7FFF84E-20B3-4495-8B09-FC11F2FE0497}" type="presParOf" srcId="{CFCD5A48-F2AC-42C0-A8A7-6BD99039719B}" destId="{0F44140D-D912-4CA4-860B-B1C2CABCE767}" srcOrd="5" destOrd="0" presId="urn:microsoft.com/office/officeart/2005/8/layout/chevronAccent+Icon"/>
    <dgm:cxn modelId="{80B509F0-090C-4099-A42A-67494B394CA4}" type="presParOf" srcId="{CFCD5A48-F2AC-42C0-A8A7-6BD99039719B}" destId="{2206C0B4-035D-4AB2-880B-6D96F20FDE2D}" srcOrd="6" destOrd="0" presId="urn:microsoft.com/office/officeart/2005/8/layout/chevronAccent+Icon"/>
    <dgm:cxn modelId="{C2164646-D395-4F1A-8BFA-55A1D7BF88A4}" type="presParOf" srcId="{2206C0B4-035D-4AB2-880B-6D96F20FDE2D}" destId="{80A78279-EF23-47AF-8C66-FE34C17C635D}" srcOrd="0" destOrd="0" presId="urn:microsoft.com/office/officeart/2005/8/layout/chevronAccent+Icon"/>
    <dgm:cxn modelId="{47F1D65B-8545-46DA-AC10-D9BE266B45C0}" type="presParOf" srcId="{2206C0B4-035D-4AB2-880B-6D96F20FDE2D}" destId="{135A043C-6D0F-4AA5-9119-ADA365227085}" srcOrd="1" destOrd="0" presId="urn:microsoft.com/office/officeart/2005/8/layout/chevronAccent+Icon"/>
  </dgm:cxnLst>
  <dgm:bg>
    <a:noFill/>
    <a:effectLst>
      <a:outerShdw blurRad="50800" dist="38100" dir="2700000" algn="tl" rotWithShape="0">
        <a:prstClr val="black">
          <a:alpha val="40000"/>
        </a:prstClr>
      </a:outerShdw>
    </a:effectLst>
  </dgm:bg>
  <dgm:whole>
    <a:ln>
      <a:solidFill>
        <a:srgbClr val="E3F2FD"/>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B20537-C2F0-413C-8A44-CD7B4A2BC204}">
      <dsp:nvSpPr>
        <dsp:cNvPr id="0" name=""/>
        <dsp:cNvSpPr/>
      </dsp:nvSpPr>
      <dsp:spPr>
        <a:xfrm>
          <a:off x="0" y="5767"/>
          <a:ext cx="7821385" cy="4305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dirty="0">
              <a:latin typeface="Georgia" panose="02040502050405020303" pitchFamily="18" charset="0"/>
            </a:rPr>
            <a:t>Imported CSV File</a:t>
          </a:r>
          <a:r>
            <a:rPr lang="en-US" sz="1400" b="0" i="0" kern="1200" dirty="0">
              <a:latin typeface="Georgia" panose="02040502050405020303" pitchFamily="18" charset="0"/>
            </a:rPr>
            <a:t>: Used </a:t>
          </a:r>
          <a:r>
            <a:rPr lang="en-US" sz="1400" b="1" i="0" kern="1200" dirty="0">
              <a:latin typeface="Georgia" panose="02040502050405020303" pitchFamily="18" charset="0"/>
            </a:rPr>
            <a:t>Flat File Import</a:t>
          </a:r>
          <a:r>
            <a:rPr lang="en-US" sz="1400" b="0" i="0" kern="1200" dirty="0">
              <a:latin typeface="Georgia" panose="02040502050405020303" pitchFamily="18" charset="0"/>
            </a:rPr>
            <a:t> to load data into SQL Server.</a:t>
          </a:r>
          <a:endParaRPr lang="en-IN" sz="1400" kern="1200" dirty="0">
            <a:latin typeface="Georgia" panose="02040502050405020303" pitchFamily="18" charset="0"/>
          </a:endParaRPr>
        </a:p>
      </dsp:txBody>
      <dsp:txXfrm>
        <a:off x="21018" y="26785"/>
        <a:ext cx="7779349" cy="388524"/>
      </dsp:txXfrm>
    </dsp:sp>
    <dsp:sp modelId="{E2B7F5F5-6128-4B57-BBF9-E443D54110A0}">
      <dsp:nvSpPr>
        <dsp:cNvPr id="0" name=""/>
        <dsp:cNvSpPr/>
      </dsp:nvSpPr>
      <dsp:spPr>
        <a:xfrm>
          <a:off x="0" y="502567"/>
          <a:ext cx="7821385" cy="4305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dirty="0">
              <a:latin typeface="Georgia" panose="02040502050405020303" pitchFamily="18" charset="0"/>
            </a:rPr>
            <a:t>Stored Dataset</a:t>
          </a:r>
          <a:r>
            <a:rPr lang="en-US" sz="1400" b="0" i="0" kern="1200" dirty="0">
              <a:latin typeface="Georgia" panose="02040502050405020303" pitchFamily="18" charset="0"/>
            </a:rPr>
            <a:t>: Organized data into </a:t>
          </a:r>
          <a:r>
            <a:rPr lang="en-US" sz="1400" b="1" i="0" kern="1200" dirty="0">
              <a:latin typeface="Georgia" panose="02040502050405020303" pitchFamily="18" charset="0"/>
            </a:rPr>
            <a:t>SQL Server tables</a:t>
          </a:r>
          <a:r>
            <a:rPr lang="en-US" sz="1400" b="0" i="0" kern="1200" dirty="0">
              <a:latin typeface="Georgia" panose="02040502050405020303" pitchFamily="18" charset="0"/>
            </a:rPr>
            <a:t> for efficient querying and analysis.</a:t>
          </a:r>
          <a:endParaRPr lang="en-IN" sz="1400" kern="1200" dirty="0">
            <a:latin typeface="Georgia" panose="02040502050405020303" pitchFamily="18" charset="0"/>
          </a:endParaRPr>
        </a:p>
      </dsp:txBody>
      <dsp:txXfrm>
        <a:off x="21018" y="523585"/>
        <a:ext cx="7779349" cy="3885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690769-D0F4-4B39-A5BD-C3F44A14565F}">
      <dsp:nvSpPr>
        <dsp:cNvPr id="0" name=""/>
        <dsp:cNvSpPr/>
      </dsp:nvSpPr>
      <dsp:spPr>
        <a:xfrm>
          <a:off x="0" y="8396"/>
          <a:ext cx="7952014" cy="5428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dirty="0">
              <a:latin typeface="Georgia" panose="02040502050405020303" pitchFamily="18" charset="0"/>
            </a:rPr>
            <a:t>Checked Data Types</a:t>
          </a:r>
          <a:r>
            <a:rPr lang="en-US" sz="1400" b="0" i="0" kern="1200" dirty="0">
              <a:latin typeface="Georgia" panose="02040502050405020303" pitchFamily="18" charset="0"/>
            </a:rPr>
            <a:t>: Verified the data type of each column.</a:t>
          </a:r>
          <a:endParaRPr lang="en-IN" sz="1400" kern="1200" dirty="0">
            <a:latin typeface="Georgia" panose="02040502050405020303" pitchFamily="18" charset="0"/>
          </a:endParaRPr>
        </a:p>
      </dsp:txBody>
      <dsp:txXfrm>
        <a:off x="26501" y="34897"/>
        <a:ext cx="7899012" cy="489878"/>
      </dsp:txXfrm>
    </dsp:sp>
    <dsp:sp modelId="{3D4A274D-56C0-4C50-A81C-14252A004D6F}">
      <dsp:nvSpPr>
        <dsp:cNvPr id="0" name=""/>
        <dsp:cNvSpPr/>
      </dsp:nvSpPr>
      <dsp:spPr>
        <a:xfrm>
          <a:off x="0" y="634796"/>
          <a:ext cx="7952014" cy="5428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dirty="0">
              <a:latin typeface="Georgia" panose="02040502050405020303" pitchFamily="18" charset="0"/>
            </a:rPr>
            <a:t>Row Count Analysis</a:t>
          </a:r>
          <a:r>
            <a:rPr lang="en-US" sz="1400" b="0" i="0" kern="1200" dirty="0">
              <a:latin typeface="Georgia" panose="02040502050405020303" pitchFamily="18" charset="0"/>
            </a:rPr>
            <a:t>: Identified the number of records in each table.</a:t>
          </a:r>
          <a:endParaRPr lang="en-IN" sz="1400" kern="1200" dirty="0">
            <a:latin typeface="Georgia" panose="02040502050405020303" pitchFamily="18" charset="0"/>
          </a:endParaRPr>
        </a:p>
      </dsp:txBody>
      <dsp:txXfrm>
        <a:off x="26501" y="661297"/>
        <a:ext cx="7899012" cy="489878"/>
      </dsp:txXfrm>
    </dsp:sp>
    <dsp:sp modelId="{B4B33485-8A12-4789-9AA1-8DF1EEA122CC}">
      <dsp:nvSpPr>
        <dsp:cNvPr id="0" name=""/>
        <dsp:cNvSpPr/>
      </dsp:nvSpPr>
      <dsp:spPr>
        <a:xfrm>
          <a:off x="0" y="1261196"/>
          <a:ext cx="7952014" cy="5428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dirty="0">
              <a:latin typeface="Georgia" panose="02040502050405020303" pitchFamily="18" charset="0"/>
            </a:rPr>
            <a:t>Null Value Handling</a:t>
          </a:r>
          <a:r>
            <a:rPr lang="en-US" sz="1400" b="0" i="0" kern="1200" dirty="0">
              <a:latin typeface="Georgia" panose="02040502050405020303" pitchFamily="18" charset="0"/>
            </a:rPr>
            <a:t>: Detected missing values and applied appropriate handling techniques</a:t>
          </a:r>
          <a:endParaRPr lang="en-IN" sz="1400" kern="1200" dirty="0">
            <a:latin typeface="Georgia" panose="02040502050405020303" pitchFamily="18" charset="0"/>
          </a:endParaRPr>
        </a:p>
      </dsp:txBody>
      <dsp:txXfrm>
        <a:off x="26501" y="1287697"/>
        <a:ext cx="7899012" cy="4898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46CE8A-A793-427E-9A1A-EF97501A0A5D}">
      <dsp:nvSpPr>
        <dsp:cNvPr id="0" name=""/>
        <dsp:cNvSpPr/>
      </dsp:nvSpPr>
      <dsp:spPr>
        <a:xfrm>
          <a:off x="860379" y="465302"/>
          <a:ext cx="1611954" cy="1075173"/>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0" tIns="85344" rIns="85344" bIns="85344" numCol="1" spcCol="1270" anchor="ctr" anchorCtr="0">
          <a:noAutofit/>
        </a:bodyPr>
        <a:lstStyle/>
        <a:p>
          <a:pPr marL="0" lvl="0" indent="0" algn="l" defTabSz="533400">
            <a:lnSpc>
              <a:spcPct val="90000"/>
            </a:lnSpc>
            <a:spcBef>
              <a:spcPct val="0"/>
            </a:spcBef>
            <a:spcAft>
              <a:spcPct val="35000"/>
            </a:spcAft>
            <a:buNone/>
          </a:pPr>
          <a:r>
            <a:rPr lang="en-IN" sz="1200" kern="1200">
              <a:latin typeface="Georgia" panose="02040502050405020303" pitchFamily="18" charset="0"/>
            </a:rPr>
            <a:t>Average % of amount paid out of the total bill</a:t>
          </a:r>
          <a:endParaRPr lang="en-IN" sz="1200" kern="1200" dirty="0">
            <a:latin typeface="Georgia" panose="02040502050405020303" pitchFamily="18" charset="0"/>
          </a:endParaRPr>
        </a:p>
      </dsp:txBody>
      <dsp:txXfrm>
        <a:off x="1118292" y="465302"/>
        <a:ext cx="1354041" cy="1075173"/>
      </dsp:txXfrm>
    </dsp:sp>
    <dsp:sp modelId="{7CCBB485-83B7-47FE-99AE-DC3FEA33BFF0}">
      <dsp:nvSpPr>
        <dsp:cNvPr id="0" name=""/>
        <dsp:cNvSpPr/>
      </dsp:nvSpPr>
      <dsp:spPr>
        <a:xfrm>
          <a:off x="670" y="35448"/>
          <a:ext cx="1074636" cy="1074636"/>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n-IN" sz="2400" b="0" i="0" kern="1200">
              <a:latin typeface="Georgia" panose="02040502050405020303" pitchFamily="18" charset="0"/>
            </a:rPr>
            <a:t>27%</a:t>
          </a:r>
          <a:endParaRPr lang="en-IN" sz="2400" kern="1200" dirty="0">
            <a:latin typeface="Georgia" panose="02040502050405020303" pitchFamily="18" charset="0"/>
          </a:endParaRPr>
        </a:p>
      </dsp:txBody>
      <dsp:txXfrm>
        <a:off x="158047" y="192825"/>
        <a:ext cx="759882" cy="759882"/>
      </dsp:txXfrm>
    </dsp:sp>
    <dsp:sp modelId="{FEA8E436-35CB-4F10-904A-4F19BE37AB4D}">
      <dsp:nvSpPr>
        <dsp:cNvPr id="0" name=""/>
        <dsp:cNvSpPr/>
      </dsp:nvSpPr>
      <dsp:spPr>
        <a:xfrm>
          <a:off x="3546970" y="465302"/>
          <a:ext cx="1611954" cy="1075173"/>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0" tIns="85344" rIns="85344" bIns="85344" numCol="1" spcCol="1270" anchor="ctr" anchorCtr="0">
          <a:noAutofit/>
        </a:bodyPr>
        <a:lstStyle/>
        <a:p>
          <a:pPr marL="0" lvl="0" indent="0" algn="l" defTabSz="533400">
            <a:lnSpc>
              <a:spcPct val="90000"/>
            </a:lnSpc>
            <a:spcBef>
              <a:spcPct val="0"/>
            </a:spcBef>
            <a:spcAft>
              <a:spcPct val="35000"/>
            </a:spcAft>
            <a:buNone/>
          </a:pPr>
          <a:r>
            <a:rPr lang="en-IN" sz="1200" b="0" i="0" kern="1200" dirty="0">
              <a:latin typeface="Georgia" panose="02040502050405020303" pitchFamily="18" charset="0"/>
            </a:rPr>
            <a:t>Average % of amount paid by Medicare out of the total bill</a:t>
          </a:r>
          <a:endParaRPr lang="en-IN" sz="1200" kern="1200" dirty="0">
            <a:latin typeface="Georgia" panose="02040502050405020303" pitchFamily="18" charset="0"/>
          </a:endParaRPr>
        </a:p>
      </dsp:txBody>
      <dsp:txXfrm>
        <a:off x="3804883" y="465302"/>
        <a:ext cx="1354041" cy="1075173"/>
      </dsp:txXfrm>
    </dsp:sp>
    <dsp:sp modelId="{07BB92E0-1B9B-4787-A5C6-46E6A22D05A0}">
      <dsp:nvSpPr>
        <dsp:cNvPr id="0" name=""/>
        <dsp:cNvSpPr/>
      </dsp:nvSpPr>
      <dsp:spPr>
        <a:xfrm>
          <a:off x="2687261" y="35448"/>
          <a:ext cx="1074636" cy="1074636"/>
        </a:xfrm>
        <a:prstGeom prst="ellipse">
          <a:avLst/>
        </a:prstGeom>
        <a:solidFill>
          <a:schemeClr val="accent5">
            <a:hueOff val="0"/>
            <a:satOff val="0"/>
            <a:lumOff val="-35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n-IN" sz="2400" b="0" i="0" kern="1200">
              <a:latin typeface="Georgia" panose="02040502050405020303" pitchFamily="18" charset="0"/>
            </a:rPr>
            <a:t>23%</a:t>
          </a:r>
          <a:endParaRPr lang="en-IN" sz="2400" kern="1200" dirty="0">
            <a:latin typeface="Georgia" panose="02040502050405020303" pitchFamily="18" charset="0"/>
          </a:endParaRPr>
        </a:p>
      </dsp:txBody>
      <dsp:txXfrm>
        <a:off x="2844638" y="192825"/>
        <a:ext cx="759882" cy="759882"/>
      </dsp:txXfrm>
    </dsp:sp>
    <dsp:sp modelId="{01998262-30A4-40F1-A6DD-EADCFACD89DE}">
      <dsp:nvSpPr>
        <dsp:cNvPr id="0" name=""/>
        <dsp:cNvSpPr/>
      </dsp:nvSpPr>
      <dsp:spPr>
        <a:xfrm>
          <a:off x="6233561" y="465302"/>
          <a:ext cx="1611954" cy="1075173"/>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0" tIns="85344" rIns="85344" bIns="85344" numCol="1" spcCol="1270" anchor="ctr" anchorCtr="0">
          <a:noAutofit/>
        </a:bodyPr>
        <a:lstStyle/>
        <a:p>
          <a:pPr marL="0" lvl="0" indent="0" algn="l" defTabSz="533400">
            <a:lnSpc>
              <a:spcPct val="90000"/>
            </a:lnSpc>
            <a:spcBef>
              <a:spcPct val="0"/>
            </a:spcBef>
            <a:spcAft>
              <a:spcPct val="35000"/>
            </a:spcAft>
            <a:buNone/>
          </a:pPr>
          <a:r>
            <a:rPr lang="en-US" sz="1200" b="0" i="0" kern="1200" dirty="0">
              <a:latin typeface="Georgia" panose="02040502050405020303" pitchFamily="18" charset="0"/>
            </a:rPr>
            <a:t>Medicare contributes out of the total amount that gets paid</a:t>
          </a:r>
          <a:endParaRPr lang="en-IN" sz="1200" kern="1200" dirty="0">
            <a:latin typeface="Georgia" panose="02040502050405020303" pitchFamily="18" charset="0"/>
          </a:endParaRPr>
        </a:p>
      </dsp:txBody>
      <dsp:txXfrm>
        <a:off x="6491473" y="465302"/>
        <a:ext cx="1354041" cy="1075173"/>
      </dsp:txXfrm>
    </dsp:sp>
    <dsp:sp modelId="{71B6A6D1-6F32-44C9-8D9F-ECCE3CD00D44}">
      <dsp:nvSpPr>
        <dsp:cNvPr id="0" name=""/>
        <dsp:cNvSpPr/>
      </dsp:nvSpPr>
      <dsp:spPr>
        <a:xfrm>
          <a:off x="5373852" y="35448"/>
          <a:ext cx="1074636" cy="1074636"/>
        </a:xfrm>
        <a:prstGeom prst="ellipse">
          <a:avLst/>
        </a:prstGeom>
        <a:solidFill>
          <a:schemeClr val="accent5">
            <a:hueOff val="0"/>
            <a:satOff val="0"/>
            <a:lumOff val="-70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n-US" sz="2400" b="0" i="0" kern="1200">
              <a:latin typeface="Georgia" panose="02040502050405020303" pitchFamily="18" charset="0"/>
            </a:rPr>
            <a:t>85%</a:t>
          </a:r>
          <a:endParaRPr lang="en-IN" sz="2400" kern="1200" dirty="0">
            <a:latin typeface="Georgia" panose="02040502050405020303" pitchFamily="18" charset="0"/>
          </a:endParaRPr>
        </a:p>
      </dsp:txBody>
      <dsp:txXfrm>
        <a:off x="5531229" y="192825"/>
        <a:ext cx="759882" cy="7598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6B692A-8292-44BF-A7BB-9C58AE1A89BF}">
      <dsp:nvSpPr>
        <dsp:cNvPr id="0" name=""/>
        <dsp:cNvSpPr/>
      </dsp:nvSpPr>
      <dsp:spPr>
        <a:xfrm>
          <a:off x="3846" y="526728"/>
          <a:ext cx="1810484" cy="698846"/>
        </a:xfrm>
        <a:prstGeom prst="chevron">
          <a:avLst>
            <a:gd name="adj" fmla="val 4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93DE45E-2665-46D1-9675-96CB017A2044}">
      <dsp:nvSpPr>
        <dsp:cNvPr id="0" name=""/>
        <dsp:cNvSpPr/>
      </dsp:nvSpPr>
      <dsp:spPr>
        <a:xfrm>
          <a:off x="486642" y="701440"/>
          <a:ext cx="1528853" cy="698846"/>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Georgia" panose="02040502050405020303" pitchFamily="18" charset="0"/>
            </a:rPr>
            <a:t>SQL Server</a:t>
          </a:r>
        </a:p>
      </dsp:txBody>
      <dsp:txXfrm>
        <a:off x="507111" y="721909"/>
        <a:ext cx="1487915" cy="657908"/>
      </dsp:txXfrm>
    </dsp:sp>
    <dsp:sp modelId="{D53A2162-692E-4A86-8498-64654333FF37}">
      <dsp:nvSpPr>
        <dsp:cNvPr id="0" name=""/>
        <dsp:cNvSpPr/>
      </dsp:nvSpPr>
      <dsp:spPr>
        <a:xfrm>
          <a:off x="2071822" y="526728"/>
          <a:ext cx="1810484" cy="698846"/>
        </a:xfrm>
        <a:prstGeom prst="chevron">
          <a:avLst>
            <a:gd name="adj" fmla="val 4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C29A72B3-CA14-4851-94FA-E1BF9583BABF}">
      <dsp:nvSpPr>
        <dsp:cNvPr id="0" name=""/>
        <dsp:cNvSpPr/>
      </dsp:nvSpPr>
      <dsp:spPr>
        <a:xfrm>
          <a:off x="2554617" y="701440"/>
          <a:ext cx="1528853" cy="698846"/>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Georgia" panose="02040502050405020303" pitchFamily="18" charset="0"/>
            </a:rPr>
            <a:t>Python Engine</a:t>
          </a:r>
        </a:p>
      </dsp:txBody>
      <dsp:txXfrm>
        <a:off x="2575086" y="721909"/>
        <a:ext cx="1487915" cy="657908"/>
      </dsp:txXfrm>
    </dsp:sp>
    <dsp:sp modelId="{4ACFE16F-BC22-49F1-B824-CEC28678546A}">
      <dsp:nvSpPr>
        <dsp:cNvPr id="0" name=""/>
        <dsp:cNvSpPr/>
      </dsp:nvSpPr>
      <dsp:spPr>
        <a:xfrm>
          <a:off x="4139797" y="526728"/>
          <a:ext cx="1810484" cy="698846"/>
        </a:xfrm>
        <a:prstGeom prst="chevron">
          <a:avLst>
            <a:gd name="adj" fmla="val 4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CC3E7B6A-7E56-4633-AF34-FA5153A2FB81}">
      <dsp:nvSpPr>
        <dsp:cNvPr id="0" name=""/>
        <dsp:cNvSpPr/>
      </dsp:nvSpPr>
      <dsp:spPr>
        <a:xfrm>
          <a:off x="4622593" y="701440"/>
          <a:ext cx="1528853" cy="698846"/>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Georgia" panose="02040502050405020303" pitchFamily="18" charset="0"/>
            </a:rPr>
            <a:t>Data Processing</a:t>
          </a:r>
        </a:p>
      </dsp:txBody>
      <dsp:txXfrm>
        <a:off x="4643062" y="721909"/>
        <a:ext cx="1487915" cy="657908"/>
      </dsp:txXfrm>
    </dsp:sp>
    <dsp:sp modelId="{80A78279-EF23-47AF-8C66-FE34C17C635D}">
      <dsp:nvSpPr>
        <dsp:cNvPr id="0" name=""/>
        <dsp:cNvSpPr/>
      </dsp:nvSpPr>
      <dsp:spPr>
        <a:xfrm>
          <a:off x="6207773" y="526728"/>
          <a:ext cx="1810484" cy="698846"/>
        </a:xfrm>
        <a:prstGeom prst="chevron">
          <a:avLst>
            <a:gd name="adj" fmla="val 4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135A043C-6D0F-4AA5-9119-ADA365227085}">
      <dsp:nvSpPr>
        <dsp:cNvPr id="0" name=""/>
        <dsp:cNvSpPr/>
      </dsp:nvSpPr>
      <dsp:spPr>
        <a:xfrm>
          <a:off x="6690568" y="701440"/>
          <a:ext cx="1528853" cy="698846"/>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Georgia" panose="02040502050405020303" pitchFamily="18" charset="0"/>
            </a:rPr>
            <a:t>Analysis</a:t>
          </a:r>
        </a:p>
      </dsp:txBody>
      <dsp:txXfrm>
        <a:off x="6711037" y="721909"/>
        <a:ext cx="1487915" cy="65790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E9FA49-96C4-B19B-A939-936BEE9FFB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1E51E1C-35CC-222A-B76C-C5414CCC16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A8B8FD-F0C4-4CFB-8B53-87AF8788330F}" type="datetimeFigureOut">
              <a:rPr lang="en-IN" smtClean="0"/>
              <a:t>05-03-2025</a:t>
            </a:fld>
            <a:endParaRPr lang="en-IN"/>
          </a:p>
        </p:txBody>
      </p:sp>
      <p:sp>
        <p:nvSpPr>
          <p:cNvPr id="4" name="Footer Placeholder 3">
            <a:extLst>
              <a:ext uri="{FF2B5EF4-FFF2-40B4-BE49-F238E27FC236}">
                <a16:creationId xmlns:a16="http://schemas.microsoft.com/office/drawing/2014/main" id="{76711209-9A7B-FFBB-8680-CDE8F4BC4E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E840221C-98D0-EA97-D304-69D7267715A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5E9441-D109-45E0-8075-4B113B088D80}" type="slidenum">
              <a:rPr lang="en-IN" smtClean="0"/>
              <a:t>‹#›</a:t>
            </a:fld>
            <a:endParaRPr lang="en-IN"/>
          </a:p>
        </p:txBody>
      </p:sp>
    </p:spTree>
    <p:extLst>
      <p:ext uri="{BB962C8B-B14F-4D97-AF65-F5344CB8AC3E}">
        <p14:creationId xmlns:p14="http://schemas.microsoft.com/office/powerpoint/2010/main" val="343997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07214637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084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Medicare helps to cover the medical costs by reimbursing private healthcare providers for the procedures they perform. But sometimes, there are issues like unexpected cost differences, incorrect billing, or even fraudulent claims, which can make the system unfair and inefficient.</a:t>
            </a:r>
          </a:p>
          <a:p>
            <a:r>
              <a:rPr lang="en-US" dirty="0"/>
              <a:t>This project is all about analyzing Medicare data to find unusual patterns—like providers charging too much, procedures with big cost differences, or certain regions where medical costs are much higher than expected. By identifying these issues, we can improve transparency, prevent unfair billing, and make sure the system remains fair and reliable.</a:t>
            </a:r>
          </a:p>
          <a:p>
            <a:endParaRPr lang="en-US" dirty="0"/>
          </a:p>
          <a:p>
            <a:endParaRPr lang="en-US" dirty="0"/>
          </a:p>
        </p:txBody>
      </p:sp>
    </p:spTree>
    <p:extLst>
      <p:ext uri="{BB962C8B-B14F-4D97-AF65-F5344CB8AC3E}">
        <p14:creationId xmlns:p14="http://schemas.microsoft.com/office/powerpoint/2010/main" val="1141481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most providers cover a limited number of procedures, while a few providers handle a higher volume of diagnoses. The trend fluctuates but shows an overall increase in provider count as the diagnosis count rises.</a:t>
            </a:r>
            <a:endParaRPr lang="en-IN" dirty="0"/>
          </a:p>
        </p:txBody>
      </p:sp>
    </p:spTree>
    <p:extLst>
      <p:ext uri="{BB962C8B-B14F-4D97-AF65-F5344CB8AC3E}">
        <p14:creationId xmlns:p14="http://schemas.microsoft.com/office/powerpoint/2010/main" val="4077053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query = "SELECT TABLE_NAME FROM INFORMATION_SCHEMA.TABLES WHERE TABLE_TYPE = 'BASE TABLE'", consider adding an explanation:</a:t>
            </a:r>
            <a:br>
              <a:rPr lang="en-US" dirty="0"/>
            </a:br>
            <a:r>
              <a:rPr lang="en-US" b="1" dirty="0"/>
              <a:t>The query retrieves all user-defined tables in the database</a:t>
            </a:r>
            <a:endParaRPr lang="en-IN" dirty="0"/>
          </a:p>
        </p:txBody>
      </p:sp>
    </p:spTree>
    <p:extLst>
      <p:ext uri="{BB962C8B-B14F-4D97-AF65-F5344CB8AC3E}">
        <p14:creationId xmlns:p14="http://schemas.microsoft.com/office/powerpoint/2010/main" val="2080062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graph highlights significant </a:t>
            </a:r>
            <a:r>
              <a:rPr lang="en-US" b="1" dirty="0"/>
              <a:t>cost variability</a:t>
            </a:r>
            <a:r>
              <a:rPr lang="en-US" dirty="0"/>
              <a:t> in inpatient procedures, with </a:t>
            </a:r>
            <a:r>
              <a:rPr lang="en-US" b="1" dirty="0"/>
              <a:t>septicemia, respiratory support, and major surgeries</a:t>
            </a:r>
            <a:r>
              <a:rPr lang="en-US" dirty="0"/>
              <a:t> showing the highest fluctuations. </a:t>
            </a:r>
            <a:endParaRPr lang="en-IN" dirty="0"/>
          </a:p>
        </p:txBody>
      </p:sp>
    </p:spTree>
    <p:extLst>
      <p:ext uri="{BB962C8B-B14F-4D97-AF65-F5344CB8AC3E}">
        <p14:creationId xmlns:p14="http://schemas.microsoft.com/office/powerpoint/2010/main" val="522582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1E1F5-757B-1C92-1E03-8E65181CF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FF3F5-C083-29B6-9807-4C72987FF53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E05820D-9994-1BE1-BBAB-33668B40F8F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95026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54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50" y="0"/>
            <a:ext cx="9144000" cy="4745982"/>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Freeform: Shape 3">
            <a:extLst>
              <a:ext uri="{FF2B5EF4-FFF2-40B4-BE49-F238E27FC236}">
                <a16:creationId xmlns:a16="http://schemas.microsoft.com/office/drawing/2014/main" id="{92A54218-CF0C-124F-7F36-FB11D5E35693}"/>
              </a:ext>
            </a:extLst>
          </p:cNvPr>
          <p:cNvSpPr/>
          <p:nvPr userDrawn="1"/>
        </p:nvSpPr>
        <p:spPr>
          <a:xfrm>
            <a:off x="0" y="0"/>
            <a:ext cx="9152022" cy="1396038"/>
          </a:xfrm>
          <a:custGeom>
            <a:avLst/>
            <a:gdLst>
              <a:gd name="connsiteX0" fmla="*/ 1006701 w 11832165"/>
              <a:gd name="connsiteY0" fmla="*/ 3518817 h 4329983"/>
              <a:gd name="connsiteX1" fmla="*/ 3254601 w 11832165"/>
              <a:gd name="connsiteY1" fmla="*/ 2613942 h 4329983"/>
              <a:gd name="connsiteX2" fmla="*/ 7445601 w 11832165"/>
              <a:gd name="connsiteY2" fmla="*/ 4328442 h 4329983"/>
              <a:gd name="connsiteX3" fmla="*/ 11369901 w 11832165"/>
              <a:gd name="connsiteY3" fmla="*/ 2261517 h 4329983"/>
              <a:gd name="connsiteX4" fmla="*/ 11036526 w 11832165"/>
              <a:gd name="connsiteY4" fmla="*/ 223167 h 4329983"/>
              <a:gd name="connsiteX5" fmla="*/ 4931001 w 11832165"/>
              <a:gd name="connsiteY5" fmla="*/ 118392 h 4329983"/>
              <a:gd name="connsiteX6" fmla="*/ 225651 w 11832165"/>
              <a:gd name="connsiteY6" fmla="*/ 804192 h 4329983"/>
              <a:gd name="connsiteX7" fmla="*/ 1006701 w 11832165"/>
              <a:gd name="connsiteY7" fmla="*/ 3518817 h 4329983"/>
              <a:gd name="connsiteX0" fmla="*/ 1006701 w 11750594"/>
              <a:gd name="connsiteY0" fmla="*/ 3408521 h 4219687"/>
              <a:gd name="connsiteX1" fmla="*/ 3254601 w 11750594"/>
              <a:gd name="connsiteY1" fmla="*/ 2503646 h 4219687"/>
              <a:gd name="connsiteX2" fmla="*/ 7445601 w 11750594"/>
              <a:gd name="connsiteY2" fmla="*/ 4218146 h 4219687"/>
              <a:gd name="connsiteX3" fmla="*/ 11369901 w 11750594"/>
              <a:gd name="connsiteY3" fmla="*/ 2151221 h 4219687"/>
              <a:gd name="connsiteX4" fmla="*/ 10869673 w 11750594"/>
              <a:gd name="connsiteY4" fmla="*/ 1065371 h 4219687"/>
              <a:gd name="connsiteX5" fmla="*/ 4931001 w 11750594"/>
              <a:gd name="connsiteY5" fmla="*/ 8096 h 4219687"/>
              <a:gd name="connsiteX6" fmla="*/ 225651 w 11750594"/>
              <a:gd name="connsiteY6" fmla="*/ 693896 h 4219687"/>
              <a:gd name="connsiteX7" fmla="*/ 1006701 w 11750594"/>
              <a:gd name="connsiteY7" fmla="*/ 3408521 h 4219687"/>
              <a:gd name="connsiteX0" fmla="*/ 708906 w 11452799"/>
              <a:gd name="connsiteY0" fmla="*/ 3408521 h 4219687"/>
              <a:gd name="connsiteX1" fmla="*/ 2956806 w 11452799"/>
              <a:gd name="connsiteY1" fmla="*/ 2503646 h 4219687"/>
              <a:gd name="connsiteX2" fmla="*/ 7147806 w 11452799"/>
              <a:gd name="connsiteY2" fmla="*/ 4218146 h 4219687"/>
              <a:gd name="connsiteX3" fmla="*/ 11072106 w 11452799"/>
              <a:gd name="connsiteY3" fmla="*/ 2151221 h 4219687"/>
              <a:gd name="connsiteX4" fmla="*/ 10571878 w 11452799"/>
              <a:gd name="connsiteY4" fmla="*/ 1065371 h 4219687"/>
              <a:gd name="connsiteX5" fmla="*/ 4633206 w 11452799"/>
              <a:gd name="connsiteY5" fmla="*/ 8096 h 4219687"/>
              <a:gd name="connsiteX6" fmla="*/ 281192 w 11452799"/>
              <a:gd name="connsiteY6" fmla="*/ 1313021 h 4219687"/>
              <a:gd name="connsiteX7" fmla="*/ 708906 w 11452799"/>
              <a:gd name="connsiteY7" fmla="*/ 3408521 h 4219687"/>
              <a:gd name="connsiteX0" fmla="*/ 707480 w 11451879"/>
              <a:gd name="connsiteY0" fmla="*/ 2445292 h 3256458"/>
              <a:gd name="connsiteX1" fmla="*/ 2955380 w 11451879"/>
              <a:gd name="connsiteY1" fmla="*/ 1540417 h 3256458"/>
              <a:gd name="connsiteX2" fmla="*/ 7146380 w 11451879"/>
              <a:gd name="connsiteY2" fmla="*/ 3254917 h 3256458"/>
              <a:gd name="connsiteX3" fmla="*/ 11070680 w 11451879"/>
              <a:gd name="connsiteY3" fmla="*/ 1187992 h 3256458"/>
              <a:gd name="connsiteX4" fmla="*/ 10570452 w 11451879"/>
              <a:gd name="connsiteY4" fmla="*/ 102142 h 3256458"/>
              <a:gd name="connsiteX5" fmla="*/ 4621965 w 11451879"/>
              <a:gd name="connsiteY5" fmla="*/ 111667 h 3256458"/>
              <a:gd name="connsiteX6" fmla="*/ 279766 w 11451879"/>
              <a:gd name="connsiteY6" fmla="*/ 349792 h 3256458"/>
              <a:gd name="connsiteX7" fmla="*/ 707480 w 11451879"/>
              <a:gd name="connsiteY7" fmla="*/ 2445292 h 3256458"/>
              <a:gd name="connsiteX0" fmla="*/ 707480 w 11434313"/>
              <a:gd name="connsiteY0" fmla="*/ 2451354 h 3262520"/>
              <a:gd name="connsiteX1" fmla="*/ 2955380 w 11434313"/>
              <a:gd name="connsiteY1" fmla="*/ 1546479 h 3262520"/>
              <a:gd name="connsiteX2" fmla="*/ 7146380 w 11434313"/>
              <a:gd name="connsiteY2" fmla="*/ 3260979 h 3262520"/>
              <a:gd name="connsiteX3" fmla="*/ 11070680 w 11434313"/>
              <a:gd name="connsiteY3" fmla="*/ 1194054 h 3262520"/>
              <a:gd name="connsiteX4" fmla="*/ 10531192 w 11434313"/>
              <a:gd name="connsiteY4" fmla="*/ 98679 h 3262520"/>
              <a:gd name="connsiteX5" fmla="*/ 4621965 w 11434313"/>
              <a:gd name="connsiteY5" fmla="*/ 117729 h 3262520"/>
              <a:gd name="connsiteX6" fmla="*/ 279766 w 11434313"/>
              <a:gd name="connsiteY6" fmla="*/ 355854 h 3262520"/>
              <a:gd name="connsiteX7" fmla="*/ 707480 w 11434313"/>
              <a:gd name="connsiteY7" fmla="*/ 2451354 h 3262520"/>
              <a:gd name="connsiteX0" fmla="*/ 206614 w 10933447"/>
              <a:gd name="connsiteY0" fmla="*/ 2451354 h 3262520"/>
              <a:gd name="connsiteX1" fmla="*/ 2454514 w 10933447"/>
              <a:gd name="connsiteY1" fmla="*/ 1546479 h 3262520"/>
              <a:gd name="connsiteX2" fmla="*/ 6645514 w 10933447"/>
              <a:gd name="connsiteY2" fmla="*/ 3260979 h 3262520"/>
              <a:gd name="connsiteX3" fmla="*/ 10569814 w 10933447"/>
              <a:gd name="connsiteY3" fmla="*/ 1194054 h 3262520"/>
              <a:gd name="connsiteX4" fmla="*/ 10030326 w 10933447"/>
              <a:gd name="connsiteY4" fmla="*/ 98679 h 3262520"/>
              <a:gd name="connsiteX5" fmla="*/ 4121099 w 10933447"/>
              <a:gd name="connsiteY5" fmla="*/ 117729 h 3262520"/>
              <a:gd name="connsiteX6" fmla="*/ 544462 w 10933447"/>
              <a:gd name="connsiteY6" fmla="*/ 203454 h 3262520"/>
              <a:gd name="connsiteX7" fmla="*/ 206614 w 10933447"/>
              <a:gd name="connsiteY7" fmla="*/ 2451354 h 3262520"/>
              <a:gd name="connsiteX0" fmla="*/ 206614 w 10933447"/>
              <a:gd name="connsiteY0" fmla="*/ 2451354 h 3262520"/>
              <a:gd name="connsiteX1" fmla="*/ 2454514 w 10933447"/>
              <a:gd name="connsiteY1" fmla="*/ 1546479 h 3262520"/>
              <a:gd name="connsiteX2" fmla="*/ 6645514 w 10933447"/>
              <a:gd name="connsiteY2" fmla="*/ 3260979 h 3262520"/>
              <a:gd name="connsiteX3" fmla="*/ 10569814 w 10933447"/>
              <a:gd name="connsiteY3" fmla="*/ 1194054 h 3262520"/>
              <a:gd name="connsiteX4" fmla="*/ 10030326 w 10933447"/>
              <a:gd name="connsiteY4" fmla="*/ 98679 h 3262520"/>
              <a:gd name="connsiteX5" fmla="*/ 4121099 w 10933447"/>
              <a:gd name="connsiteY5" fmla="*/ 117729 h 3262520"/>
              <a:gd name="connsiteX6" fmla="*/ 544462 w 10933447"/>
              <a:gd name="connsiteY6" fmla="*/ 203454 h 3262520"/>
              <a:gd name="connsiteX7" fmla="*/ 206614 w 10933447"/>
              <a:gd name="connsiteY7" fmla="*/ 2451354 h 3262520"/>
              <a:gd name="connsiteX0" fmla="*/ 206614 w 10933447"/>
              <a:gd name="connsiteY0" fmla="*/ 2451354 h 3262520"/>
              <a:gd name="connsiteX1" fmla="*/ 2454514 w 10933447"/>
              <a:gd name="connsiteY1" fmla="*/ 1546479 h 3262520"/>
              <a:gd name="connsiteX2" fmla="*/ 6645514 w 10933447"/>
              <a:gd name="connsiteY2" fmla="*/ 3260979 h 3262520"/>
              <a:gd name="connsiteX3" fmla="*/ 10569814 w 10933447"/>
              <a:gd name="connsiteY3" fmla="*/ 1194054 h 3262520"/>
              <a:gd name="connsiteX4" fmla="*/ 10030326 w 10933447"/>
              <a:gd name="connsiteY4" fmla="*/ 98679 h 3262520"/>
              <a:gd name="connsiteX5" fmla="*/ 4121099 w 10933447"/>
              <a:gd name="connsiteY5" fmla="*/ 117729 h 3262520"/>
              <a:gd name="connsiteX6" fmla="*/ 544462 w 10933447"/>
              <a:gd name="connsiteY6" fmla="*/ 203454 h 3262520"/>
              <a:gd name="connsiteX7" fmla="*/ 206614 w 10933447"/>
              <a:gd name="connsiteY7" fmla="*/ 2451354 h 3262520"/>
              <a:gd name="connsiteX0" fmla="*/ 90392 w 10817225"/>
              <a:gd name="connsiteY0" fmla="*/ 2451354 h 3262520"/>
              <a:gd name="connsiteX1" fmla="*/ 2338292 w 10817225"/>
              <a:gd name="connsiteY1" fmla="*/ 1546479 h 3262520"/>
              <a:gd name="connsiteX2" fmla="*/ 6529292 w 10817225"/>
              <a:gd name="connsiteY2" fmla="*/ 3260979 h 3262520"/>
              <a:gd name="connsiteX3" fmla="*/ 10453592 w 10817225"/>
              <a:gd name="connsiteY3" fmla="*/ 1194054 h 3262520"/>
              <a:gd name="connsiteX4" fmla="*/ 9914104 w 10817225"/>
              <a:gd name="connsiteY4" fmla="*/ 98679 h 3262520"/>
              <a:gd name="connsiteX5" fmla="*/ 4004877 w 10817225"/>
              <a:gd name="connsiteY5" fmla="*/ 117729 h 3262520"/>
              <a:gd name="connsiteX6" fmla="*/ 428240 w 10817225"/>
              <a:gd name="connsiteY6" fmla="*/ 203454 h 3262520"/>
              <a:gd name="connsiteX7" fmla="*/ 90392 w 10817225"/>
              <a:gd name="connsiteY7" fmla="*/ 2451354 h 3262520"/>
              <a:gd name="connsiteX0" fmla="*/ 90392 w 10817225"/>
              <a:gd name="connsiteY0" fmla="*/ 2451354 h 3262520"/>
              <a:gd name="connsiteX1" fmla="*/ 2338292 w 10817225"/>
              <a:gd name="connsiteY1" fmla="*/ 1546479 h 3262520"/>
              <a:gd name="connsiteX2" fmla="*/ 6529292 w 10817225"/>
              <a:gd name="connsiteY2" fmla="*/ 3260979 h 3262520"/>
              <a:gd name="connsiteX3" fmla="*/ 10453592 w 10817225"/>
              <a:gd name="connsiteY3" fmla="*/ 1194054 h 3262520"/>
              <a:gd name="connsiteX4" fmla="*/ 9914104 w 10817225"/>
              <a:gd name="connsiteY4" fmla="*/ 98679 h 3262520"/>
              <a:gd name="connsiteX5" fmla="*/ 4004877 w 10817225"/>
              <a:gd name="connsiteY5" fmla="*/ 117729 h 3262520"/>
              <a:gd name="connsiteX6" fmla="*/ 428240 w 10817225"/>
              <a:gd name="connsiteY6" fmla="*/ 203454 h 3262520"/>
              <a:gd name="connsiteX7" fmla="*/ 90392 w 10817225"/>
              <a:gd name="connsiteY7" fmla="*/ 2451354 h 3262520"/>
              <a:gd name="connsiteX0" fmla="*/ 153892 w 10527389"/>
              <a:gd name="connsiteY0" fmla="*/ 2527554 h 3262509"/>
              <a:gd name="connsiteX1" fmla="*/ 2048456 w 10527389"/>
              <a:gd name="connsiteY1" fmla="*/ 1546479 h 3262509"/>
              <a:gd name="connsiteX2" fmla="*/ 6239456 w 10527389"/>
              <a:gd name="connsiteY2" fmla="*/ 3260979 h 3262509"/>
              <a:gd name="connsiteX3" fmla="*/ 10163756 w 10527389"/>
              <a:gd name="connsiteY3" fmla="*/ 1194054 h 3262509"/>
              <a:gd name="connsiteX4" fmla="*/ 9624268 w 10527389"/>
              <a:gd name="connsiteY4" fmla="*/ 98679 h 3262509"/>
              <a:gd name="connsiteX5" fmla="*/ 3715041 w 10527389"/>
              <a:gd name="connsiteY5" fmla="*/ 117729 h 3262509"/>
              <a:gd name="connsiteX6" fmla="*/ 138404 w 10527389"/>
              <a:gd name="connsiteY6" fmla="*/ 203454 h 3262509"/>
              <a:gd name="connsiteX7" fmla="*/ 153892 w 10527389"/>
              <a:gd name="connsiteY7" fmla="*/ 2527554 h 3262509"/>
              <a:gd name="connsiteX0" fmla="*/ 40674 w 10414171"/>
              <a:gd name="connsiteY0" fmla="*/ 2527554 h 3262509"/>
              <a:gd name="connsiteX1" fmla="*/ 1935238 w 10414171"/>
              <a:gd name="connsiteY1" fmla="*/ 1546479 h 3262509"/>
              <a:gd name="connsiteX2" fmla="*/ 6126238 w 10414171"/>
              <a:gd name="connsiteY2" fmla="*/ 3260979 h 3262509"/>
              <a:gd name="connsiteX3" fmla="*/ 10050538 w 10414171"/>
              <a:gd name="connsiteY3" fmla="*/ 1194054 h 3262509"/>
              <a:gd name="connsiteX4" fmla="*/ 9511050 w 10414171"/>
              <a:gd name="connsiteY4" fmla="*/ 98679 h 3262509"/>
              <a:gd name="connsiteX5" fmla="*/ 3601823 w 10414171"/>
              <a:gd name="connsiteY5" fmla="*/ 117729 h 3262509"/>
              <a:gd name="connsiteX6" fmla="*/ 25186 w 10414171"/>
              <a:gd name="connsiteY6" fmla="*/ 203454 h 3262509"/>
              <a:gd name="connsiteX7" fmla="*/ 40674 w 10414171"/>
              <a:gd name="connsiteY7" fmla="*/ 2527554 h 3262509"/>
              <a:gd name="connsiteX0" fmla="*/ 40674 w 10414171"/>
              <a:gd name="connsiteY0" fmla="*/ 2527554 h 3262509"/>
              <a:gd name="connsiteX1" fmla="*/ 1935238 w 10414171"/>
              <a:gd name="connsiteY1" fmla="*/ 1546479 h 3262509"/>
              <a:gd name="connsiteX2" fmla="*/ 6126238 w 10414171"/>
              <a:gd name="connsiteY2" fmla="*/ 3260979 h 3262509"/>
              <a:gd name="connsiteX3" fmla="*/ 10050538 w 10414171"/>
              <a:gd name="connsiteY3" fmla="*/ 1194054 h 3262509"/>
              <a:gd name="connsiteX4" fmla="*/ 9511050 w 10414171"/>
              <a:gd name="connsiteY4" fmla="*/ 98679 h 3262509"/>
              <a:gd name="connsiteX5" fmla="*/ 3601823 w 10414171"/>
              <a:gd name="connsiteY5" fmla="*/ 117729 h 3262509"/>
              <a:gd name="connsiteX6" fmla="*/ 25186 w 10414171"/>
              <a:gd name="connsiteY6" fmla="*/ 203454 h 3262509"/>
              <a:gd name="connsiteX7" fmla="*/ 40674 w 10414171"/>
              <a:gd name="connsiteY7" fmla="*/ 2527554 h 3262509"/>
              <a:gd name="connsiteX0" fmla="*/ 40674 w 10414171"/>
              <a:gd name="connsiteY0" fmla="*/ 2460651 h 3195606"/>
              <a:gd name="connsiteX1" fmla="*/ 1935238 w 10414171"/>
              <a:gd name="connsiteY1" fmla="*/ 1479576 h 3195606"/>
              <a:gd name="connsiteX2" fmla="*/ 6126238 w 10414171"/>
              <a:gd name="connsiteY2" fmla="*/ 3194076 h 3195606"/>
              <a:gd name="connsiteX3" fmla="*/ 10050538 w 10414171"/>
              <a:gd name="connsiteY3" fmla="*/ 1127151 h 3195606"/>
              <a:gd name="connsiteX4" fmla="*/ 9511050 w 10414171"/>
              <a:gd name="connsiteY4" fmla="*/ 31776 h 3195606"/>
              <a:gd name="connsiteX5" fmla="*/ 3601823 w 10414171"/>
              <a:gd name="connsiteY5" fmla="*/ 50826 h 3195606"/>
              <a:gd name="connsiteX6" fmla="*/ 25186 w 10414171"/>
              <a:gd name="connsiteY6" fmla="*/ 136551 h 3195606"/>
              <a:gd name="connsiteX7" fmla="*/ 40674 w 10414171"/>
              <a:gd name="connsiteY7" fmla="*/ 2460651 h 3195606"/>
              <a:gd name="connsiteX0" fmla="*/ 40674 w 10209660"/>
              <a:gd name="connsiteY0" fmla="*/ 2460651 h 3195606"/>
              <a:gd name="connsiteX1" fmla="*/ 1935238 w 10209660"/>
              <a:gd name="connsiteY1" fmla="*/ 1479576 h 3195606"/>
              <a:gd name="connsiteX2" fmla="*/ 6126238 w 10209660"/>
              <a:gd name="connsiteY2" fmla="*/ 3194076 h 3195606"/>
              <a:gd name="connsiteX3" fmla="*/ 10050538 w 10209660"/>
              <a:gd name="connsiteY3" fmla="*/ 1127151 h 3195606"/>
              <a:gd name="connsiteX4" fmla="*/ 9511050 w 10209660"/>
              <a:gd name="connsiteY4" fmla="*/ 31776 h 3195606"/>
              <a:gd name="connsiteX5" fmla="*/ 3601823 w 10209660"/>
              <a:gd name="connsiteY5" fmla="*/ 50826 h 3195606"/>
              <a:gd name="connsiteX6" fmla="*/ 25186 w 10209660"/>
              <a:gd name="connsiteY6" fmla="*/ 136551 h 3195606"/>
              <a:gd name="connsiteX7" fmla="*/ 40674 w 10209660"/>
              <a:gd name="connsiteY7" fmla="*/ 2460651 h 3195606"/>
              <a:gd name="connsiteX0" fmla="*/ 40674 w 9765651"/>
              <a:gd name="connsiteY0" fmla="*/ 2460651 h 3194281"/>
              <a:gd name="connsiteX1" fmla="*/ 1935238 w 9765651"/>
              <a:gd name="connsiteY1" fmla="*/ 1479576 h 3194281"/>
              <a:gd name="connsiteX2" fmla="*/ 6126238 w 9765651"/>
              <a:gd name="connsiteY2" fmla="*/ 3194076 h 3194281"/>
              <a:gd name="connsiteX3" fmla="*/ 9520534 w 9765651"/>
              <a:gd name="connsiteY3" fmla="*/ 1584351 h 3194281"/>
              <a:gd name="connsiteX4" fmla="*/ 9511050 w 9765651"/>
              <a:gd name="connsiteY4" fmla="*/ 31776 h 3194281"/>
              <a:gd name="connsiteX5" fmla="*/ 3601823 w 9765651"/>
              <a:gd name="connsiteY5" fmla="*/ 50826 h 3194281"/>
              <a:gd name="connsiteX6" fmla="*/ 25186 w 9765651"/>
              <a:gd name="connsiteY6" fmla="*/ 136551 h 3194281"/>
              <a:gd name="connsiteX7" fmla="*/ 40674 w 9765651"/>
              <a:gd name="connsiteY7" fmla="*/ 2460651 h 3194281"/>
              <a:gd name="connsiteX0" fmla="*/ 40674 w 9765651"/>
              <a:gd name="connsiteY0" fmla="*/ 2460651 h 3194281"/>
              <a:gd name="connsiteX1" fmla="*/ 1935238 w 9765651"/>
              <a:gd name="connsiteY1" fmla="*/ 1479576 h 3194281"/>
              <a:gd name="connsiteX2" fmla="*/ 6126238 w 9765651"/>
              <a:gd name="connsiteY2" fmla="*/ 3194076 h 3194281"/>
              <a:gd name="connsiteX3" fmla="*/ 9520534 w 9765651"/>
              <a:gd name="connsiteY3" fmla="*/ 1584351 h 3194281"/>
              <a:gd name="connsiteX4" fmla="*/ 9511050 w 9765651"/>
              <a:gd name="connsiteY4" fmla="*/ 31776 h 3194281"/>
              <a:gd name="connsiteX5" fmla="*/ 3601823 w 9765651"/>
              <a:gd name="connsiteY5" fmla="*/ 50826 h 3194281"/>
              <a:gd name="connsiteX6" fmla="*/ 25186 w 9765651"/>
              <a:gd name="connsiteY6" fmla="*/ 136551 h 3194281"/>
              <a:gd name="connsiteX7" fmla="*/ 40674 w 9765651"/>
              <a:gd name="connsiteY7" fmla="*/ 2460651 h 3194281"/>
              <a:gd name="connsiteX0" fmla="*/ 40674 w 9531431"/>
              <a:gd name="connsiteY0" fmla="*/ 2460651 h 3194281"/>
              <a:gd name="connsiteX1" fmla="*/ 1935238 w 9531431"/>
              <a:gd name="connsiteY1" fmla="*/ 1479576 h 3194281"/>
              <a:gd name="connsiteX2" fmla="*/ 6126238 w 9531431"/>
              <a:gd name="connsiteY2" fmla="*/ 3194076 h 3194281"/>
              <a:gd name="connsiteX3" fmla="*/ 9520534 w 9531431"/>
              <a:gd name="connsiteY3" fmla="*/ 1584351 h 3194281"/>
              <a:gd name="connsiteX4" fmla="*/ 9511050 w 9531431"/>
              <a:gd name="connsiteY4" fmla="*/ 31776 h 3194281"/>
              <a:gd name="connsiteX5" fmla="*/ 3601823 w 9531431"/>
              <a:gd name="connsiteY5" fmla="*/ 50826 h 3194281"/>
              <a:gd name="connsiteX6" fmla="*/ 25186 w 9531431"/>
              <a:gd name="connsiteY6" fmla="*/ 136551 h 3194281"/>
              <a:gd name="connsiteX7" fmla="*/ 40674 w 9531431"/>
              <a:gd name="connsiteY7" fmla="*/ 2460651 h 3194281"/>
              <a:gd name="connsiteX0" fmla="*/ 40674 w 9531431"/>
              <a:gd name="connsiteY0" fmla="*/ 2428875 h 3162505"/>
              <a:gd name="connsiteX1" fmla="*/ 1935238 w 9531431"/>
              <a:gd name="connsiteY1" fmla="*/ 1447800 h 3162505"/>
              <a:gd name="connsiteX2" fmla="*/ 6126238 w 9531431"/>
              <a:gd name="connsiteY2" fmla="*/ 3162300 h 3162505"/>
              <a:gd name="connsiteX3" fmla="*/ 9520534 w 9531431"/>
              <a:gd name="connsiteY3" fmla="*/ 1552575 h 3162505"/>
              <a:gd name="connsiteX4" fmla="*/ 9511050 w 9531431"/>
              <a:gd name="connsiteY4" fmla="*/ 0 h 3162505"/>
              <a:gd name="connsiteX5" fmla="*/ 4818869 w 9531431"/>
              <a:gd name="connsiteY5" fmla="*/ 57150 h 3162505"/>
              <a:gd name="connsiteX6" fmla="*/ 25186 w 9531431"/>
              <a:gd name="connsiteY6" fmla="*/ 104775 h 3162505"/>
              <a:gd name="connsiteX7" fmla="*/ 40674 w 9531431"/>
              <a:gd name="connsiteY7" fmla="*/ 2428875 h 3162505"/>
              <a:gd name="connsiteX0" fmla="*/ 40674 w 9531431"/>
              <a:gd name="connsiteY0" fmla="*/ 2428875 h 3162505"/>
              <a:gd name="connsiteX1" fmla="*/ 1935238 w 9531431"/>
              <a:gd name="connsiteY1" fmla="*/ 1447800 h 3162505"/>
              <a:gd name="connsiteX2" fmla="*/ 6126238 w 9531431"/>
              <a:gd name="connsiteY2" fmla="*/ 3162300 h 3162505"/>
              <a:gd name="connsiteX3" fmla="*/ 9520534 w 9531431"/>
              <a:gd name="connsiteY3" fmla="*/ 1552575 h 3162505"/>
              <a:gd name="connsiteX4" fmla="*/ 9511050 w 9531431"/>
              <a:gd name="connsiteY4" fmla="*/ 0 h 3162505"/>
              <a:gd name="connsiteX5" fmla="*/ 25186 w 9531431"/>
              <a:gd name="connsiteY5" fmla="*/ 104775 h 3162505"/>
              <a:gd name="connsiteX6" fmla="*/ 40674 w 9531431"/>
              <a:gd name="connsiteY6" fmla="*/ 2428875 h 3162505"/>
              <a:gd name="connsiteX0" fmla="*/ 40674 w 9531431"/>
              <a:gd name="connsiteY0" fmla="*/ 2409825 h 3143455"/>
              <a:gd name="connsiteX1" fmla="*/ 1935238 w 9531431"/>
              <a:gd name="connsiteY1" fmla="*/ 1428750 h 3143455"/>
              <a:gd name="connsiteX2" fmla="*/ 6126238 w 9531431"/>
              <a:gd name="connsiteY2" fmla="*/ 3143250 h 3143455"/>
              <a:gd name="connsiteX3" fmla="*/ 9520534 w 9531431"/>
              <a:gd name="connsiteY3" fmla="*/ 1533525 h 3143455"/>
              <a:gd name="connsiteX4" fmla="*/ 9511050 w 9531431"/>
              <a:gd name="connsiteY4" fmla="*/ 0 h 3143455"/>
              <a:gd name="connsiteX5" fmla="*/ 25186 w 9531431"/>
              <a:gd name="connsiteY5" fmla="*/ 85725 h 3143455"/>
              <a:gd name="connsiteX6" fmla="*/ 40674 w 9531431"/>
              <a:gd name="connsiteY6" fmla="*/ 2409825 h 3143455"/>
              <a:gd name="connsiteX0" fmla="*/ 40674 w 9511050"/>
              <a:gd name="connsiteY0" fmla="*/ 2409825 h 3143455"/>
              <a:gd name="connsiteX1" fmla="*/ 1935238 w 9511050"/>
              <a:gd name="connsiteY1" fmla="*/ 1428750 h 3143455"/>
              <a:gd name="connsiteX2" fmla="*/ 6126238 w 9511050"/>
              <a:gd name="connsiteY2" fmla="*/ 3143250 h 3143455"/>
              <a:gd name="connsiteX3" fmla="*/ 9481275 w 9511050"/>
              <a:gd name="connsiteY3" fmla="*/ 1533525 h 3143455"/>
              <a:gd name="connsiteX4" fmla="*/ 9511050 w 9511050"/>
              <a:gd name="connsiteY4" fmla="*/ 0 h 3143455"/>
              <a:gd name="connsiteX5" fmla="*/ 25186 w 9511050"/>
              <a:gd name="connsiteY5" fmla="*/ 85725 h 3143455"/>
              <a:gd name="connsiteX6" fmla="*/ 40674 w 9511050"/>
              <a:gd name="connsiteY6" fmla="*/ 2409825 h 3143455"/>
              <a:gd name="connsiteX0" fmla="*/ 40674 w 9511050"/>
              <a:gd name="connsiteY0" fmla="*/ 2409825 h 3143455"/>
              <a:gd name="connsiteX1" fmla="*/ 1935238 w 9511050"/>
              <a:gd name="connsiteY1" fmla="*/ 1428750 h 3143455"/>
              <a:gd name="connsiteX2" fmla="*/ 6126238 w 9511050"/>
              <a:gd name="connsiteY2" fmla="*/ 3143250 h 3143455"/>
              <a:gd name="connsiteX3" fmla="*/ 9465913 w 9511050"/>
              <a:gd name="connsiteY3" fmla="*/ 1533525 h 3143455"/>
              <a:gd name="connsiteX4" fmla="*/ 9511050 w 9511050"/>
              <a:gd name="connsiteY4" fmla="*/ 0 h 3143455"/>
              <a:gd name="connsiteX5" fmla="*/ 25186 w 9511050"/>
              <a:gd name="connsiteY5" fmla="*/ 85725 h 3143455"/>
              <a:gd name="connsiteX6" fmla="*/ 40674 w 9511050"/>
              <a:gd name="connsiteY6" fmla="*/ 2409825 h 3143455"/>
              <a:gd name="connsiteX0" fmla="*/ 40674 w 9511050"/>
              <a:gd name="connsiteY0" fmla="*/ 2409825 h 3143455"/>
              <a:gd name="connsiteX1" fmla="*/ 1935238 w 9511050"/>
              <a:gd name="connsiteY1" fmla="*/ 1428750 h 3143455"/>
              <a:gd name="connsiteX2" fmla="*/ 6126238 w 9511050"/>
              <a:gd name="connsiteY2" fmla="*/ 3143250 h 3143455"/>
              <a:gd name="connsiteX3" fmla="*/ 9465913 w 9511050"/>
              <a:gd name="connsiteY3" fmla="*/ 1533525 h 3143455"/>
              <a:gd name="connsiteX4" fmla="*/ 9511050 w 9511050"/>
              <a:gd name="connsiteY4" fmla="*/ 0 h 3143455"/>
              <a:gd name="connsiteX5" fmla="*/ 25186 w 9511050"/>
              <a:gd name="connsiteY5" fmla="*/ 85725 h 3143455"/>
              <a:gd name="connsiteX6" fmla="*/ 40674 w 9511050"/>
              <a:gd name="connsiteY6" fmla="*/ 2409825 h 3143455"/>
              <a:gd name="connsiteX0" fmla="*/ 26205 w 9496581"/>
              <a:gd name="connsiteY0" fmla="*/ 2409825 h 3143455"/>
              <a:gd name="connsiteX1" fmla="*/ 1920769 w 9496581"/>
              <a:gd name="connsiteY1" fmla="*/ 1428750 h 3143455"/>
              <a:gd name="connsiteX2" fmla="*/ 6111769 w 9496581"/>
              <a:gd name="connsiteY2" fmla="*/ 3143250 h 3143455"/>
              <a:gd name="connsiteX3" fmla="*/ 9451444 w 9496581"/>
              <a:gd name="connsiteY3" fmla="*/ 1533525 h 3143455"/>
              <a:gd name="connsiteX4" fmla="*/ 9496581 w 9496581"/>
              <a:gd name="connsiteY4" fmla="*/ 0 h 3143455"/>
              <a:gd name="connsiteX5" fmla="*/ 10717 w 9496581"/>
              <a:gd name="connsiteY5" fmla="*/ 85725 h 3143455"/>
              <a:gd name="connsiteX6" fmla="*/ 26205 w 9496581"/>
              <a:gd name="connsiteY6" fmla="*/ 2409825 h 3143455"/>
              <a:gd name="connsiteX0" fmla="*/ 24112 w 9501520"/>
              <a:gd name="connsiteY0" fmla="*/ 2416649 h 3143455"/>
              <a:gd name="connsiteX1" fmla="*/ 1925708 w 9501520"/>
              <a:gd name="connsiteY1" fmla="*/ 1428750 h 3143455"/>
              <a:gd name="connsiteX2" fmla="*/ 6116708 w 9501520"/>
              <a:gd name="connsiteY2" fmla="*/ 3143250 h 3143455"/>
              <a:gd name="connsiteX3" fmla="*/ 9456383 w 9501520"/>
              <a:gd name="connsiteY3" fmla="*/ 1533525 h 3143455"/>
              <a:gd name="connsiteX4" fmla="*/ 9501520 w 9501520"/>
              <a:gd name="connsiteY4" fmla="*/ 0 h 3143455"/>
              <a:gd name="connsiteX5" fmla="*/ 15656 w 9501520"/>
              <a:gd name="connsiteY5" fmla="*/ 85725 h 3143455"/>
              <a:gd name="connsiteX6" fmla="*/ 24112 w 9501520"/>
              <a:gd name="connsiteY6" fmla="*/ 2416649 h 3143455"/>
              <a:gd name="connsiteX0" fmla="*/ 8456 w 9485864"/>
              <a:gd name="connsiteY0" fmla="*/ 2416649 h 3143455"/>
              <a:gd name="connsiteX1" fmla="*/ 1910052 w 9485864"/>
              <a:gd name="connsiteY1" fmla="*/ 1428750 h 3143455"/>
              <a:gd name="connsiteX2" fmla="*/ 6101052 w 9485864"/>
              <a:gd name="connsiteY2" fmla="*/ 3143250 h 3143455"/>
              <a:gd name="connsiteX3" fmla="*/ 9440727 w 9485864"/>
              <a:gd name="connsiteY3" fmla="*/ 1533525 h 3143455"/>
              <a:gd name="connsiteX4" fmla="*/ 9485864 w 9485864"/>
              <a:gd name="connsiteY4" fmla="*/ 0 h 3143455"/>
              <a:gd name="connsiteX5" fmla="*/ 0 w 9485864"/>
              <a:gd name="connsiteY5" fmla="*/ 85725 h 3143455"/>
              <a:gd name="connsiteX6" fmla="*/ 8456 w 9485864"/>
              <a:gd name="connsiteY6" fmla="*/ 2416649 h 3143455"/>
              <a:gd name="connsiteX0" fmla="*/ 8456 w 9485864"/>
              <a:gd name="connsiteY0" fmla="*/ 2416649 h 3143471"/>
              <a:gd name="connsiteX1" fmla="*/ 1910052 w 9485864"/>
              <a:gd name="connsiteY1" fmla="*/ 1655508 h 3143471"/>
              <a:gd name="connsiteX2" fmla="*/ 6101052 w 9485864"/>
              <a:gd name="connsiteY2" fmla="*/ 3143250 h 3143471"/>
              <a:gd name="connsiteX3" fmla="*/ 9440727 w 9485864"/>
              <a:gd name="connsiteY3" fmla="*/ 1533525 h 3143471"/>
              <a:gd name="connsiteX4" fmla="*/ 9485864 w 9485864"/>
              <a:gd name="connsiteY4" fmla="*/ 0 h 3143471"/>
              <a:gd name="connsiteX5" fmla="*/ 0 w 9485864"/>
              <a:gd name="connsiteY5" fmla="*/ 85725 h 3143471"/>
              <a:gd name="connsiteX6" fmla="*/ 8456 w 9485864"/>
              <a:gd name="connsiteY6" fmla="*/ 2416649 h 3143471"/>
              <a:gd name="connsiteX0" fmla="*/ 8456 w 9485864"/>
              <a:gd name="connsiteY0" fmla="*/ 2416649 h 3234163"/>
              <a:gd name="connsiteX1" fmla="*/ 1910052 w 9485864"/>
              <a:gd name="connsiteY1" fmla="*/ 1655508 h 3234163"/>
              <a:gd name="connsiteX2" fmla="*/ 7338608 w 9485864"/>
              <a:gd name="connsiteY2" fmla="*/ 3233954 h 3234163"/>
              <a:gd name="connsiteX3" fmla="*/ 9440727 w 9485864"/>
              <a:gd name="connsiteY3" fmla="*/ 1533525 h 3234163"/>
              <a:gd name="connsiteX4" fmla="*/ 9485864 w 9485864"/>
              <a:gd name="connsiteY4" fmla="*/ 0 h 3234163"/>
              <a:gd name="connsiteX5" fmla="*/ 0 w 9485864"/>
              <a:gd name="connsiteY5" fmla="*/ 85725 h 3234163"/>
              <a:gd name="connsiteX6" fmla="*/ 8456 w 9485864"/>
              <a:gd name="connsiteY6" fmla="*/ 2416649 h 3234163"/>
              <a:gd name="connsiteX0" fmla="*/ 8456 w 9485864"/>
              <a:gd name="connsiteY0" fmla="*/ 2416649 h 3253960"/>
              <a:gd name="connsiteX1" fmla="*/ 1910052 w 9485864"/>
              <a:gd name="connsiteY1" fmla="*/ 1655508 h 3253960"/>
              <a:gd name="connsiteX2" fmla="*/ 7338608 w 9485864"/>
              <a:gd name="connsiteY2" fmla="*/ 3233954 h 3253960"/>
              <a:gd name="connsiteX3" fmla="*/ 9440727 w 9485864"/>
              <a:gd name="connsiteY3" fmla="*/ 1533525 h 3253960"/>
              <a:gd name="connsiteX4" fmla="*/ 9485864 w 9485864"/>
              <a:gd name="connsiteY4" fmla="*/ 0 h 3253960"/>
              <a:gd name="connsiteX5" fmla="*/ 0 w 9485864"/>
              <a:gd name="connsiteY5" fmla="*/ 85725 h 3253960"/>
              <a:gd name="connsiteX6" fmla="*/ 8456 w 9485864"/>
              <a:gd name="connsiteY6" fmla="*/ 2416649 h 3253960"/>
              <a:gd name="connsiteX0" fmla="*/ 8456 w 9485864"/>
              <a:gd name="connsiteY0" fmla="*/ 2416649 h 2450029"/>
              <a:gd name="connsiteX1" fmla="*/ 1910052 w 9485864"/>
              <a:gd name="connsiteY1" fmla="*/ 1655508 h 2450029"/>
              <a:gd name="connsiteX2" fmla="*/ 7387829 w 9485864"/>
              <a:gd name="connsiteY2" fmla="*/ 2355637 h 2450029"/>
              <a:gd name="connsiteX3" fmla="*/ 9440727 w 9485864"/>
              <a:gd name="connsiteY3" fmla="*/ 1533525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416649 h 2450029"/>
              <a:gd name="connsiteX1" fmla="*/ 1910052 w 9485864"/>
              <a:gd name="connsiteY1" fmla="*/ 1655508 h 2450029"/>
              <a:gd name="connsiteX2" fmla="*/ 7387829 w 9485864"/>
              <a:gd name="connsiteY2" fmla="*/ 2355637 h 2450029"/>
              <a:gd name="connsiteX3" fmla="*/ 9440727 w 9485864"/>
              <a:gd name="connsiteY3" fmla="*/ 1533525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416649 h 2450029"/>
              <a:gd name="connsiteX1" fmla="*/ 1910052 w 9485864"/>
              <a:gd name="connsiteY1" fmla="*/ 1655508 h 2450029"/>
              <a:gd name="connsiteX2" fmla="*/ 7387829 w 9485864"/>
              <a:gd name="connsiteY2" fmla="*/ 2355637 h 2450029"/>
              <a:gd name="connsiteX3" fmla="*/ 9454790 w 9485864"/>
              <a:gd name="connsiteY3" fmla="*/ 1533526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416649 h 2450029"/>
              <a:gd name="connsiteX1" fmla="*/ 1910052 w 9485864"/>
              <a:gd name="connsiteY1" fmla="*/ 1655508 h 2450029"/>
              <a:gd name="connsiteX2" fmla="*/ 7387829 w 9485864"/>
              <a:gd name="connsiteY2" fmla="*/ 2355637 h 2450029"/>
              <a:gd name="connsiteX3" fmla="*/ 9454790 w 9485864"/>
              <a:gd name="connsiteY3" fmla="*/ 1533526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416649 h 2450029"/>
              <a:gd name="connsiteX1" fmla="*/ 1910052 w 9485864"/>
              <a:gd name="connsiteY1" fmla="*/ 1655508 h 2450029"/>
              <a:gd name="connsiteX2" fmla="*/ 7387829 w 9485864"/>
              <a:gd name="connsiteY2" fmla="*/ 2355637 h 2450029"/>
              <a:gd name="connsiteX3" fmla="*/ 9447759 w 9485864"/>
              <a:gd name="connsiteY3" fmla="*/ 1810888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370423 h 2403803"/>
              <a:gd name="connsiteX1" fmla="*/ 1910052 w 9485864"/>
              <a:gd name="connsiteY1" fmla="*/ 1609282 h 2403803"/>
              <a:gd name="connsiteX2" fmla="*/ 7387829 w 9485864"/>
              <a:gd name="connsiteY2" fmla="*/ 2309411 h 2403803"/>
              <a:gd name="connsiteX3" fmla="*/ 9447759 w 9485864"/>
              <a:gd name="connsiteY3" fmla="*/ 1764662 h 2403803"/>
              <a:gd name="connsiteX4" fmla="*/ 9485864 w 9485864"/>
              <a:gd name="connsiteY4" fmla="*/ 0 h 2403803"/>
              <a:gd name="connsiteX5" fmla="*/ 0 w 9485864"/>
              <a:gd name="connsiteY5" fmla="*/ 39499 h 2403803"/>
              <a:gd name="connsiteX6" fmla="*/ 8456 w 9485864"/>
              <a:gd name="connsiteY6" fmla="*/ 2370423 h 2403803"/>
              <a:gd name="connsiteX0" fmla="*/ 8456 w 9485864"/>
              <a:gd name="connsiteY0" fmla="*/ 2330924 h 2364304"/>
              <a:gd name="connsiteX1" fmla="*/ 1910052 w 9485864"/>
              <a:gd name="connsiteY1" fmla="*/ 1569783 h 2364304"/>
              <a:gd name="connsiteX2" fmla="*/ 7387829 w 9485864"/>
              <a:gd name="connsiteY2" fmla="*/ 2269912 h 2364304"/>
              <a:gd name="connsiteX3" fmla="*/ 9447759 w 9485864"/>
              <a:gd name="connsiteY3" fmla="*/ 1725163 h 2364304"/>
              <a:gd name="connsiteX4" fmla="*/ 9485864 w 9485864"/>
              <a:gd name="connsiteY4" fmla="*/ 52955 h 2364304"/>
              <a:gd name="connsiteX5" fmla="*/ 0 w 9485864"/>
              <a:gd name="connsiteY5" fmla="*/ 0 h 2364304"/>
              <a:gd name="connsiteX6" fmla="*/ 8456 w 9485864"/>
              <a:gd name="connsiteY6" fmla="*/ 2330924 h 2364304"/>
              <a:gd name="connsiteX0" fmla="*/ 8456 w 9485864"/>
              <a:gd name="connsiteY0" fmla="*/ 2330924 h 2364304"/>
              <a:gd name="connsiteX1" fmla="*/ 1910052 w 9485864"/>
              <a:gd name="connsiteY1" fmla="*/ 1569783 h 2364304"/>
              <a:gd name="connsiteX2" fmla="*/ 7387829 w 9485864"/>
              <a:gd name="connsiteY2" fmla="*/ 2269912 h 2364304"/>
              <a:gd name="connsiteX3" fmla="*/ 9447759 w 9485864"/>
              <a:gd name="connsiteY3" fmla="*/ 1725163 h 2364304"/>
              <a:gd name="connsiteX4" fmla="*/ 9485864 w 9485864"/>
              <a:gd name="connsiteY4" fmla="*/ 52955 h 2364304"/>
              <a:gd name="connsiteX5" fmla="*/ 0 w 9485864"/>
              <a:gd name="connsiteY5" fmla="*/ 0 h 2364304"/>
              <a:gd name="connsiteX6" fmla="*/ 8456 w 9485864"/>
              <a:gd name="connsiteY6" fmla="*/ 2330924 h 2364304"/>
              <a:gd name="connsiteX0" fmla="*/ 8456 w 9485864"/>
              <a:gd name="connsiteY0" fmla="*/ 2330924 h 2364304"/>
              <a:gd name="connsiteX1" fmla="*/ 1910052 w 9485864"/>
              <a:gd name="connsiteY1" fmla="*/ 1569783 h 2364304"/>
              <a:gd name="connsiteX2" fmla="*/ 7387829 w 9485864"/>
              <a:gd name="connsiteY2" fmla="*/ 2269912 h 2364304"/>
              <a:gd name="connsiteX3" fmla="*/ 9437211 w 9485864"/>
              <a:gd name="connsiteY3" fmla="*/ 1725163 h 2364304"/>
              <a:gd name="connsiteX4" fmla="*/ 9485864 w 9485864"/>
              <a:gd name="connsiteY4" fmla="*/ 52955 h 2364304"/>
              <a:gd name="connsiteX5" fmla="*/ 0 w 9485864"/>
              <a:gd name="connsiteY5" fmla="*/ 0 h 2364304"/>
              <a:gd name="connsiteX6" fmla="*/ 8456 w 9485864"/>
              <a:gd name="connsiteY6" fmla="*/ 2330924 h 2364304"/>
              <a:gd name="connsiteX0" fmla="*/ 8456 w 9448109"/>
              <a:gd name="connsiteY0" fmla="*/ 2330924 h 2364304"/>
              <a:gd name="connsiteX1" fmla="*/ 1910052 w 9448109"/>
              <a:gd name="connsiteY1" fmla="*/ 1569783 h 2364304"/>
              <a:gd name="connsiteX2" fmla="*/ 7387829 w 9448109"/>
              <a:gd name="connsiteY2" fmla="*/ 2269912 h 2364304"/>
              <a:gd name="connsiteX3" fmla="*/ 9437211 w 9448109"/>
              <a:gd name="connsiteY3" fmla="*/ 1725163 h 2364304"/>
              <a:gd name="connsiteX4" fmla="*/ 9443675 w 9448109"/>
              <a:gd name="connsiteY4" fmla="*/ 52955 h 2364304"/>
              <a:gd name="connsiteX5" fmla="*/ 0 w 9448109"/>
              <a:gd name="connsiteY5" fmla="*/ 0 h 2364304"/>
              <a:gd name="connsiteX6" fmla="*/ 8456 w 9448109"/>
              <a:gd name="connsiteY6" fmla="*/ 2330924 h 2364304"/>
              <a:gd name="connsiteX0" fmla="*/ 8456 w 9448579"/>
              <a:gd name="connsiteY0" fmla="*/ 2330924 h 2364304"/>
              <a:gd name="connsiteX1" fmla="*/ 1910052 w 9448579"/>
              <a:gd name="connsiteY1" fmla="*/ 1569783 h 2364304"/>
              <a:gd name="connsiteX2" fmla="*/ 7387829 w 9448579"/>
              <a:gd name="connsiteY2" fmla="*/ 2269912 h 2364304"/>
              <a:gd name="connsiteX3" fmla="*/ 9437211 w 9448579"/>
              <a:gd name="connsiteY3" fmla="*/ 1725163 h 2364304"/>
              <a:gd name="connsiteX4" fmla="*/ 9443675 w 9448579"/>
              <a:gd name="connsiteY4" fmla="*/ 52955 h 2364304"/>
              <a:gd name="connsiteX5" fmla="*/ 0 w 9448579"/>
              <a:gd name="connsiteY5" fmla="*/ 0 h 2364304"/>
              <a:gd name="connsiteX6" fmla="*/ 8456 w 9448579"/>
              <a:gd name="connsiteY6" fmla="*/ 2330924 h 2364304"/>
              <a:gd name="connsiteX0" fmla="*/ 8456 w 9443675"/>
              <a:gd name="connsiteY0" fmla="*/ 2330924 h 2364304"/>
              <a:gd name="connsiteX1" fmla="*/ 1910052 w 9443675"/>
              <a:gd name="connsiteY1" fmla="*/ 1569783 h 2364304"/>
              <a:gd name="connsiteX2" fmla="*/ 7387829 w 9443675"/>
              <a:gd name="connsiteY2" fmla="*/ 2269912 h 2364304"/>
              <a:gd name="connsiteX3" fmla="*/ 9437211 w 9443675"/>
              <a:gd name="connsiteY3" fmla="*/ 1725163 h 2364304"/>
              <a:gd name="connsiteX4" fmla="*/ 9443675 w 9443675"/>
              <a:gd name="connsiteY4" fmla="*/ 52955 h 2364304"/>
              <a:gd name="connsiteX5" fmla="*/ 0 w 9443675"/>
              <a:gd name="connsiteY5" fmla="*/ 0 h 2364304"/>
              <a:gd name="connsiteX6" fmla="*/ 8456 w 9443675"/>
              <a:gd name="connsiteY6" fmla="*/ 2330924 h 2364304"/>
              <a:gd name="connsiteX0" fmla="*/ 8456 w 9443675"/>
              <a:gd name="connsiteY0" fmla="*/ 2330924 h 2364304"/>
              <a:gd name="connsiteX1" fmla="*/ 1910052 w 9443675"/>
              <a:gd name="connsiteY1" fmla="*/ 1569783 h 2364304"/>
              <a:gd name="connsiteX2" fmla="*/ 7387829 w 9443675"/>
              <a:gd name="connsiteY2" fmla="*/ 2269912 h 2364304"/>
              <a:gd name="connsiteX3" fmla="*/ 9437211 w 9443675"/>
              <a:gd name="connsiteY3" fmla="*/ 1725163 h 2364304"/>
              <a:gd name="connsiteX4" fmla="*/ 9443675 w 9443675"/>
              <a:gd name="connsiteY4" fmla="*/ 52955 h 2364304"/>
              <a:gd name="connsiteX5" fmla="*/ 0 w 9443675"/>
              <a:gd name="connsiteY5" fmla="*/ 0 h 2364304"/>
              <a:gd name="connsiteX6" fmla="*/ 8456 w 9443675"/>
              <a:gd name="connsiteY6" fmla="*/ 2330924 h 2364304"/>
              <a:gd name="connsiteX0" fmla="*/ 4940 w 9443675"/>
              <a:gd name="connsiteY0" fmla="*/ 2330924 h 2364304"/>
              <a:gd name="connsiteX1" fmla="*/ 1910052 w 9443675"/>
              <a:gd name="connsiteY1" fmla="*/ 1569783 h 2364304"/>
              <a:gd name="connsiteX2" fmla="*/ 7387829 w 9443675"/>
              <a:gd name="connsiteY2" fmla="*/ 2269912 h 2364304"/>
              <a:gd name="connsiteX3" fmla="*/ 9437211 w 9443675"/>
              <a:gd name="connsiteY3" fmla="*/ 1725163 h 2364304"/>
              <a:gd name="connsiteX4" fmla="*/ 9443675 w 9443675"/>
              <a:gd name="connsiteY4" fmla="*/ 52955 h 2364304"/>
              <a:gd name="connsiteX5" fmla="*/ 0 w 9443675"/>
              <a:gd name="connsiteY5" fmla="*/ 0 h 2364304"/>
              <a:gd name="connsiteX6" fmla="*/ 4940 w 9443675"/>
              <a:gd name="connsiteY6" fmla="*/ 2330924 h 2364304"/>
              <a:gd name="connsiteX0" fmla="*/ 1424 w 9443675"/>
              <a:gd name="connsiteY0" fmla="*/ 2330924 h 2364304"/>
              <a:gd name="connsiteX1" fmla="*/ 1910052 w 9443675"/>
              <a:gd name="connsiteY1" fmla="*/ 1569783 h 2364304"/>
              <a:gd name="connsiteX2" fmla="*/ 7387829 w 9443675"/>
              <a:gd name="connsiteY2" fmla="*/ 2269912 h 2364304"/>
              <a:gd name="connsiteX3" fmla="*/ 9437211 w 9443675"/>
              <a:gd name="connsiteY3" fmla="*/ 1725163 h 2364304"/>
              <a:gd name="connsiteX4" fmla="*/ 9443675 w 9443675"/>
              <a:gd name="connsiteY4" fmla="*/ 52955 h 2364304"/>
              <a:gd name="connsiteX5" fmla="*/ 0 w 9443675"/>
              <a:gd name="connsiteY5" fmla="*/ 0 h 2364304"/>
              <a:gd name="connsiteX6" fmla="*/ 1424 w 9443675"/>
              <a:gd name="connsiteY6" fmla="*/ 2330924 h 2364304"/>
              <a:gd name="connsiteX0" fmla="*/ 1424 w 9440144"/>
              <a:gd name="connsiteY0" fmla="*/ 2330924 h 2364304"/>
              <a:gd name="connsiteX1" fmla="*/ 1910052 w 9440144"/>
              <a:gd name="connsiteY1" fmla="*/ 1569783 h 2364304"/>
              <a:gd name="connsiteX2" fmla="*/ 7387829 w 9440144"/>
              <a:gd name="connsiteY2" fmla="*/ 2269912 h 2364304"/>
              <a:gd name="connsiteX3" fmla="*/ 9437211 w 9440144"/>
              <a:gd name="connsiteY3" fmla="*/ 1725163 h 2364304"/>
              <a:gd name="connsiteX4" fmla="*/ 9426096 w 9440144"/>
              <a:gd name="connsiteY4" fmla="*/ 12505 h 2364304"/>
              <a:gd name="connsiteX5" fmla="*/ 0 w 9440144"/>
              <a:gd name="connsiteY5" fmla="*/ 0 h 2364304"/>
              <a:gd name="connsiteX6" fmla="*/ 1424 w 9440144"/>
              <a:gd name="connsiteY6" fmla="*/ 2330924 h 2364304"/>
              <a:gd name="connsiteX0" fmla="*/ 1424 w 9430565"/>
              <a:gd name="connsiteY0" fmla="*/ 2330924 h 2364304"/>
              <a:gd name="connsiteX1" fmla="*/ 1910052 w 9430565"/>
              <a:gd name="connsiteY1" fmla="*/ 1569783 h 2364304"/>
              <a:gd name="connsiteX2" fmla="*/ 7387829 w 9430565"/>
              <a:gd name="connsiteY2" fmla="*/ 2269912 h 2364304"/>
              <a:gd name="connsiteX3" fmla="*/ 9426664 w 9430565"/>
              <a:gd name="connsiteY3" fmla="*/ 1730942 h 2364304"/>
              <a:gd name="connsiteX4" fmla="*/ 9426096 w 9430565"/>
              <a:gd name="connsiteY4" fmla="*/ 12505 h 2364304"/>
              <a:gd name="connsiteX5" fmla="*/ 0 w 9430565"/>
              <a:gd name="connsiteY5" fmla="*/ 0 h 2364304"/>
              <a:gd name="connsiteX6" fmla="*/ 1424 w 9430565"/>
              <a:gd name="connsiteY6" fmla="*/ 2330924 h 236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0565" h="2364304">
                <a:moveTo>
                  <a:pt x="1424" y="2330924"/>
                </a:moveTo>
                <a:cubicBezTo>
                  <a:pt x="319766" y="2554761"/>
                  <a:pt x="678985" y="1579952"/>
                  <a:pt x="1910052" y="1569783"/>
                </a:cubicBezTo>
                <a:cubicBezTo>
                  <a:pt x="3141119" y="1559614"/>
                  <a:pt x="6135060" y="2243052"/>
                  <a:pt x="7387829" y="2269912"/>
                </a:cubicBezTo>
                <a:cubicBezTo>
                  <a:pt x="8640598" y="2296772"/>
                  <a:pt x="9333644" y="2281107"/>
                  <a:pt x="9426664" y="1730942"/>
                </a:cubicBezTo>
                <a:cubicBezTo>
                  <a:pt x="9439700" y="1137217"/>
                  <a:pt x="9414945" y="1009328"/>
                  <a:pt x="9426096" y="12505"/>
                </a:cubicBezTo>
                <a:lnTo>
                  <a:pt x="0" y="0"/>
                </a:lnTo>
                <a:cubicBezTo>
                  <a:pt x="8114" y="759133"/>
                  <a:pt x="-2695" y="1992787"/>
                  <a:pt x="1424" y="2330924"/>
                </a:cubicBezTo>
                <a:close/>
              </a:path>
            </a:pathLst>
          </a:custGeom>
          <a:solidFill>
            <a:srgbClr val="348E90"/>
          </a:solidFill>
          <a:ln w="3175">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Google Shape;133;g61ca4f9afc_1_413">
            <a:extLst>
              <a:ext uri="{FF2B5EF4-FFF2-40B4-BE49-F238E27FC236}">
                <a16:creationId xmlns:a16="http://schemas.microsoft.com/office/drawing/2014/main" id="{1B86F292-1AA4-6C97-029F-987231485882}"/>
              </a:ext>
            </a:extLst>
          </p:cNvPr>
          <p:cNvSpPr/>
          <p:nvPr userDrawn="1"/>
        </p:nvSpPr>
        <p:spPr>
          <a:xfrm>
            <a:off x="4105073" y="4378538"/>
            <a:ext cx="4940648" cy="261056"/>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en-US" sz="2400" b="1" i="0" u="none" strike="noStrike" cap="none" dirty="0">
                <a:solidFill>
                  <a:schemeClr val="bg2">
                    <a:lumMod val="75000"/>
                    <a:lumOff val="25000"/>
                  </a:schemeClr>
                </a:solidFill>
                <a:latin typeface="Raleway" pitchFamily="2" charset="0"/>
                <a:ea typeface="Calibri"/>
                <a:cs typeface="Calibri"/>
                <a:sym typeface="Calibri"/>
              </a:rPr>
              <a:t>•</a:t>
            </a:r>
            <a:r>
              <a:rPr lang="en-US" sz="1600" b="1" i="0" u="none" strike="noStrike" cap="none" dirty="0">
                <a:solidFill>
                  <a:schemeClr val="bg2">
                    <a:lumMod val="75000"/>
                    <a:lumOff val="25000"/>
                  </a:schemeClr>
                </a:solidFill>
                <a:latin typeface="Raleway" pitchFamily="2" charset="0"/>
                <a:ea typeface="Calibri"/>
                <a:cs typeface="Calibri"/>
                <a:sym typeface="Calibri"/>
              </a:rPr>
              <a:t>  NEW DELHI </a:t>
            </a:r>
            <a:r>
              <a:rPr lang="en-US" sz="2400" b="1" i="0" u="none" strike="noStrike" cap="none" dirty="0">
                <a:solidFill>
                  <a:schemeClr val="bg2">
                    <a:lumMod val="75000"/>
                    <a:lumOff val="25000"/>
                  </a:schemeClr>
                </a:solidFill>
                <a:latin typeface="Raleway" pitchFamily="2" charset="0"/>
                <a:ea typeface="Calibri"/>
                <a:cs typeface="Calibri"/>
                <a:sym typeface="Calibri"/>
              </a:rPr>
              <a:t>•</a:t>
            </a:r>
            <a:r>
              <a:rPr lang="en-US" sz="1600" b="1" i="0" u="none" strike="noStrike" cap="none" dirty="0">
                <a:solidFill>
                  <a:schemeClr val="bg2">
                    <a:lumMod val="75000"/>
                    <a:lumOff val="25000"/>
                  </a:schemeClr>
                </a:solidFill>
                <a:latin typeface="Raleway" pitchFamily="2" charset="0"/>
                <a:ea typeface="Calibri"/>
                <a:cs typeface="Calibri"/>
                <a:sym typeface="Calibri"/>
              </a:rPr>
              <a:t>  BANGALORE  </a:t>
            </a:r>
            <a:r>
              <a:rPr lang="en-US" sz="2400" b="1" i="0" u="none" strike="noStrike" cap="none" dirty="0">
                <a:solidFill>
                  <a:schemeClr val="bg2">
                    <a:lumMod val="75000"/>
                    <a:lumOff val="25000"/>
                  </a:schemeClr>
                </a:solidFill>
                <a:latin typeface="Raleway" pitchFamily="2" charset="0"/>
                <a:ea typeface="Calibri"/>
                <a:cs typeface="Calibri"/>
                <a:sym typeface="Calibri"/>
              </a:rPr>
              <a:t>•</a:t>
            </a:r>
            <a:r>
              <a:rPr lang="en-US" sz="1600" b="1" i="0" u="none" strike="noStrike" cap="none" dirty="0">
                <a:solidFill>
                  <a:schemeClr val="bg2">
                    <a:lumMod val="75000"/>
                    <a:lumOff val="25000"/>
                  </a:schemeClr>
                </a:solidFill>
                <a:latin typeface="Raleway" pitchFamily="2" charset="0"/>
                <a:ea typeface="Calibri"/>
                <a:cs typeface="Calibri"/>
                <a:sym typeface="Calibri"/>
              </a:rPr>
              <a:t> UNITED STATES  </a:t>
            </a:r>
          </a:p>
        </p:txBody>
      </p:sp>
      <p:sp>
        <p:nvSpPr>
          <p:cNvPr id="7" name="Rectangle 6">
            <a:extLst>
              <a:ext uri="{FF2B5EF4-FFF2-40B4-BE49-F238E27FC236}">
                <a16:creationId xmlns:a16="http://schemas.microsoft.com/office/drawing/2014/main" id="{E2DA6A14-BE07-7213-405D-4CA2EBA1A206}"/>
              </a:ext>
            </a:extLst>
          </p:cNvPr>
          <p:cNvSpPr/>
          <p:nvPr userDrawn="1"/>
        </p:nvSpPr>
        <p:spPr>
          <a:xfrm>
            <a:off x="210903" y="4766795"/>
            <a:ext cx="8640305" cy="369332"/>
          </a:xfrm>
          <a:prstGeom prst="rect">
            <a:avLst/>
          </a:prstGeom>
        </p:spPr>
        <p:txBody>
          <a:bodyPr wrap="square">
            <a:spAutoFit/>
          </a:bodyPr>
          <a:lstStyle/>
          <a:p>
            <a:r>
              <a:rPr lang="en-IN" sz="900" b="1" i="0" u="none" strike="noStrike" dirty="0">
                <a:solidFill>
                  <a:schemeClr val="bg1"/>
                </a:solidFill>
                <a:effectLst/>
                <a:latin typeface="Calibri" panose="020F0502020204030204" pitchFamily="34" charset="0"/>
                <a:cs typeface="Calibri" panose="020F0502020204030204" pitchFamily="34" charset="0"/>
              </a:rPr>
              <a:t>Disclaimer:</a:t>
            </a:r>
            <a:r>
              <a:rPr lang="en-IN" sz="900" b="0" i="0" u="none" strike="noStrike" dirty="0">
                <a:solidFill>
                  <a:schemeClr val="bg1"/>
                </a:solidFill>
                <a:effectLst/>
                <a:latin typeface="Calibri" panose="020F0502020204030204" pitchFamily="34" charset="0"/>
                <a:cs typeface="Calibri" panose="020F0502020204030204" pitchFamily="34" charset="0"/>
              </a:rPr>
              <a:t> The information produced in this document is proprietor knowledge of ALabs AI Private Limited, dba Scaletrix.AI,  ©, 2017-2023. Unauthorized use or duplication of this material or any part of this material, including data, in any form without explicit and written permission will attract legal action.</a:t>
            </a:r>
            <a:endParaRPr lang="en-GB" sz="900" kern="1200" dirty="0">
              <a:solidFill>
                <a:schemeClr val="bg1"/>
              </a:solidFill>
              <a:effectLst/>
              <a:latin typeface="Calibri" panose="020F0502020204030204" pitchFamily="34" charset="0"/>
              <a:ea typeface="+mn-ea"/>
              <a:cs typeface="Calibri" panose="020F0502020204030204" pitchFamily="34" charset="0"/>
            </a:endParaRPr>
          </a:p>
        </p:txBody>
      </p:sp>
      <p:pic>
        <p:nvPicPr>
          <p:cNvPr id="8" name="Picture 7">
            <a:extLst>
              <a:ext uri="{FF2B5EF4-FFF2-40B4-BE49-F238E27FC236}">
                <a16:creationId xmlns:a16="http://schemas.microsoft.com/office/drawing/2014/main" id="{A9B28688-2EB4-2123-29C3-E4FD02DA4DBE}"/>
              </a:ext>
            </a:extLst>
          </p:cNvPr>
          <p:cNvPicPr>
            <a:picLocks noChangeAspect="1"/>
          </p:cNvPicPr>
          <p:nvPr userDrawn="1"/>
        </p:nvPicPr>
        <p:blipFill rotWithShape="1">
          <a:blip r:embed="rId2"/>
          <a:srcRect l="7158" t="10561" r="8984" b="14075"/>
          <a:stretch/>
        </p:blipFill>
        <p:spPr>
          <a:xfrm>
            <a:off x="135177" y="168922"/>
            <a:ext cx="2677768" cy="714447"/>
          </a:xfrm>
          <a:prstGeom prst="rect">
            <a:avLst/>
          </a:prstGeom>
        </p:spPr>
      </p:pic>
      <p:pic>
        <p:nvPicPr>
          <p:cNvPr id="9" name="Picture 8" descr="A hand shaking with a circuit board&#10;&#10;Description automatically generated">
            <a:extLst>
              <a:ext uri="{FF2B5EF4-FFF2-40B4-BE49-F238E27FC236}">
                <a16:creationId xmlns:a16="http://schemas.microsoft.com/office/drawing/2014/main" id="{E40CF6E5-4E72-534F-61DB-10D6B6744243}"/>
              </a:ext>
            </a:extLst>
          </p:cNvPr>
          <p:cNvPicPr>
            <a:picLocks noChangeAspect="1"/>
          </p:cNvPicPr>
          <p:nvPr userDrawn="1"/>
        </p:nvPicPr>
        <p:blipFill>
          <a:blip r:embed="rId3"/>
          <a:stretch>
            <a:fillRect/>
          </a:stretch>
        </p:blipFill>
        <p:spPr>
          <a:xfrm>
            <a:off x="368569" y="1526419"/>
            <a:ext cx="4027266" cy="2265337"/>
          </a:xfrm>
          <a:prstGeom prst="rect">
            <a:avLst/>
          </a:prstGeom>
          <a:effectLst>
            <a:softEdge rad="203200"/>
          </a:effectLst>
        </p:spPr>
      </p:pic>
      <p:sp>
        <p:nvSpPr>
          <p:cNvPr id="11" name="TextBox 10">
            <a:extLst>
              <a:ext uri="{FF2B5EF4-FFF2-40B4-BE49-F238E27FC236}">
                <a16:creationId xmlns:a16="http://schemas.microsoft.com/office/drawing/2014/main" id="{65A17843-D261-8EFC-118D-00F0D03E98B6}"/>
              </a:ext>
            </a:extLst>
          </p:cNvPr>
          <p:cNvSpPr txBox="1"/>
          <p:nvPr userDrawn="1"/>
        </p:nvSpPr>
        <p:spPr>
          <a:xfrm>
            <a:off x="2167888" y="3939417"/>
            <a:ext cx="6969627" cy="40011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IN" sz="2000" b="1" dirty="0">
                <a:solidFill>
                  <a:schemeClr val="tx1"/>
                </a:solidFill>
                <a:latin typeface="Raleway" pitchFamily="2" charset="0"/>
                <a:ea typeface="Raleway"/>
                <a:cs typeface="Raleway"/>
                <a:sym typeface="Raleway"/>
              </a:rPr>
              <a:t>Unleash Growth with Digital Transformation &amp; Analytics</a:t>
            </a:r>
          </a:p>
        </p:txBody>
      </p:sp>
      <p:pic>
        <p:nvPicPr>
          <p:cNvPr id="5" name="Picture 4">
            <a:extLst>
              <a:ext uri="{FF2B5EF4-FFF2-40B4-BE49-F238E27FC236}">
                <a16:creationId xmlns:a16="http://schemas.microsoft.com/office/drawing/2014/main" id="{A2304372-7439-DD33-9CB7-28CBD059919F}"/>
              </a:ext>
            </a:extLst>
          </p:cNvPr>
          <p:cNvPicPr>
            <a:picLocks noChangeAspect="1"/>
          </p:cNvPicPr>
          <p:nvPr userDrawn="1"/>
        </p:nvPicPr>
        <p:blipFill>
          <a:blip r:embed="rId4"/>
          <a:stretch>
            <a:fillRect/>
          </a:stretch>
        </p:blipFill>
        <p:spPr>
          <a:xfrm>
            <a:off x="4664867" y="2353536"/>
            <a:ext cx="4210050" cy="952500"/>
          </a:xfrm>
          <a:prstGeom prst="rect">
            <a:avLst/>
          </a:prstGeom>
        </p:spPr>
      </p:pic>
    </p:spTree>
    <p:extLst>
      <p:ext uri="{BB962C8B-B14F-4D97-AF65-F5344CB8AC3E}">
        <p14:creationId xmlns:p14="http://schemas.microsoft.com/office/powerpoint/2010/main" val="57419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3" name="Google Shape;23;p3"/>
          <p:cNvSpPr txBox="1">
            <a:spLocks noGrp="1"/>
          </p:cNvSpPr>
          <p:nvPr>
            <p:ph type="title"/>
          </p:nvPr>
        </p:nvSpPr>
        <p:spPr>
          <a:xfrm>
            <a:off x="311700" y="3216814"/>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atin typeface="Raleway" pitchFamily="2" charset="0"/>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dirty="0"/>
          </a:p>
        </p:txBody>
      </p:sp>
      <p:sp>
        <p:nvSpPr>
          <p:cNvPr id="2" name="Google Shape;8;p1">
            <a:extLst>
              <a:ext uri="{FF2B5EF4-FFF2-40B4-BE49-F238E27FC236}">
                <a16:creationId xmlns:a16="http://schemas.microsoft.com/office/drawing/2014/main" id="{9DF37ADA-1D1E-F64E-723D-3F6E9A12009A}"/>
              </a:ext>
            </a:extLst>
          </p:cNvPr>
          <p:cNvSpPr txBox="1">
            <a:spLocks noGrp="1"/>
          </p:cNvSpPr>
          <p:nvPr>
            <p:ph type="sldNum" idx="12"/>
          </p:nvPr>
        </p:nvSpPr>
        <p:spPr>
          <a:xfrm>
            <a:off x="8492930" y="4810835"/>
            <a:ext cx="548700" cy="266454"/>
          </a:xfrm>
          <a:prstGeom prst="rect">
            <a:avLst/>
          </a:prstGeom>
          <a:noFill/>
          <a:ln>
            <a:noFill/>
          </a:ln>
        </p:spPr>
        <p:txBody>
          <a:bodyPr spcFirstLastPara="1" wrap="square" lIns="91425" tIns="91425" rIns="91425" bIns="91425" anchor="ctr" anchorCtr="0">
            <a:normAutofit/>
          </a:bodyPr>
          <a:lstStyle>
            <a:lvl1pPr lvl="0" algn="r">
              <a:buNone/>
              <a:defRPr sz="1000">
                <a:solidFill>
                  <a:schemeClr val="bg1"/>
                </a:solidFill>
                <a:latin typeface="Raleway" pitchFamily="2" charset="0"/>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pic>
        <p:nvPicPr>
          <p:cNvPr id="6" name="Picture 5">
            <a:extLst>
              <a:ext uri="{FF2B5EF4-FFF2-40B4-BE49-F238E27FC236}">
                <a16:creationId xmlns:a16="http://schemas.microsoft.com/office/drawing/2014/main" id="{D24DD5F3-83EC-6AD6-1384-44FB5547A04C}"/>
              </a:ext>
            </a:extLst>
          </p:cNvPr>
          <p:cNvPicPr>
            <a:picLocks noChangeAspect="1"/>
          </p:cNvPicPr>
          <p:nvPr userDrawn="1"/>
        </p:nvPicPr>
        <p:blipFill rotWithShape="1">
          <a:blip r:embed="rId2"/>
          <a:srcRect t="14381" b="10083"/>
          <a:stretch/>
        </p:blipFill>
        <p:spPr>
          <a:xfrm>
            <a:off x="-10479" y="4778374"/>
            <a:ext cx="1629531" cy="36512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811053" y="3952592"/>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Raleway" pitchFamily="2" charset="0"/>
                <a:ea typeface="Raleway" pitchFamily="2" charset="0"/>
                <a:cs typeface="Raleway" pitchFamily="2" charset="0"/>
                <a:sym typeface="PT Sans Narrow"/>
              </a:defRPr>
            </a:lvl1pPr>
          </a:lstStyle>
          <a:p>
            <a:endParaRPr dirty="0"/>
          </a:p>
        </p:txBody>
      </p:sp>
      <p:sp>
        <p:nvSpPr>
          <p:cNvPr id="6" name="Slide Number Placeholder 5">
            <a:extLst>
              <a:ext uri="{FF2B5EF4-FFF2-40B4-BE49-F238E27FC236}">
                <a16:creationId xmlns:a16="http://schemas.microsoft.com/office/drawing/2014/main" id="{2D49176E-C771-72C8-F8E5-906AAEAB5941}"/>
              </a:ext>
            </a:extLst>
          </p:cNvPr>
          <p:cNvSpPr>
            <a:spLocks noGrp="1"/>
          </p:cNvSpPr>
          <p:nvPr>
            <p:ph type="sldNum" sz="quarter" idx="12"/>
          </p:nvPr>
        </p:nvSpPr>
        <p:spPr>
          <a:xfrm>
            <a:off x="8492930" y="4810835"/>
            <a:ext cx="548700" cy="266454"/>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pic>
        <p:nvPicPr>
          <p:cNvPr id="7" name="Picture 6">
            <a:extLst>
              <a:ext uri="{FF2B5EF4-FFF2-40B4-BE49-F238E27FC236}">
                <a16:creationId xmlns:a16="http://schemas.microsoft.com/office/drawing/2014/main" id="{34497C5B-CF38-3565-AD13-4B8CB1D39C9F}"/>
              </a:ext>
            </a:extLst>
          </p:cNvPr>
          <p:cNvPicPr>
            <a:picLocks noChangeAspect="1"/>
          </p:cNvPicPr>
          <p:nvPr userDrawn="1"/>
        </p:nvPicPr>
        <p:blipFill rotWithShape="1">
          <a:blip r:embed="rId2"/>
          <a:srcRect t="14381" b="10083"/>
          <a:stretch/>
        </p:blipFill>
        <p:spPr>
          <a:xfrm>
            <a:off x="-10479" y="4778374"/>
            <a:ext cx="1629531" cy="36512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userDrawn="1">
  <p:cSld name="ONE_COLUMN_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311700" y="1254627"/>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000">
                <a:latin typeface="Calibri" panose="020F0502020204030204" pitchFamily="34" charset="0"/>
                <a:cs typeface="Calibri" panose="020F0502020204030204" pitchFamily="34" charset="0"/>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dirty="0"/>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302398" y="0"/>
            <a:ext cx="8006400" cy="8532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200">
                <a:solidFill>
                  <a:schemeClr val="tx1"/>
                </a:solidFill>
                <a:latin typeface="Raleway" pitchFamily="2" charset="0"/>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8492930" y="4810835"/>
            <a:ext cx="548700" cy="266454"/>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pic>
        <p:nvPicPr>
          <p:cNvPr id="8" name="Picture 7">
            <a:extLst>
              <a:ext uri="{FF2B5EF4-FFF2-40B4-BE49-F238E27FC236}">
                <a16:creationId xmlns:a16="http://schemas.microsoft.com/office/drawing/2014/main" id="{2FAE2BEA-DAE3-C338-7ADD-C99D55298DDA}"/>
              </a:ext>
            </a:extLst>
          </p:cNvPr>
          <p:cNvPicPr>
            <a:picLocks noChangeAspect="1"/>
          </p:cNvPicPr>
          <p:nvPr userDrawn="1"/>
        </p:nvPicPr>
        <p:blipFill rotWithShape="1">
          <a:blip r:embed="rId2"/>
          <a:srcRect t="14381" b="10083"/>
          <a:stretch/>
        </p:blipFill>
        <p:spPr>
          <a:xfrm>
            <a:off x="-10479" y="4778374"/>
            <a:ext cx="1629531" cy="36512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3887391" y="1537097"/>
            <a:ext cx="4629150" cy="2858691"/>
          </a:xfrm>
        </p:spPr>
        <p:txBody>
          <a:bodyPr>
            <a:normAutofit/>
          </a:bodyPr>
          <a:lstStyle>
            <a:lvl1pPr marL="0" indent="0">
              <a:buNone/>
              <a:defRPr sz="1000">
                <a:latin typeface="Calibri" panose="020F0502020204030204" pitchFamily="34" charset="0"/>
                <a:cs typeface="Calibri" panose="020F050202020403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629841" y="1543050"/>
            <a:ext cx="2949178" cy="2858691"/>
          </a:xfrm>
        </p:spPr>
        <p:txBody>
          <a:bodyPr/>
          <a:lstStyle>
            <a:lvl1pPr marL="0" indent="0">
              <a:buNone/>
              <a:defRPr sz="1000">
                <a:latin typeface="Calibri" panose="020F0502020204030204" pitchFamily="34" charset="0"/>
                <a:cs typeface="Calibri" panose="020F050202020403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302398" y="0"/>
            <a:ext cx="8006400" cy="8532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200">
                <a:solidFill>
                  <a:schemeClr val="tx1"/>
                </a:solidFill>
                <a:latin typeface="Raleway" pitchFamily="2" charset="0"/>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dirty="0"/>
          </a:p>
        </p:txBody>
      </p:sp>
      <p:pic>
        <p:nvPicPr>
          <p:cNvPr id="12" name="Picture 11">
            <a:extLst>
              <a:ext uri="{FF2B5EF4-FFF2-40B4-BE49-F238E27FC236}">
                <a16:creationId xmlns:a16="http://schemas.microsoft.com/office/drawing/2014/main" id="{1520CC9C-C42F-0D7C-56C3-F294FB6AF5AF}"/>
              </a:ext>
            </a:extLst>
          </p:cNvPr>
          <p:cNvPicPr>
            <a:picLocks noChangeAspect="1"/>
          </p:cNvPicPr>
          <p:nvPr userDrawn="1"/>
        </p:nvPicPr>
        <p:blipFill rotWithShape="1">
          <a:blip r:embed="rId2"/>
          <a:srcRect t="14381" b="10083"/>
          <a:stretch/>
        </p:blipFill>
        <p:spPr>
          <a:xfrm>
            <a:off x="-10479" y="4778374"/>
            <a:ext cx="1629531" cy="365126"/>
          </a:xfrm>
          <a:prstGeom prst="rect">
            <a:avLst/>
          </a:prstGeom>
        </p:spPr>
      </p:pic>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8492930" y="4810835"/>
            <a:ext cx="548700" cy="266454"/>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4041871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1"/>
        <p:cNvGrpSpPr/>
        <p:nvPr/>
      </p:nvGrpSpPr>
      <p:grpSpPr>
        <a:xfrm>
          <a:off x="0" y="0"/>
          <a:ext cx="0" cy="0"/>
          <a:chOff x="0" y="0"/>
          <a:chExt cx="0" cy="0"/>
        </a:xfrm>
      </p:grpSpPr>
      <p:sp>
        <p:nvSpPr>
          <p:cNvPr id="93" name="Google Shape;93;p15"/>
          <p:cNvSpPr txBox="1">
            <a:spLocks noGrp="1"/>
          </p:cNvSpPr>
          <p:nvPr>
            <p:ph type="body" idx="1"/>
          </p:nvPr>
        </p:nvSpPr>
        <p:spPr>
          <a:xfrm>
            <a:off x="628650" y="1517556"/>
            <a:ext cx="7886700" cy="2966727"/>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atin typeface="Calibri" panose="020F0502020204030204" pitchFamily="34" charset="0"/>
                <a:cs typeface="Calibri" panose="020F0502020204030204" pitchFamily="34" charset="0"/>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dirty="0"/>
          </a:p>
        </p:txBody>
      </p:sp>
      <p:sp>
        <p:nvSpPr>
          <p:cNvPr id="4" name="Google Shape;45;p7">
            <a:extLst>
              <a:ext uri="{FF2B5EF4-FFF2-40B4-BE49-F238E27FC236}">
                <a16:creationId xmlns:a16="http://schemas.microsoft.com/office/drawing/2014/main" id="{EB44CB0A-F4B1-A402-3759-2C3528AB8E4F}"/>
              </a:ext>
            </a:extLst>
          </p:cNvPr>
          <p:cNvSpPr txBox="1">
            <a:spLocks noGrp="1"/>
          </p:cNvSpPr>
          <p:nvPr>
            <p:ph type="title"/>
          </p:nvPr>
        </p:nvSpPr>
        <p:spPr>
          <a:xfrm>
            <a:off x="302398" y="0"/>
            <a:ext cx="8006400" cy="853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200">
                <a:solidFill>
                  <a:schemeClr val="tx1"/>
                </a:solidFill>
                <a:latin typeface="Raleway" pitchFamily="2" charset="0"/>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dirty="0"/>
          </a:p>
        </p:txBody>
      </p:sp>
      <p:pic>
        <p:nvPicPr>
          <p:cNvPr id="8" name="Picture 7">
            <a:extLst>
              <a:ext uri="{FF2B5EF4-FFF2-40B4-BE49-F238E27FC236}">
                <a16:creationId xmlns:a16="http://schemas.microsoft.com/office/drawing/2014/main" id="{EB4CA868-36A9-AF86-B3E9-8BE3DAE7FF88}"/>
              </a:ext>
            </a:extLst>
          </p:cNvPr>
          <p:cNvPicPr>
            <a:picLocks noChangeAspect="1"/>
          </p:cNvPicPr>
          <p:nvPr userDrawn="1"/>
        </p:nvPicPr>
        <p:blipFill rotWithShape="1">
          <a:blip r:embed="rId2"/>
          <a:srcRect t="14381" b="10083"/>
          <a:stretch/>
        </p:blipFill>
        <p:spPr>
          <a:xfrm>
            <a:off x="-10479" y="4778374"/>
            <a:ext cx="1629531" cy="365126"/>
          </a:xfrm>
          <a:prstGeom prst="rect">
            <a:avLst/>
          </a:prstGeom>
        </p:spPr>
      </p:pic>
      <p:sp>
        <p:nvSpPr>
          <p:cNvPr id="9" name="Slide Number Placeholder 5">
            <a:extLst>
              <a:ext uri="{FF2B5EF4-FFF2-40B4-BE49-F238E27FC236}">
                <a16:creationId xmlns:a16="http://schemas.microsoft.com/office/drawing/2014/main" id="{876617F3-2402-6614-1A74-28C7B4C54B24}"/>
              </a:ext>
            </a:extLst>
          </p:cNvPr>
          <p:cNvSpPr>
            <a:spLocks noGrp="1"/>
          </p:cNvSpPr>
          <p:nvPr>
            <p:ph type="sldNum" sz="quarter" idx="12"/>
          </p:nvPr>
        </p:nvSpPr>
        <p:spPr>
          <a:xfrm>
            <a:off x="8492930" y="4810835"/>
            <a:ext cx="548700" cy="266454"/>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311700" y="1951874"/>
            <a:ext cx="8520600" cy="2364912"/>
          </a:xfr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302398" y="0"/>
            <a:ext cx="8006400" cy="853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200">
                <a:solidFill>
                  <a:schemeClr val="tx1"/>
                </a:solidFill>
                <a:latin typeface="Raleway" pitchFamily="2" charset="0"/>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dirty="0"/>
          </a:p>
        </p:txBody>
      </p:sp>
      <p:pic>
        <p:nvPicPr>
          <p:cNvPr id="11" name="Picture 10">
            <a:extLst>
              <a:ext uri="{FF2B5EF4-FFF2-40B4-BE49-F238E27FC236}">
                <a16:creationId xmlns:a16="http://schemas.microsoft.com/office/drawing/2014/main" id="{2F9D72CD-EDE0-C0F6-D2D9-664BD9111D39}"/>
              </a:ext>
            </a:extLst>
          </p:cNvPr>
          <p:cNvPicPr>
            <a:picLocks noChangeAspect="1"/>
          </p:cNvPicPr>
          <p:nvPr userDrawn="1"/>
        </p:nvPicPr>
        <p:blipFill rotWithShape="1">
          <a:blip r:embed="rId2"/>
          <a:srcRect t="14381" b="10083"/>
          <a:stretch/>
        </p:blipFill>
        <p:spPr>
          <a:xfrm>
            <a:off x="-10479" y="4778374"/>
            <a:ext cx="1629531" cy="365126"/>
          </a:xfrm>
          <a:prstGeom prst="rect">
            <a:avLst/>
          </a:prstGeom>
        </p:spPr>
      </p:pic>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8492930" y="4810835"/>
            <a:ext cx="548700" cy="266454"/>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164424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userDrawn="1">
  <p:cSld name="TITLE_AND_TWO_COLUMNS_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352045" y="2895600"/>
            <a:ext cx="2734710" cy="3714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200"/>
              </a:spcBef>
              <a:spcAft>
                <a:spcPts val="0"/>
              </a:spcAft>
              <a:buNone/>
              <a:defRPr b="1"/>
            </a:lvl2pPr>
            <a:lvl3pPr lvl="2" rtl="0">
              <a:lnSpc>
                <a:spcPct val="100000"/>
              </a:lnSpc>
              <a:spcBef>
                <a:spcPts val="1200"/>
              </a:spcBef>
              <a:spcAft>
                <a:spcPts val="0"/>
              </a:spcAft>
              <a:buNone/>
              <a:defRPr b="1"/>
            </a:lvl3pPr>
            <a:lvl4pPr lvl="3" rtl="0">
              <a:lnSpc>
                <a:spcPct val="100000"/>
              </a:lnSpc>
              <a:spcBef>
                <a:spcPts val="1200"/>
              </a:spcBef>
              <a:spcAft>
                <a:spcPts val="0"/>
              </a:spcAft>
              <a:buNone/>
              <a:defRPr b="1"/>
            </a:lvl4pPr>
            <a:lvl5pPr lvl="4" rtl="0">
              <a:lnSpc>
                <a:spcPct val="100000"/>
              </a:lnSpc>
              <a:spcBef>
                <a:spcPts val="1200"/>
              </a:spcBef>
              <a:spcAft>
                <a:spcPts val="0"/>
              </a:spcAft>
              <a:buNone/>
              <a:defRPr b="1"/>
            </a:lvl5pPr>
            <a:lvl6pPr lvl="5" rtl="0">
              <a:lnSpc>
                <a:spcPct val="100000"/>
              </a:lnSpc>
              <a:spcBef>
                <a:spcPts val="1200"/>
              </a:spcBef>
              <a:spcAft>
                <a:spcPts val="0"/>
              </a:spcAft>
              <a:buNone/>
              <a:defRPr b="1"/>
            </a:lvl6pPr>
            <a:lvl7pPr lvl="6" rtl="0">
              <a:lnSpc>
                <a:spcPct val="100000"/>
              </a:lnSpc>
              <a:spcBef>
                <a:spcPts val="1200"/>
              </a:spcBef>
              <a:spcAft>
                <a:spcPts val="0"/>
              </a:spcAft>
              <a:buNone/>
              <a:defRPr b="1"/>
            </a:lvl7pPr>
            <a:lvl8pPr lvl="7" rtl="0">
              <a:lnSpc>
                <a:spcPct val="100000"/>
              </a:lnSpc>
              <a:spcBef>
                <a:spcPts val="1200"/>
              </a:spcBef>
              <a:spcAft>
                <a:spcPts val="0"/>
              </a:spcAft>
              <a:buNone/>
              <a:defRPr b="1"/>
            </a:lvl8pPr>
            <a:lvl9pPr lvl="8" rtl="0">
              <a:lnSpc>
                <a:spcPct val="100000"/>
              </a:lnSpc>
              <a:spcBef>
                <a:spcPts val="1200"/>
              </a:spcBef>
              <a:spcAft>
                <a:spcPts val="1200"/>
              </a:spcAft>
              <a:buNone/>
              <a:defRPr b="1"/>
            </a:lvl9pPr>
          </a:lstStyle>
          <a:p>
            <a:endParaRPr dirty="0"/>
          </a:p>
        </p:txBody>
      </p:sp>
      <p:sp>
        <p:nvSpPr>
          <p:cNvPr id="78" name="Google Shape;78;p13"/>
          <p:cNvSpPr txBox="1">
            <a:spLocks noGrp="1"/>
          </p:cNvSpPr>
          <p:nvPr>
            <p:ph type="subTitle" idx="2"/>
          </p:nvPr>
        </p:nvSpPr>
        <p:spPr>
          <a:xfrm>
            <a:off x="1352045" y="3272025"/>
            <a:ext cx="2734710" cy="959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400">
                <a:latin typeface="Calibri" panose="020F0502020204030204" pitchFamily="34" charset="0"/>
                <a:cs typeface="Calibri" panose="020F0502020204030204" pitchFamily="34" charset="0"/>
              </a:defRPr>
            </a:lvl1pPr>
            <a:lvl2pPr lvl="1" rtl="0">
              <a:lnSpc>
                <a:spcPct val="100000"/>
              </a:lnSpc>
              <a:spcBef>
                <a:spcPts val="1200"/>
              </a:spcBef>
              <a:spcAft>
                <a:spcPts val="0"/>
              </a:spcAft>
              <a:buNone/>
              <a:defRPr sz="1400"/>
            </a:lvl2pPr>
            <a:lvl3pPr lvl="2" rtl="0">
              <a:lnSpc>
                <a:spcPct val="100000"/>
              </a:lnSpc>
              <a:spcBef>
                <a:spcPts val="1200"/>
              </a:spcBef>
              <a:spcAft>
                <a:spcPts val="0"/>
              </a:spcAft>
              <a:buNone/>
              <a:defRPr sz="1400"/>
            </a:lvl3pPr>
            <a:lvl4pPr lvl="3" rtl="0">
              <a:lnSpc>
                <a:spcPct val="100000"/>
              </a:lnSpc>
              <a:spcBef>
                <a:spcPts val="1200"/>
              </a:spcBef>
              <a:spcAft>
                <a:spcPts val="0"/>
              </a:spcAft>
              <a:buNone/>
              <a:defRPr sz="1400"/>
            </a:lvl4pPr>
            <a:lvl5pPr lvl="4" rtl="0">
              <a:lnSpc>
                <a:spcPct val="100000"/>
              </a:lnSpc>
              <a:spcBef>
                <a:spcPts val="1200"/>
              </a:spcBef>
              <a:spcAft>
                <a:spcPts val="0"/>
              </a:spcAft>
              <a:buNone/>
              <a:defRPr sz="1400"/>
            </a:lvl5pPr>
            <a:lvl6pPr lvl="5" rtl="0">
              <a:lnSpc>
                <a:spcPct val="100000"/>
              </a:lnSpc>
              <a:spcBef>
                <a:spcPts val="1200"/>
              </a:spcBef>
              <a:spcAft>
                <a:spcPts val="0"/>
              </a:spcAft>
              <a:buNone/>
              <a:defRPr sz="1400"/>
            </a:lvl6pPr>
            <a:lvl7pPr lvl="6" rtl="0">
              <a:lnSpc>
                <a:spcPct val="100000"/>
              </a:lnSpc>
              <a:spcBef>
                <a:spcPts val="1200"/>
              </a:spcBef>
              <a:spcAft>
                <a:spcPts val="0"/>
              </a:spcAft>
              <a:buNone/>
              <a:defRPr sz="1400"/>
            </a:lvl7pPr>
            <a:lvl8pPr lvl="7" rtl="0">
              <a:lnSpc>
                <a:spcPct val="100000"/>
              </a:lnSpc>
              <a:spcBef>
                <a:spcPts val="1200"/>
              </a:spcBef>
              <a:spcAft>
                <a:spcPts val="0"/>
              </a:spcAft>
              <a:buNone/>
              <a:defRPr sz="1400"/>
            </a:lvl8pPr>
            <a:lvl9pPr lvl="8" rtl="0">
              <a:lnSpc>
                <a:spcPct val="100000"/>
              </a:lnSpc>
              <a:spcBef>
                <a:spcPts val="1200"/>
              </a:spcBef>
              <a:spcAft>
                <a:spcPts val="1200"/>
              </a:spcAft>
              <a:buNone/>
              <a:defRPr sz="1400"/>
            </a:lvl9pPr>
          </a:lstStyle>
          <a:p>
            <a:endParaRPr dirty="0"/>
          </a:p>
        </p:txBody>
      </p:sp>
      <p:sp>
        <p:nvSpPr>
          <p:cNvPr id="79" name="Google Shape;79;p13"/>
          <p:cNvSpPr txBox="1">
            <a:spLocks noGrp="1"/>
          </p:cNvSpPr>
          <p:nvPr>
            <p:ph type="subTitle" idx="3"/>
          </p:nvPr>
        </p:nvSpPr>
        <p:spPr>
          <a:xfrm>
            <a:off x="5057270" y="2895600"/>
            <a:ext cx="2734710" cy="3714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200"/>
              </a:spcBef>
              <a:spcAft>
                <a:spcPts val="0"/>
              </a:spcAft>
              <a:buNone/>
              <a:defRPr b="1"/>
            </a:lvl2pPr>
            <a:lvl3pPr lvl="2" rtl="0">
              <a:lnSpc>
                <a:spcPct val="100000"/>
              </a:lnSpc>
              <a:spcBef>
                <a:spcPts val="1200"/>
              </a:spcBef>
              <a:spcAft>
                <a:spcPts val="0"/>
              </a:spcAft>
              <a:buNone/>
              <a:defRPr b="1"/>
            </a:lvl3pPr>
            <a:lvl4pPr lvl="3" rtl="0">
              <a:lnSpc>
                <a:spcPct val="100000"/>
              </a:lnSpc>
              <a:spcBef>
                <a:spcPts val="1200"/>
              </a:spcBef>
              <a:spcAft>
                <a:spcPts val="0"/>
              </a:spcAft>
              <a:buNone/>
              <a:defRPr b="1"/>
            </a:lvl4pPr>
            <a:lvl5pPr lvl="4" rtl="0">
              <a:lnSpc>
                <a:spcPct val="100000"/>
              </a:lnSpc>
              <a:spcBef>
                <a:spcPts val="1200"/>
              </a:spcBef>
              <a:spcAft>
                <a:spcPts val="0"/>
              </a:spcAft>
              <a:buNone/>
              <a:defRPr b="1"/>
            </a:lvl5pPr>
            <a:lvl6pPr lvl="5" rtl="0">
              <a:lnSpc>
                <a:spcPct val="100000"/>
              </a:lnSpc>
              <a:spcBef>
                <a:spcPts val="1200"/>
              </a:spcBef>
              <a:spcAft>
                <a:spcPts val="0"/>
              </a:spcAft>
              <a:buNone/>
              <a:defRPr b="1"/>
            </a:lvl6pPr>
            <a:lvl7pPr lvl="6" rtl="0">
              <a:lnSpc>
                <a:spcPct val="100000"/>
              </a:lnSpc>
              <a:spcBef>
                <a:spcPts val="1200"/>
              </a:spcBef>
              <a:spcAft>
                <a:spcPts val="0"/>
              </a:spcAft>
              <a:buNone/>
              <a:defRPr b="1"/>
            </a:lvl7pPr>
            <a:lvl8pPr lvl="7" rtl="0">
              <a:lnSpc>
                <a:spcPct val="100000"/>
              </a:lnSpc>
              <a:spcBef>
                <a:spcPts val="1200"/>
              </a:spcBef>
              <a:spcAft>
                <a:spcPts val="0"/>
              </a:spcAft>
              <a:buNone/>
              <a:defRPr b="1"/>
            </a:lvl8pPr>
            <a:lvl9pPr lvl="8" rtl="0">
              <a:lnSpc>
                <a:spcPct val="100000"/>
              </a:lnSpc>
              <a:spcBef>
                <a:spcPts val="1200"/>
              </a:spcBef>
              <a:spcAft>
                <a:spcPts val="1200"/>
              </a:spcAft>
              <a:buNone/>
              <a:defRPr b="1"/>
            </a:lvl9pPr>
          </a:lstStyle>
          <a:p>
            <a:endParaRPr dirty="0"/>
          </a:p>
        </p:txBody>
      </p:sp>
      <p:sp>
        <p:nvSpPr>
          <p:cNvPr id="80" name="Google Shape;80;p13"/>
          <p:cNvSpPr txBox="1">
            <a:spLocks noGrp="1"/>
          </p:cNvSpPr>
          <p:nvPr>
            <p:ph type="subTitle" idx="4"/>
          </p:nvPr>
        </p:nvSpPr>
        <p:spPr>
          <a:xfrm>
            <a:off x="5057270" y="3272025"/>
            <a:ext cx="2734710" cy="959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400">
                <a:latin typeface="Calibri" panose="020F0502020204030204" pitchFamily="34" charset="0"/>
                <a:cs typeface="Calibri" panose="020F0502020204030204" pitchFamily="34" charset="0"/>
              </a:defRPr>
            </a:lvl1pPr>
            <a:lvl2pPr lvl="1" rtl="0">
              <a:lnSpc>
                <a:spcPct val="100000"/>
              </a:lnSpc>
              <a:spcBef>
                <a:spcPts val="1200"/>
              </a:spcBef>
              <a:spcAft>
                <a:spcPts val="0"/>
              </a:spcAft>
              <a:buNone/>
              <a:defRPr sz="1400"/>
            </a:lvl2pPr>
            <a:lvl3pPr lvl="2" rtl="0">
              <a:lnSpc>
                <a:spcPct val="100000"/>
              </a:lnSpc>
              <a:spcBef>
                <a:spcPts val="1200"/>
              </a:spcBef>
              <a:spcAft>
                <a:spcPts val="0"/>
              </a:spcAft>
              <a:buNone/>
              <a:defRPr sz="1400"/>
            </a:lvl3pPr>
            <a:lvl4pPr lvl="3" rtl="0">
              <a:lnSpc>
                <a:spcPct val="100000"/>
              </a:lnSpc>
              <a:spcBef>
                <a:spcPts val="1200"/>
              </a:spcBef>
              <a:spcAft>
                <a:spcPts val="0"/>
              </a:spcAft>
              <a:buNone/>
              <a:defRPr sz="1400"/>
            </a:lvl4pPr>
            <a:lvl5pPr lvl="4" rtl="0">
              <a:lnSpc>
                <a:spcPct val="100000"/>
              </a:lnSpc>
              <a:spcBef>
                <a:spcPts val="1200"/>
              </a:spcBef>
              <a:spcAft>
                <a:spcPts val="0"/>
              </a:spcAft>
              <a:buNone/>
              <a:defRPr sz="1400"/>
            </a:lvl5pPr>
            <a:lvl6pPr lvl="5" rtl="0">
              <a:lnSpc>
                <a:spcPct val="100000"/>
              </a:lnSpc>
              <a:spcBef>
                <a:spcPts val="1200"/>
              </a:spcBef>
              <a:spcAft>
                <a:spcPts val="0"/>
              </a:spcAft>
              <a:buNone/>
              <a:defRPr sz="1400"/>
            </a:lvl6pPr>
            <a:lvl7pPr lvl="6" rtl="0">
              <a:lnSpc>
                <a:spcPct val="100000"/>
              </a:lnSpc>
              <a:spcBef>
                <a:spcPts val="1200"/>
              </a:spcBef>
              <a:spcAft>
                <a:spcPts val="0"/>
              </a:spcAft>
              <a:buNone/>
              <a:defRPr sz="1400"/>
            </a:lvl7pPr>
            <a:lvl8pPr lvl="7" rtl="0">
              <a:lnSpc>
                <a:spcPct val="100000"/>
              </a:lnSpc>
              <a:spcBef>
                <a:spcPts val="1200"/>
              </a:spcBef>
              <a:spcAft>
                <a:spcPts val="0"/>
              </a:spcAft>
              <a:buNone/>
              <a:defRPr sz="1400"/>
            </a:lvl8pPr>
            <a:lvl9pPr lvl="8" rtl="0">
              <a:lnSpc>
                <a:spcPct val="100000"/>
              </a:lnSpc>
              <a:spcBef>
                <a:spcPts val="1200"/>
              </a:spcBef>
              <a:spcAft>
                <a:spcPts val="1200"/>
              </a:spcAft>
              <a:buNone/>
              <a:defRPr sz="1400"/>
            </a:lvl9pPr>
          </a:lstStyle>
          <a:p>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302399" y="86400"/>
            <a:ext cx="7913249"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solidFill>
                  <a:schemeClr val="tx1"/>
                </a:solidFill>
                <a:latin typeface="Raleway" pitchFamily="2" charset="0"/>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dirty="0"/>
          </a:p>
        </p:txBody>
      </p:sp>
      <p:pic>
        <p:nvPicPr>
          <p:cNvPr id="8" name="Picture 7">
            <a:extLst>
              <a:ext uri="{FF2B5EF4-FFF2-40B4-BE49-F238E27FC236}">
                <a16:creationId xmlns:a16="http://schemas.microsoft.com/office/drawing/2014/main" id="{97FB575D-20E1-DE22-AF60-AFA696F5574C}"/>
              </a:ext>
            </a:extLst>
          </p:cNvPr>
          <p:cNvPicPr>
            <a:picLocks noChangeAspect="1"/>
          </p:cNvPicPr>
          <p:nvPr userDrawn="1"/>
        </p:nvPicPr>
        <p:blipFill rotWithShape="1">
          <a:blip r:embed="rId2"/>
          <a:srcRect t="14381" b="10083"/>
          <a:stretch/>
        </p:blipFill>
        <p:spPr>
          <a:xfrm>
            <a:off x="-10479" y="4778374"/>
            <a:ext cx="1629531" cy="365126"/>
          </a:xfrm>
          <a:prstGeom prst="rect">
            <a:avLst/>
          </a:prstGeom>
        </p:spPr>
      </p:pic>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8492930" y="4810835"/>
            <a:ext cx="548700" cy="266454"/>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311700" y="1677361"/>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rPr dirty="0"/>
              <a:t>xx%</a:t>
            </a:r>
          </a:p>
        </p:txBody>
      </p:sp>
      <p:sp>
        <p:nvSpPr>
          <p:cNvPr id="68" name="Google Shape;68;p11"/>
          <p:cNvSpPr txBox="1">
            <a:spLocks noGrp="1"/>
          </p:cNvSpPr>
          <p:nvPr>
            <p:ph type="body" idx="1"/>
          </p:nvPr>
        </p:nvSpPr>
        <p:spPr>
          <a:xfrm>
            <a:off x="311700" y="3368161"/>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atin typeface="Calibri" panose="020F0502020204030204" pitchFamily="34" charset="0"/>
                <a:cs typeface="Calibri" panose="020F0502020204030204" pitchFamily="34" charset="0"/>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dirty="0"/>
          </a:p>
        </p:txBody>
      </p:sp>
      <p:pic>
        <p:nvPicPr>
          <p:cNvPr id="7" name="Picture 6">
            <a:extLst>
              <a:ext uri="{FF2B5EF4-FFF2-40B4-BE49-F238E27FC236}">
                <a16:creationId xmlns:a16="http://schemas.microsoft.com/office/drawing/2014/main" id="{8B72B20D-C7B2-CB3C-5293-ECEC899E04FC}"/>
              </a:ext>
            </a:extLst>
          </p:cNvPr>
          <p:cNvPicPr>
            <a:picLocks noChangeAspect="1"/>
          </p:cNvPicPr>
          <p:nvPr userDrawn="1"/>
        </p:nvPicPr>
        <p:blipFill rotWithShape="1">
          <a:blip r:embed="rId2"/>
          <a:srcRect t="14381" b="10083"/>
          <a:stretch/>
        </p:blipFill>
        <p:spPr>
          <a:xfrm>
            <a:off x="-10479" y="4778374"/>
            <a:ext cx="1629531" cy="365126"/>
          </a:xfrm>
          <a:prstGeom prst="rect">
            <a:avLst/>
          </a:prstGeom>
        </p:spPr>
      </p:pic>
      <p:sp>
        <p:nvSpPr>
          <p:cNvPr id="8" name="Slide Number Placeholder 5">
            <a:extLst>
              <a:ext uri="{FF2B5EF4-FFF2-40B4-BE49-F238E27FC236}">
                <a16:creationId xmlns:a16="http://schemas.microsoft.com/office/drawing/2014/main" id="{FEF22A34-8630-7179-6BE7-3A5ED218F444}"/>
              </a:ext>
            </a:extLst>
          </p:cNvPr>
          <p:cNvSpPr>
            <a:spLocks noGrp="1"/>
          </p:cNvSpPr>
          <p:nvPr>
            <p:ph type="sldNum" sz="quarter" idx="12"/>
          </p:nvPr>
        </p:nvSpPr>
        <p:spPr>
          <a:xfrm>
            <a:off x="8492930" y="4810835"/>
            <a:ext cx="548700" cy="266454"/>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302398" y="0"/>
            <a:ext cx="8006400" cy="8532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200">
                <a:solidFill>
                  <a:schemeClr val="tx1"/>
                </a:solidFill>
                <a:latin typeface="Raleway" pitchFamily="2" charset="0"/>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dirty="0"/>
          </a:p>
        </p:txBody>
      </p:sp>
      <p:pic>
        <p:nvPicPr>
          <p:cNvPr id="10" name="Picture 9">
            <a:extLst>
              <a:ext uri="{FF2B5EF4-FFF2-40B4-BE49-F238E27FC236}">
                <a16:creationId xmlns:a16="http://schemas.microsoft.com/office/drawing/2014/main" id="{0ED84FBE-1867-E2FC-542F-6BD86B80EBD3}"/>
              </a:ext>
            </a:extLst>
          </p:cNvPr>
          <p:cNvPicPr>
            <a:picLocks noChangeAspect="1"/>
          </p:cNvPicPr>
          <p:nvPr userDrawn="1"/>
        </p:nvPicPr>
        <p:blipFill rotWithShape="1">
          <a:blip r:embed="rId2"/>
          <a:srcRect t="14381" b="10083"/>
          <a:stretch/>
        </p:blipFill>
        <p:spPr>
          <a:xfrm>
            <a:off x="-10479" y="4778374"/>
            <a:ext cx="1629531" cy="365126"/>
          </a:xfrm>
          <a:prstGeom prst="rect">
            <a:avLst/>
          </a:prstGeom>
        </p:spPr>
      </p:pic>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8492930" y="4810835"/>
            <a:ext cx="548700" cy="266454"/>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969310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BFC2F6F-72C7-ED90-81EA-0F85DB22FBEC}"/>
              </a:ext>
            </a:extLst>
          </p:cNvPr>
          <p:cNvPicPr>
            <a:picLocks noChangeAspect="1"/>
          </p:cNvPicPr>
          <p:nvPr userDrawn="1"/>
        </p:nvPicPr>
        <p:blipFill>
          <a:blip r:embed="rId2"/>
          <a:stretch>
            <a:fillRect/>
          </a:stretch>
        </p:blipFill>
        <p:spPr>
          <a:xfrm>
            <a:off x="-10479" y="4708854"/>
            <a:ext cx="1629531" cy="483386"/>
          </a:xfrm>
          <a:prstGeom prst="rect">
            <a:avLst/>
          </a:prstGeom>
        </p:spPr>
      </p:pic>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8492930" y="4810835"/>
            <a:ext cx="548700" cy="266454"/>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649959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caletrix Title Page (2)">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50" y="0"/>
            <a:ext cx="9144000" cy="4745982"/>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Freeform: Shape 3">
            <a:extLst>
              <a:ext uri="{FF2B5EF4-FFF2-40B4-BE49-F238E27FC236}">
                <a16:creationId xmlns:a16="http://schemas.microsoft.com/office/drawing/2014/main" id="{92A54218-CF0C-124F-7F36-FB11D5E35693}"/>
              </a:ext>
            </a:extLst>
          </p:cNvPr>
          <p:cNvSpPr/>
          <p:nvPr userDrawn="1"/>
        </p:nvSpPr>
        <p:spPr>
          <a:xfrm>
            <a:off x="0" y="0"/>
            <a:ext cx="9152022" cy="1396038"/>
          </a:xfrm>
          <a:custGeom>
            <a:avLst/>
            <a:gdLst>
              <a:gd name="connsiteX0" fmla="*/ 1006701 w 11832165"/>
              <a:gd name="connsiteY0" fmla="*/ 3518817 h 4329983"/>
              <a:gd name="connsiteX1" fmla="*/ 3254601 w 11832165"/>
              <a:gd name="connsiteY1" fmla="*/ 2613942 h 4329983"/>
              <a:gd name="connsiteX2" fmla="*/ 7445601 w 11832165"/>
              <a:gd name="connsiteY2" fmla="*/ 4328442 h 4329983"/>
              <a:gd name="connsiteX3" fmla="*/ 11369901 w 11832165"/>
              <a:gd name="connsiteY3" fmla="*/ 2261517 h 4329983"/>
              <a:gd name="connsiteX4" fmla="*/ 11036526 w 11832165"/>
              <a:gd name="connsiteY4" fmla="*/ 223167 h 4329983"/>
              <a:gd name="connsiteX5" fmla="*/ 4931001 w 11832165"/>
              <a:gd name="connsiteY5" fmla="*/ 118392 h 4329983"/>
              <a:gd name="connsiteX6" fmla="*/ 225651 w 11832165"/>
              <a:gd name="connsiteY6" fmla="*/ 804192 h 4329983"/>
              <a:gd name="connsiteX7" fmla="*/ 1006701 w 11832165"/>
              <a:gd name="connsiteY7" fmla="*/ 3518817 h 4329983"/>
              <a:gd name="connsiteX0" fmla="*/ 1006701 w 11750594"/>
              <a:gd name="connsiteY0" fmla="*/ 3408521 h 4219687"/>
              <a:gd name="connsiteX1" fmla="*/ 3254601 w 11750594"/>
              <a:gd name="connsiteY1" fmla="*/ 2503646 h 4219687"/>
              <a:gd name="connsiteX2" fmla="*/ 7445601 w 11750594"/>
              <a:gd name="connsiteY2" fmla="*/ 4218146 h 4219687"/>
              <a:gd name="connsiteX3" fmla="*/ 11369901 w 11750594"/>
              <a:gd name="connsiteY3" fmla="*/ 2151221 h 4219687"/>
              <a:gd name="connsiteX4" fmla="*/ 10869673 w 11750594"/>
              <a:gd name="connsiteY4" fmla="*/ 1065371 h 4219687"/>
              <a:gd name="connsiteX5" fmla="*/ 4931001 w 11750594"/>
              <a:gd name="connsiteY5" fmla="*/ 8096 h 4219687"/>
              <a:gd name="connsiteX6" fmla="*/ 225651 w 11750594"/>
              <a:gd name="connsiteY6" fmla="*/ 693896 h 4219687"/>
              <a:gd name="connsiteX7" fmla="*/ 1006701 w 11750594"/>
              <a:gd name="connsiteY7" fmla="*/ 3408521 h 4219687"/>
              <a:gd name="connsiteX0" fmla="*/ 708906 w 11452799"/>
              <a:gd name="connsiteY0" fmla="*/ 3408521 h 4219687"/>
              <a:gd name="connsiteX1" fmla="*/ 2956806 w 11452799"/>
              <a:gd name="connsiteY1" fmla="*/ 2503646 h 4219687"/>
              <a:gd name="connsiteX2" fmla="*/ 7147806 w 11452799"/>
              <a:gd name="connsiteY2" fmla="*/ 4218146 h 4219687"/>
              <a:gd name="connsiteX3" fmla="*/ 11072106 w 11452799"/>
              <a:gd name="connsiteY3" fmla="*/ 2151221 h 4219687"/>
              <a:gd name="connsiteX4" fmla="*/ 10571878 w 11452799"/>
              <a:gd name="connsiteY4" fmla="*/ 1065371 h 4219687"/>
              <a:gd name="connsiteX5" fmla="*/ 4633206 w 11452799"/>
              <a:gd name="connsiteY5" fmla="*/ 8096 h 4219687"/>
              <a:gd name="connsiteX6" fmla="*/ 281192 w 11452799"/>
              <a:gd name="connsiteY6" fmla="*/ 1313021 h 4219687"/>
              <a:gd name="connsiteX7" fmla="*/ 708906 w 11452799"/>
              <a:gd name="connsiteY7" fmla="*/ 3408521 h 4219687"/>
              <a:gd name="connsiteX0" fmla="*/ 707480 w 11451879"/>
              <a:gd name="connsiteY0" fmla="*/ 2445292 h 3256458"/>
              <a:gd name="connsiteX1" fmla="*/ 2955380 w 11451879"/>
              <a:gd name="connsiteY1" fmla="*/ 1540417 h 3256458"/>
              <a:gd name="connsiteX2" fmla="*/ 7146380 w 11451879"/>
              <a:gd name="connsiteY2" fmla="*/ 3254917 h 3256458"/>
              <a:gd name="connsiteX3" fmla="*/ 11070680 w 11451879"/>
              <a:gd name="connsiteY3" fmla="*/ 1187992 h 3256458"/>
              <a:gd name="connsiteX4" fmla="*/ 10570452 w 11451879"/>
              <a:gd name="connsiteY4" fmla="*/ 102142 h 3256458"/>
              <a:gd name="connsiteX5" fmla="*/ 4621965 w 11451879"/>
              <a:gd name="connsiteY5" fmla="*/ 111667 h 3256458"/>
              <a:gd name="connsiteX6" fmla="*/ 279766 w 11451879"/>
              <a:gd name="connsiteY6" fmla="*/ 349792 h 3256458"/>
              <a:gd name="connsiteX7" fmla="*/ 707480 w 11451879"/>
              <a:gd name="connsiteY7" fmla="*/ 2445292 h 3256458"/>
              <a:gd name="connsiteX0" fmla="*/ 707480 w 11434313"/>
              <a:gd name="connsiteY0" fmla="*/ 2451354 h 3262520"/>
              <a:gd name="connsiteX1" fmla="*/ 2955380 w 11434313"/>
              <a:gd name="connsiteY1" fmla="*/ 1546479 h 3262520"/>
              <a:gd name="connsiteX2" fmla="*/ 7146380 w 11434313"/>
              <a:gd name="connsiteY2" fmla="*/ 3260979 h 3262520"/>
              <a:gd name="connsiteX3" fmla="*/ 11070680 w 11434313"/>
              <a:gd name="connsiteY3" fmla="*/ 1194054 h 3262520"/>
              <a:gd name="connsiteX4" fmla="*/ 10531192 w 11434313"/>
              <a:gd name="connsiteY4" fmla="*/ 98679 h 3262520"/>
              <a:gd name="connsiteX5" fmla="*/ 4621965 w 11434313"/>
              <a:gd name="connsiteY5" fmla="*/ 117729 h 3262520"/>
              <a:gd name="connsiteX6" fmla="*/ 279766 w 11434313"/>
              <a:gd name="connsiteY6" fmla="*/ 355854 h 3262520"/>
              <a:gd name="connsiteX7" fmla="*/ 707480 w 11434313"/>
              <a:gd name="connsiteY7" fmla="*/ 2451354 h 3262520"/>
              <a:gd name="connsiteX0" fmla="*/ 206614 w 10933447"/>
              <a:gd name="connsiteY0" fmla="*/ 2451354 h 3262520"/>
              <a:gd name="connsiteX1" fmla="*/ 2454514 w 10933447"/>
              <a:gd name="connsiteY1" fmla="*/ 1546479 h 3262520"/>
              <a:gd name="connsiteX2" fmla="*/ 6645514 w 10933447"/>
              <a:gd name="connsiteY2" fmla="*/ 3260979 h 3262520"/>
              <a:gd name="connsiteX3" fmla="*/ 10569814 w 10933447"/>
              <a:gd name="connsiteY3" fmla="*/ 1194054 h 3262520"/>
              <a:gd name="connsiteX4" fmla="*/ 10030326 w 10933447"/>
              <a:gd name="connsiteY4" fmla="*/ 98679 h 3262520"/>
              <a:gd name="connsiteX5" fmla="*/ 4121099 w 10933447"/>
              <a:gd name="connsiteY5" fmla="*/ 117729 h 3262520"/>
              <a:gd name="connsiteX6" fmla="*/ 544462 w 10933447"/>
              <a:gd name="connsiteY6" fmla="*/ 203454 h 3262520"/>
              <a:gd name="connsiteX7" fmla="*/ 206614 w 10933447"/>
              <a:gd name="connsiteY7" fmla="*/ 2451354 h 3262520"/>
              <a:gd name="connsiteX0" fmla="*/ 206614 w 10933447"/>
              <a:gd name="connsiteY0" fmla="*/ 2451354 h 3262520"/>
              <a:gd name="connsiteX1" fmla="*/ 2454514 w 10933447"/>
              <a:gd name="connsiteY1" fmla="*/ 1546479 h 3262520"/>
              <a:gd name="connsiteX2" fmla="*/ 6645514 w 10933447"/>
              <a:gd name="connsiteY2" fmla="*/ 3260979 h 3262520"/>
              <a:gd name="connsiteX3" fmla="*/ 10569814 w 10933447"/>
              <a:gd name="connsiteY3" fmla="*/ 1194054 h 3262520"/>
              <a:gd name="connsiteX4" fmla="*/ 10030326 w 10933447"/>
              <a:gd name="connsiteY4" fmla="*/ 98679 h 3262520"/>
              <a:gd name="connsiteX5" fmla="*/ 4121099 w 10933447"/>
              <a:gd name="connsiteY5" fmla="*/ 117729 h 3262520"/>
              <a:gd name="connsiteX6" fmla="*/ 544462 w 10933447"/>
              <a:gd name="connsiteY6" fmla="*/ 203454 h 3262520"/>
              <a:gd name="connsiteX7" fmla="*/ 206614 w 10933447"/>
              <a:gd name="connsiteY7" fmla="*/ 2451354 h 3262520"/>
              <a:gd name="connsiteX0" fmla="*/ 206614 w 10933447"/>
              <a:gd name="connsiteY0" fmla="*/ 2451354 h 3262520"/>
              <a:gd name="connsiteX1" fmla="*/ 2454514 w 10933447"/>
              <a:gd name="connsiteY1" fmla="*/ 1546479 h 3262520"/>
              <a:gd name="connsiteX2" fmla="*/ 6645514 w 10933447"/>
              <a:gd name="connsiteY2" fmla="*/ 3260979 h 3262520"/>
              <a:gd name="connsiteX3" fmla="*/ 10569814 w 10933447"/>
              <a:gd name="connsiteY3" fmla="*/ 1194054 h 3262520"/>
              <a:gd name="connsiteX4" fmla="*/ 10030326 w 10933447"/>
              <a:gd name="connsiteY4" fmla="*/ 98679 h 3262520"/>
              <a:gd name="connsiteX5" fmla="*/ 4121099 w 10933447"/>
              <a:gd name="connsiteY5" fmla="*/ 117729 h 3262520"/>
              <a:gd name="connsiteX6" fmla="*/ 544462 w 10933447"/>
              <a:gd name="connsiteY6" fmla="*/ 203454 h 3262520"/>
              <a:gd name="connsiteX7" fmla="*/ 206614 w 10933447"/>
              <a:gd name="connsiteY7" fmla="*/ 2451354 h 3262520"/>
              <a:gd name="connsiteX0" fmla="*/ 90392 w 10817225"/>
              <a:gd name="connsiteY0" fmla="*/ 2451354 h 3262520"/>
              <a:gd name="connsiteX1" fmla="*/ 2338292 w 10817225"/>
              <a:gd name="connsiteY1" fmla="*/ 1546479 h 3262520"/>
              <a:gd name="connsiteX2" fmla="*/ 6529292 w 10817225"/>
              <a:gd name="connsiteY2" fmla="*/ 3260979 h 3262520"/>
              <a:gd name="connsiteX3" fmla="*/ 10453592 w 10817225"/>
              <a:gd name="connsiteY3" fmla="*/ 1194054 h 3262520"/>
              <a:gd name="connsiteX4" fmla="*/ 9914104 w 10817225"/>
              <a:gd name="connsiteY4" fmla="*/ 98679 h 3262520"/>
              <a:gd name="connsiteX5" fmla="*/ 4004877 w 10817225"/>
              <a:gd name="connsiteY5" fmla="*/ 117729 h 3262520"/>
              <a:gd name="connsiteX6" fmla="*/ 428240 w 10817225"/>
              <a:gd name="connsiteY6" fmla="*/ 203454 h 3262520"/>
              <a:gd name="connsiteX7" fmla="*/ 90392 w 10817225"/>
              <a:gd name="connsiteY7" fmla="*/ 2451354 h 3262520"/>
              <a:gd name="connsiteX0" fmla="*/ 90392 w 10817225"/>
              <a:gd name="connsiteY0" fmla="*/ 2451354 h 3262520"/>
              <a:gd name="connsiteX1" fmla="*/ 2338292 w 10817225"/>
              <a:gd name="connsiteY1" fmla="*/ 1546479 h 3262520"/>
              <a:gd name="connsiteX2" fmla="*/ 6529292 w 10817225"/>
              <a:gd name="connsiteY2" fmla="*/ 3260979 h 3262520"/>
              <a:gd name="connsiteX3" fmla="*/ 10453592 w 10817225"/>
              <a:gd name="connsiteY3" fmla="*/ 1194054 h 3262520"/>
              <a:gd name="connsiteX4" fmla="*/ 9914104 w 10817225"/>
              <a:gd name="connsiteY4" fmla="*/ 98679 h 3262520"/>
              <a:gd name="connsiteX5" fmla="*/ 4004877 w 10817225"/>
              <a:gd name="connsiteY5" fmla="*/ 117729 h 3262520"/>
              <a:gd name="connsiteX6" fmla="*/ 428240 w 10817225"/>
              <a:gd name="connsiteY6" fmla="*/ 203454 h 3262520"/>
              <a:gd name="connsiteX7" fmla="*/ 90392 w 10817225"/>
              <a:gd name="connsiteY7" fmla="*/ 2451354 h 3262520"/>
              <a:gd name="connsiteX0" fmla="*/ 153892 w 10527389"/>
              <a:gd name="connsiteY0" fmla="*/ 2527554 h 3262509"/>
              <a:gd name="connsiteX1" fmla="*/ 2048456 w 10527389"/>
              <a:gd name="connsiteY1" fmla="*/ 1546479 h 3262509"/>
              <a:gd name="connsiteX2" fmla="*/ 6239456 w 10527389"/>
              <a:gd name="connsiteY2" fmla="*/ 3260979 h 3262509"/>
              <a:gd name="connsiteX3" fmla="*/ 10163756 w 10527389"/>
              <a:gd name="connsiteY3" fmla="*/ 1194054 h 3262509"/>
              <a:gd name="connsiteX4" fmla="*/ 9624268 w 10527389"/>
              <a:gd name="connsiteY4" fmla="*/ 98679 h 3262509"/>
              <a:gd name="connsiteX5" fmla="*/ 3715041 w 10527389"/>
              <a:gd name="connsiteY5" fmla="*/ 117729 h 3262509"/>
              <a:gd name="connsiteX6" fmla="*/ 138404 w 10527389"/>
              <a:gd name="connsiteY6" fmla="*/ 203454 h 3262509"/>
              <a:gd name="connsiteX7" fmla="*/ 153892 w 10527389"/>
              <a:gd name="connsiteY7" fmla="*/ 2527554 h 3262509"/>
              <a:gd name="connsiteX0" fmla="*/ 40674 w 10414171"/>
              <a:gd name="connsiteY0" fmla="*/ 2527554 h 3262509"/>
              <a:gd name="connsiteX1" fmla="*/ 1935238 w 10414171"/>
              <a:gd name="connsiteY1" fmla="*/ 1546479 h 3262509"/>
              <a:gd name="connsiteX2" fmla="*/ 6126238 w 10414171"/>
              <a:gd name="connsiteY2" fmla="*/ 3260979 h 3262509"/>
              <a:gd name="connsiteX3" fmla="*/ 10050538 w 10414171"/>
              <a:gd name="connsiteY3" fmla="*/ 1194054 h 3262509"/>
              <a:gd name="connsiteX4" fmla="*/ 9511050 w 10414171"/>
              <a:gd name="connsiteY4" fmla="*/ 98679 h 3262509"/>
              <a:gd name="connsiteX5" fmla="*/ 3601823 w 10414171"/>
              <a:gd name="connsiteY5" fmla="*/ 117729 h 3262509"/>
              <a:gd name="connsiteX6" fmla="*/ 25186 w 10414171"/>
              <a:gd name="connsiteY6" fmla="*/ 203454 h 3262509"/>
              <a:gd name="connsiteX7" fmla="*/ 40674 w 10414171"/>
              <a:gd name="connsiteY7" fmla="*/ 2527554 h 3262509"/>
              <a:gd name="connsiteX0" fmla="*/ 40674 w 10414171"/>
              <a:gd name="connsiteY0" fmla="*/ 2527554 h 3262509"/>
              <a:gd name="connsiteX1" fmla="*/ 1935238 w 10414171"/>
              <a:gd name="connsiteY1" fmla="*/ 1546479 h 3262509"/>
              <a:gd name="connsiteX2" fmla="*/ 6126238 w 10414171"/>
              <a:gd name="connsiteY2" fmla="*/ 3260979 h 3262509"/>
              <a:gd name="connsiteX3" fmla="*/ 10050538 w 10414171"/>
              <a:gd name="connsiteY3" fmla="*/ 1194054 h 3262509"/>
              <a:gd name="connsiteX4" fmla="*/ 9511050 w 10414171"/>
              <a:gd name="connsiteY4" fmla="*/ 98679 h 3262509"/>
              <a:gd name="connsiteX5" fmla="*/ 3601823 w 10414171"/>
              <a:gd name="connsiteY5" fmla="*/ 117729 h 3262509"/>
              <a:gd name="connsiteX6" fmla="*/ 25186 w 10414171"/>
              <a:gd name="connsiteY6" fmla="*/ 203454 h 3262509"/>
              <a:gd name="connsiteX7" fmla="*/ 40674 w 10414171"/>
              <a:gd name="connsiteY7" fmla="*/ 2527554 h 3262509"/>
              <a:gd name="connsiteX0" fmla="*/ 40674 w 10414171"/>
              <a:gd name="connsiteY0" fmla="*/ 2460651 h 3195606"/>
              <a:gd name="connsiteX1" fmla="*/ 1935238 w 10414171"/>
              <a:gd name="connsiteY1" fmla="*/ 1479576 h 3195606"/>
              <a:gd name="connsiteX2" fmla="*/ 6126238 w 10414171"/>
              <a:gd name="connsiteY2" fmla="*/ 3194076 h 3195606"/>
              <a:gd name="connsiteX3" fmla="*/ 10050538 w 10414171"/>
              <a:gd name="connsiteY3" fmla="*/ 1127151 h 3195606"/>
              <a:gd name="connsiteX4" fmla="*/ 9511050 w 10414171"/>
              <a:gd name="connsiteY4" fmla="*/ 31776 h 3195606"/>
              <a:gd name="connsiteX5" fmla="*/ 3601823 w 10414171"/>
              <a:gd name="connsiteY5" fmla="*/ 50826 h 3195606"/>
              <a:gd name="connsiteX6" fmla="*/ 25186 w 10414171"/>
              <a:gd name="connsiteY6" fmla="*/ 136551 h 3195606"/>
              <a:gd name="connsiteX7" fmla="*/ 40674 w 10414171"/>
              <a:gd name="connsiteY7" fmla="*/ 2460651 h 3195606"/>
              <a:gd name="connsiteX0" fmla="*/ 40674 w 10209660"/>
              <a:gd name="connsiteY0" fmla="*/ 2460651 h 3195606"/>
              <a:gd name="connsiteX1" fmla="*/ 1935238 w 10209660"/>
              <a:gd name="connsiteY1" fmla="*/ 1479576 h 3195606"/>
              <a:gd name="connsiteX2" fmla="*/ 6126238 w 10209660"/>
              <a:gd name="connsiteY2" fmla="*/ 3194076 h 3195606"/>
              <a:gd name="connsiteX3" fmla="*/ 10050538 w 10209660"/>
              <a:gd name="connsiteY3" fmla="*/ 1127151 h 3195606"/>
              <a:gd name="connsiteX4" fmla="*/ 9511050 w 10209660"/>
              <a:gd name="connsiteY4" fmla="*/ 31776 h 3195606"/>
              <a:gd name="connsiteX5" fmla="*/ 3601823 w 10209660"/>
              <a:gd name="connsiteY5" fmla="*/ 50826 h 3195606"/>
              <a:gd name="connsiteX6" fmla="*/ 25186 w 10209660"/>
              <a:gd name="connsiteY6" fmla="*/ 136551 h 3195606"/>
              <a:gd name="connsiteX7" fmla="*/ 40674 w 10209660"/>
              <a:gd name="connsiteY7" fmla="*/ 2460651 h 3195606"/>
              <a:gd name="connsiteX0" fmla="*/ 40674 w 9765651"/>
              <a:gd name="connsiteY0" fmla="*/ 2460651 h 3194281"/>
              <a:gd name="connsiteX1" fmla="*/ 1935238 w 9765651"/>
              <a:gd name="connsiteY1" fmla="*/ 1479576 h 3194281"/>
              <a:gd name="connsiteX2" fmla="*/ 6126238 w 9765651"/>
              <a:gd name="connsiteY2" fmla="*/ 3194076 h 3194281"/>
              <a:gd name="connsiteX3" fmla="*/ 9520534 w 9765651"/>
              <a:gd name="connsiteY3" fmla="*/ 1584351 h 3194281"/>
              <a:gd name="connsiteX4" fmla="*/ 9511050 w 9765651"/>
              <a:gd name="connsiteY4" fmla="*/ 31776 h 3194281"/>
              <a:gd name="connsiteX5" fmla="*/ 3601823 w 9765651"/>
              <a:gd name="connsiteY5" fmla="*/ 50826 h 3194281"/>
              <a:gd name="connsiteX6" fmla="*/ 25186 w 9765651"/>
              <a:gd name="connsiteY6" fmla="*/ 136551 h 3194281"/>
              <a:gd name="connsiteX7" fmla="*/ 40674 w 9765651"/>
              <a:gd name="connsiteY7" fmla="*/ 2460651 h 3194281"/>
              <a:gd name="connsiteX0" fmla="*/ 40674 w 9765651"/>
              <a:gd name="connsiteY0" fmla="*/ 2460651 h 3194281"/>
              <a:gd name="connsiteX1" fmla="*/ 1935238 w 9765651"/>
              <a:gd name="connsiteY1" fmla="*/ 1479576 h 3194281"/>
              <a:gd name="connsiteX2" fmla="*/ 6126238 w 9765651"/>
              <a:gd name="connsiteY2" fmla="*/ 3194076 h 3194281"/>
              <a:gd name="connsiteX3" fmla="*/ 9520534 w 9765651"/>
              <a:gd name="connsiteY3" fmla="*/ 1584351 h 3194281"/>
              <a:gd name="connsiteX4" fmla="*/ 9511050 w 9765651"/>
              <a:gd name="connsiteY4" fmla="*/ 31776 h 3194281"/>
              <a:gd name="connsiteX5" fmla="*/ 3601823 w 9765651"/>
              <a:gd name="connsiteY5" fmla="*/ 50826 h 3194281"/>
              <a:gd name="connsiteX6" fmla="*/ 25186 w 9765651"/>
              <a:gd name="connsiteY6" fmla="*/ 136551 h 3194281"/>
              <a:gd name="connsiteX7" fmla="*/ 40674 w 9765651"/>
              <a:gd name="connsiteY7" fmla="*/ 2460651 h 3194281"/>
              <a:gd name="connsiteX0" fmla="*/ 40674 w 9531431"/>
              <a:gd name="connsiteY0" fmla="*/ 2460651 h 3194281"/>
              <a:gd name="connsiteX1" fmla="*/ 1935238 w 9531431"/>
              <a:gd name="connsiteY1" fmla="*/ 1479576 h 3194281"/>
              <a:gd name="connsiteX2" fmla="*/ 6126238 w 9531431"/>
              <a:gd name="connsiteY2" fmla="*/ 3194076 h 3194281"/>
              <a:gd name="connsiteX3" fmla="*/ 9520534 w 9531431"/>
              <a:gd name="connsiteY3" fmla="*/ 1584351 h 3194281"/>
              <a:gd name="connsiteX4" fmla="*/ 9511050 w 9531431"/>
              <a:gd name="connsiteY4" fmla="*/ 31776 h 3194281"/>
              <a:gd name="connsiteX5" fmla="*/ 3601823 w 9531431"/>
              <a:gd name="connsiteY5" fmla="*/ 50826 h 3194281"/>
              <a:gd name="connsiteX6" fmla="*/ 25186 w 9531431"/>
              <a:gd name="connsiteY6" fmla="*/ 136551 h 3194281"/>
              <a:gd name="connsiteX7" fmla="*/ 40674 w 9531431"/>
              <a:gd name="connsiteY7" fmla="*/ 2460651 h 3194281"/>
              <a:gd name="connsiteX0" fmla="*/ 40674 w 9531431"/>
              <a:gd name="connsiteY0" fmla="*/ 2428875 h 3162505"/>
              <a:gd name="connsiteX1" fmla="*/ 1935238 w 9531431"/>
              <a:gd name="connsiteY1" fmla="*/ 1447800 h 3162505"/>
              <a:gd name="connsiteX2" fmla="*/ 6126238 w 9531431"/>
              <a:gd name="connsiteY2" fmla="*/ 3162300 h 3162505"/>
              <a:gd name="connsiteX3" fmla="*/ 9520534 w 9531431"/>
              <a:gd name="connsiteY3" fmla="*/ 1552575 h 3162505"/>
              <a:gd name="connsiteX4" fmla="*/ 9511050 w 9531431"/>
              <a:gd name="connsiteY4" fmla="*/ 0 h 3162505"/>
              <a:gd name="connsiteX5" fmla="*/ 4818869 w 9531431"/>
              <a:gd name="connsiteY5" fmla="*/ 57150 h 3162505"/>
              <a:gd name="connsiteX6" fmla="*/ 25186 w 9531431"/>
              <a:gd name="connsiteY6" fmla="*/ 104775 h 3162505"/>
              <a:gd name="connsiteX7" fmla="*/ 40674 w 9531431"/>
              <a:gd name="connsiteY7" fmla="*/ 2428875 h 3162505"/>
              <a:gd name="connsiteX0" fmla="*/ 40674 w 9531431"/>
              <a:gd name="connsiteY0" fmla="*/ 2428875 h 3162505"/>
              <a:gd name="connsiteX1" fmla="*/ 1935238 w 9531431"/>
              <a:gd name="connsiteY1" fmla="*/ 1447800 h 3162505"/>
              <a:gd name="connsiteX2" fmla="*/ 6126238 w 9531431"/>
              <a:gd name="connsiteY2" fmla="*/ 3162300 h 3162505"/>
              <a:gd name="connsiteX3" fmla="*/ 9520534 w 9531431"/>
              <a:gd name="connsiteY3" fmla="*/ 1552575 h 3162505"/>
              <a:gd name="connsiteX4" fmla="*/ 9511050 w 9531431"/>
              <a:gd name="connsiteY4" fmla="*/ 0 h 3162505"/>
              <a:gd name="connsiteX5" fmla="*/ 25186 w 9531431"/>
              <a:gd name="connsiteY5" fmla="*/ 104775 h 3162505"/>
              <a:gd name="connsiteX6" fmla="*/ 40674 w 9531431"/>
              <a:gd name="connsiteY6" fmla="*/ 2428875 h 3162505"/>
              <a:gd name="connsiteX0" fmla="*/ 40674 w 9531431"/>
              <a:gd name="connsiteY0" fmla="*/ 2409825 h 3143455"/>
              <a:gd name="connsiteX1" fmla="*/ 1935238 w 9531431"/>
              <a:gd name="connsiteY1" fmla="*/ 1428750 h 3143455"/>
              <a:gd name="connsiteX2" fmla="*/ 6126238 w 9531431"/>
              <a:gd name="connsiteY2" fmla="*/ 3143250 h 3143455"/>
              <a:gd name="connsiteX3" fmla="*/ 9520534 w 9531431"/>
              <a:gd name="connsiteY3" fmla="*/ 1533525 h 3143455"/>
              <a:gd name="connsiteX4" fmla="*/ 9511050 w 9531431"/>
              <a:gd name="connsiteY4" fmla="*/ 0 h 3143455"/>
              <a:gd name="connsiteX5" fmla="*/ 25186 w 9531431"/>
              <a:gd name="connsiteY5" fmla="*/ 85725 h 3143455"/>
              <a:gd name="connsiteX6" fmla="*/ 40674 w 9531431"/>
              <a:gd name="connsiteY6" fmla="*/ 2409825 h 3143455"/>
              <a:gd name="connsiteX0" fmla="*/ 40674 w 9511050"/>
              <a:gd name="connsiteY0" fmla="*/ 2409825 h 3143455"/>
              <a:gd name="connsiteX1" fmla="*/ 1935238 w 9511050"/>
              <a:gd name="connsiteY1" fmla="*/ 1428750 h 3143455"/>
              <a:gd name="connsiteX2" fmla="*/ 6126238 w 9511050"/>
              <a:gd name="connsiteY2" fmla="*/ 3143250 h 3143455"/>
              <a:gd name="connsiteX3" fmla="*/ 9481275 w 9511050"/>
              <a:gd name="connsiteY3" fmla="*/ 1533525 h 3143455"/>
              <a:gd name="connsiteX4" fmla="*/ 9511050 w 9511050"/>
              <a:gd name="connsiteY4" fmla="*/ 0 h 3143455"/>
              <a:gd name="connsiteX5" fmla="*/ 25186 w 9511050"/>
              <a:gd name="connsiteY5" fmla="*/ 85725 h 3143455"/>
              <a:gd name="connsiteX6" fmla="*/ 40674 w 9511050"/>
              <a:gd name="connsiteY6" fmla="*/ 2409825 h 3143455"/>
              <a:gd name="connsiteX0" fmla="*/ 40674 w 9511050"/>
              <a:gd name="connsiteY0" fmla="*/ 2409825 h 3143455"/>
              <a:gd name="connsiteX1" fmla="*/ 1935238 w 9511050"/>
              <a:gd name="connsiteY1" fmla="*/ 1428750 h 3143455"/>
              <a:gd name="connsiteX2" fmla="*/ 6126238 w 9511050"/>
              <a:gd name="connsiteY2" fmla="*/ 3143250 h 3143455"/>
              <a:gd name="connsiteX3" fmla="*/ 9465913 w 9511050"/>
              <a:gd name="connsiteY3" fmla="*/ 1533525 h 3143455"/>
              <a:gd name="connsiteX4" fmla="*/ 9511050 w 9511050"/>
              <a:gd name="connsiteY4" fmla="*/ 0 h 3143455"/>
              <a:gd name="connsiteX5" fmla="*/ 25186 w 9511050"/>
              <a:gd name="connsiteY5" fmla="*/ 85725 h 3143455"/>
              <a:gd name="connsiteX6" fmla="*/ 40674 w 9511050"/>
              <a:gd name="connsiteY6" fmla="*/ 2409825 h 3143455"/>
              <a:gd name="connsiteX0" fmla="*/ 40674 w 9511050"/>
              <a:gd name="connsiteY0" fmla="*/ 2409825 h 3143455"/>
              <a:gd name="connsiteX1" fmla="*/ 1935238 w 9511050"/>
              <a:gd name="connsiteY1" fmla="*/ 1428750 h 3143455"/>
              <a:gd name="connsiteX2" fmla="*/ 6126238 w 9511050"/>
              <a:gd name="connsiteY2" fmla="*/ 3143250 h 3143455"/>
              <a:gd name="connsiteX3" fmla="*/ 9465913 w 9511050"/>
              <a:gd name="connsiteY3" fmla="*/ 1533525 h 3143455"/>
              <a:gd name="connsiteX4" fmla="*/ 9511050 w 9511050"/>
              <a:gd name="connsiteY4" fmla="*/ 0 h 3143455"/>
              <a:gd name="connsiteX5" fmla="*/ 25186 w 9511050"/>
              <a:gd name="connsiteY5" fmla="*/ 85725 h 3143455"/>
              <a:gd name="connsiteX6" fmla="*/ 40674 w 9511050"/>
              <a:gd name="connsiteY6" fmla="*/ 2409825 h 3143455"/>
              <a:gd name="connsiteX0" fmla="*/ 26205 w 9496581"/>
              <a:gd name="connsiteY0" fmla="*/ 2409825 h 3143455"/>
              <a:gd name="connsiteX1" fmla="*/ 1920769 w 9496581"/>
              <a:gd name="connsiteY1" fmla="*/ 1428750 h 3143455"/>
              <a:gd name="connsiteX2" fmla="*/ 6111769 w 9496581"/>
              <a:gd name="connsiteY2" fmla="*/ 3143250 h 3143455"/>
              <a:gd name="connsiteX3" fmla="*/ 9451444 w 9496581"/>
              <a:gd name="connsiteY3" fmla="*/ 1533525 h 3143455"/>
              <a:gd name="connsiteX4" fmla="*/ 9496581 w 9496581"/>
              <a:gd name="connsiteY4" fmla="*/ 0 h 3143455"/>
              <a:gd name="connsiteX5" fmla="*/ 10717 w 9496581"/>
              <a:gd name="connsiteY5" fmla="*/ 85725 h 3143455"/>
              <a:gd name="connsiteX6" fmla="*/ 26205 w 9496581"/>
              <a:gd name="connsiteY6" fmla="*/ 2409825 h 3143455"/>
              <a:gd name="connsiteX0" fmla="*/ 24112 w 9501520"/>
              <a:gd name="connsiteY0" fmla="*/ 2416649 h 3143455"/>
              <a:gd name="connsiteX1" fmla="*/ 1925708 w 9501520"/>
              <a:gd name="connsiteY1" fmla="*/ 1428750 h 3143455"/>
              <a:gd name="connsiteX2" fmla="*/ 6116708 w 9501520"/>
              <a:gd name="connsiteY2" fmla="*/ 3143250 h 3143455"/>
              <a:gd name="connsiteX3" fmla="*/ 9456383 w 9501520"/>
              <a:gd name="connsiteY3" fmla="*/ 1533525 h 3143455"/>
              <a:gd name="connsiteX4" fmla="*/ 9501520 w 9501520"/>
              <a:gd name="connsiteY4" fmla="*/ 0 h 3143455"/>
              <a:gd name="connsiteX5" fmla="*/ 15656 w 9501520"/>
              <a:gd name="connsiteY5" fmla="*/ 85725 h 3143455"/>
              <a:gd name="connsiteX6" fmla="*/ 24112 w 9501520"/>
              <a:gd name="connsiteY6" fmla="*/ 2416649 h 3143455"/>
              <a:gd name="connsiteX0" fmla="*/ 8456 w 9485864"/>
              <a:gd name="connsiteY0" fmla="*/ 2416649 h 3143455"/>
              <a:gd name="connsiteX1" fmla="*/ 1910052 w 9485864"/>
              <a:gd name="connsiteY1" fmla="*/ 1428750 h 3143455"/>
              <a:gd name="connsiteX2" fmla="*/ 6101052 w 9485864"/>
              <a:gd name="connsiteY2" fmla="*/ 3143250 h 3143455"/>
              <a:gd name="connsiteX3" fmla="*/ 9440727 w 9485864"/>
              <a:gd name="connsiteY3" fmla="*/ 1533525 h 3143455"/>
              <a:gd name="connsiteX4" fmla="*/ 9485864 w 9485864"/>
              <a:gd name="connsiteY4" fmla="*/ 0 h 3143455"/>
              <a:gd name="connsiteX5" fmla="*/ 0 w 9485864"/>
              <a:gd name="connsiteY5" fmla="*/ 85725 h 3143455"/>
              <a:gd name="connsiteX6" fmla="*/ 8456 w 9485864"/>
              <a:gd name="connsiteY6" fmla="*/ 2416649 h 3143455"/>
              <a:gd name="connsiteX0" fmla="*/ 8456 w 9485864"/>
              <a:gd name="connsiteY0" fmla="*/ 2416649 h 3143471"/>
              <a:gd name="connsiteX1" fmla="*/ 1910052 w 9485864"/>
              <a:gd name="connsiteY1" fmla="*/ 1655508 h 3143471"/>
              <a:gd name="connsiteX2" fmla="*/ 6101052 w 9485864"/>
              <a:gd name="connsiteY2" fmla="*/ 3143250 h 3143471"/>
              <a:gd name="connsiteX3" fmla="*/ 9440727 w 9485864"/>
              <a:gd name="connsiteY3" fmla="*/ 1533525 h 3143471"/>
              <a:gd name="connsiteX4" fmla="*/ 9485864 w 9485864"/>
              <a:gd name="connsiteY4" fmla="*/ 0 h 3143471"/>
              <a:gd name="connsiteX5" fmla="*/ 0 w 9485864"/>
              <a:gd name="connsiteY5" fmla="*/ 85725 h 3143471"/>
              <a:gd name="connsiteX6" fmla="*/ 8456 w 9485864"/>
              <a:gd name="connsiteY6" fmla="*/ 2416649 h 3143471"/>
              <a:gd name="connsiteX0" fmla="*/ 8456 w 9485864"/>
              <a:gd name="connsiteY0" fmla="*/ 2416649 h 3234163"/>
              <a:gd name="connsiteX1" fmla="*/ 1910052 w 9485864"/>
              <a:gd name="connsiteY1" fmla="*/ 1655508 h 3234163"/>
              <a:gd name="connsiteX2" fmla="*/ 7338608 w 9485864"/>
              <a:gd name="connsiteY2" fmla="*/ 3233954 h 3234163"/>
              <a:gd name="connsiteX3" fmla="*/ 9440727 w 9485864"/>
              <a:gd name="connsiteY3" fmla="*/ 1533525 h 3234163"/>
              <a:gd name="connsiteX4" fmla="*/ 9485864 w 9485864"/>
              <a:gd name="connsiteY4" fmla="*/ 0 h 3234163"/>
              <a:gd name="connsiteX5" fmla="*/ 0 w 9485864"/>
              <a:gd name="connsiteY5" fmla="*/ 85725 h 3234163"/>
              <a:gd name="connsiteX6" fmla="*/ 8456 w 9485864"/>
              <a:gd name="connsiteY6" fmla="*/ 2416649 h 3234163"/>
              <a:gd name="connsiteX0" fmla="*/ 8456 w 9485864"/>
              <a:gd name="connsiteY0" fmla="*/ 2416649 h 3253960"/>
              <a:gd name="connsiteX1" fmla="*/ 1910052 w 9485864"/>
              <a:gd name="connsiteY1" fmla="*/ 1655508 h 3253960"/>
              <a:gd name="connsiteX2" fmla="*/ 7338608 w 9485864"/>
              <a:gd name="connsiteY2" fmla="*/ 3233954 h 3253960"/>
              <a:gd name="connsiteX3" fmla="*/ 9440727 w 9485864"/>
              <a:gd name="connsiteY3" fmla="*/ 1533525 h 3253960"/>
              <a:gd name="connsiteX4" fmla="*/ 9485864 w 9485864"/>
              <a:gd name="connsiteY4" fmla="*/ 0 h 3253960"/>
              <a:gd name="connsiteX5" fmla="*/ 0 w 9485864"/>
              <a:gd name="connsiteY5" fmla="*/ 85725 h 3253960"/>
              <a:gd name="connsiteX6" fmla="*/ 8456 w 9485864"/>
              <a:gd name="connsiteY6" fmla="*/ 2416649 h 3253960"/>
              <a:gd name="connsiteX0" fmla="*/ 8456 w 9485864"/>
              <a:gd name="connsiteY0" fmla="*/ 2416649 h 2450029"/>
              <a:gd name="connsiteX1" fmla="*/ 1910052 w 9485864"/>
              <a:gd name="connsiteY1" fmla="*/ 1655508 h 2450029"/>
              <a:gd name="connsiteX2" fmla="*/ 7387829 w 9485864"/>
              <a:gd name="connsiteY2" fmla="*/ 2355637 h 2450029"/>
              <a:gd name="connsiteX3" fmla="*/ 9440727 w 9485864"/>
              <a:gd name="connsiteY3" fmla="*/ 1533525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416649 h 2450029"/>
              <a:gd name="connsiteX1" fmla="*/ 1910052 w 9485864"/>
              <a:gd name="connsiteY1" fmla="*/ 1655508 h 2450029"/>
              <a:gd name="connsiteX2" fmla="*/ 7387829 w 9485864"/>
              <a:gd name="connsiteY2" fmla="*/ 2355637 h 2450029"/>
              <a:gd name="connsiteX3" fmla="*/ 9440727 w 9485864"/>
              <a:gd name="connsiteY3" fmla="*/ 1533525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416649 h 2450029"/>
              <a:gd name="connsiteX1" fmla="*/ 1910052 w 9485864"/>
              <a:gd name="connsiteY1" fmla="*/ 1655508 h 2450029"/>
              <a:gd name="connsiteX2" fmla="*/ 7387829 w 9485864"/>
              <a:gd name="connsiteY2" fmla="*/ 2355637 h 2450029"/>
              <a:gd name="connsiteX3" fmla="*/ 9454790 w 9485864"/>
              <a:gd name="connsiteY3" fmla="*/ 1533526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416649 h 2450029"/>
              <a:gd name="connsiteX1" fmla="*/ 1910052 w 9485864"/>
              <a:gd name="connsiteY1" fmla="*/ 1655508 h 2450029"/>
              <a:gd name="connsiteX2" fmla="*/ 7387829 w 9485864"/>
              <a:gd name="connsiteY2" fmla="*/ 2355637 h 2450029"/>
              <a:gd name="connsiteX3" fmla="*/ 9454790 w 9485864"/>
              <a:gd name="connsiteY3" fmla="*/ 1533526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416649 h 2450029"/>
              <a:gd name="connsiteX1" fmla="*/ 1910052 w 9485864"/>
              <a:gd name="connsiteY1" fmla="*/ 1655508 h 2450029"/>
              <a:gd name="connsiteX2" fmla="*/ 7387829 w 9485864"/>
              <a:gd name="connsiteY2" fmla="*/ 2355637 h 2450029"/>
              <a:gd name="connsiteX3" fmla="*/ 9447759 w 9485864"/>
              <a:gd name="connsiteY3" fmla="*/ 1810888 h 2450029"/>
              <a:gd name="connsiteX4" fmla="*/ 9485864 w 9485864"/>
              <a:gd name="connsiteY4" fmla="*/ 0 h 2450029"/>
              <a:gd name="connsiteX5" fmla="*/ 0 w 9485864"/>
              <a:gd name="connsiteY5" fmla="*/ 85725 h 2450029"/>
              <a:gd name="connsiteX6" fmla="*/ 8456 w 9485864"/>
              <a:gd name="connsiteY6" fmla="*/ 2416649 h 2450029"/>
              <a:gd name="connsiteX0" fmla="*/ 8456 w 9485864"/>
              <a:gd name="connsiteY0" fmla="*/ 2370423 h 2403803"/>
              <a:gd name="connsiteX1" fmla="*/ 1910052 w 9485864"/>
              <a:gd name="connsiteY1" fmla="*/ 1609282 h 2403803"/>
              <a:gd name="connsiteX2" fmla="*/ 7387829 w 9485864"/>
              <a:gd name="connsiteY2" fmla="*/ 2309411 h 2403803"/>
              <a:gd name="connsiteX3" fmla="*/ 9447759 w 9485864"/>
              <a:gd name="connsiteY3" fmla="*/ 1764662 h 2403803"/>
              <a:gd name="connsiteX4" fmla="*/ 9485864 w 9485864"/>
              <a:gd name="connsiteY4" fmla="*/ 0 h 2403803"/>
              <a:gd name="connsiteX5" fmla="*/ 0 w 9485864"/>
              <a:gd name="connsiteY5" fmla="*/ 39499 h 2403803"/>
              <a:gd name="connsiteX6" fmla="*/ 8456 w 9485864"/>
              <a:gd name="connsiteY6" fmla="*/ 2370423 h 2403803"/>
              <a:gd name="connsiteX0" fmla="*/ 8456 w 9485864"/>
              <a:gd name="connsiteY0" fmla="*/ 2330924 h 2364304"/>
              <a:gd name="connsiteX1" fmla="*/ 1910052 w 9485864"/>
              <a:gd name="connsiteY1" fmla="*/ 1569783 h 2364304"/>
              <a:gd name="connsiteX2" fmla="*/ 7387829 w 9485864"/>
              <a:gd name="connsiteY2" fmla="*/ 2269912 h 2364304"/>
              <a:gd name="connsiteX3" fmla="*/ 9447759 w 9485864"/>
              <a:gd name="connsiteY3" fmla="*/ 1725163 h 2364304"/>
              <a:gd name="connsiteX4" fmla="*/ 9485864 w 9485864"/>
              <a:gd name="connsiteY4" fmla="*/ 52955 h 2364304"/>
              <a:gd name="connsiteX5" fmla="*/ 0 w 9485864"/>
              <a:gd name="connsiteY5" fmla="*/ 0 h 2364304"/>
              <a:gd name="connsiteX6" fmla="*/ 8456 w 9485864"/>
              <a:gd name="connsiteY6" fmla="*/ 2330924 h 2364304"/>
              <a:gd name="connsiteX0" fmla="*/ 8456 w 9485864"/>
              <a:gd name="connsiteY0" fmla="*/ 2330924 h 2364304"/>
              <a:gd name="connsiteX1" fmla="*/ 1910052 w 9485864"/>
              <a:gd name="connsiteY1" fmla="*/ 1569783 h 2364304"/>
              <a:gd name="connsiteX2" fmla="*/ 7387829 w 9485864"/>
              <a:gd name="connsiteY2" fmla="*/ 2269912 h 2364304"/>
              <a:gd name="connsiteX3" fmla="*/ 9447759 w 9485864"/>
              <a:gd name="connsiteY3" fmla="*/ 1725163 h 2364304"/>
              <a:gd name="connsiteX4" fmla="*/ 9485864 w 9485864"/>
              <a:gd name="connsiteY4" fmla="*/ 52955 h 2364304"/>
              <a:gd name="connsiteX5" fmla="*/ 0 w 9485864"/>
              <a:gd name="connsiteY5" fmla="*/ 0 h 2364304"/>
              <a:gd name="connsiteX6" fmla="*/ 8456 w 9485864"/>
              <a:gd name="connsiteY6" fmla="*/ 2330924 h 2364304"/>
              <a:gd name="connsiteX0" fmla="*/ 8456 w 9485864"/>
              <a:gd name="connsiteY0" fmla="*/ 2330924 h 2364304"/>
              <a:gd name="connsiteX1" fmla="*/ 1910052 w 9485864"/>
              <a:gd name="connsiteY1" fmla="*/ 1569783 h 2364304"/>
              <a:gd name="connsiteX2" fmla="*/ 7387829 w 9485864"/>
              <a:gd name="connsiteY2" fmla="*/ 2269912 h 2364304"/>
              <a:gd name="connsiteX3" fmla="*/ 9437211 w 9485864"/>
              <a:gd name="connsiteY3" fmla="*/ 1725163 h 2364304"/>
              <a:gd name="connsiteX4" fmla="*/ 9485864 w 9485864"/>
              <a:gd name="connsiteY4" fmla="*/ 52955 h 2364304"/>
              <a:gd name="connsiteX5" fmla="*/ 0 w 9485864"/>
              <a:gd name="connsiteY5" fmla="*/ 0 h 2364304"/>
              <a:gd name="connsiteX6" fmla="*/ 8456 w 9485864"/>
              <a:gd name="connsiteY6" fmla="*/ 2330924 h 2364304"/>
              <a:gd name="connsiteX0" fmla="*/ 8456 w 9448109"/>
              <a:gd name="connsiteY0" fmla="*/ 2330924 h 2364304"/>
              <a:gd name="connsiteX1" fmla="*/ 1910052 w 9448109"/>
              <a:gd name="connsiteY1" fmla="*/ 1569783 h 2364304"/>
              <a:gd name="connsiteX2" fmla="*/ 7387829 w 9448109"/>
              <a:gd name="connsiteY2" fmla="*/ 2269912 h 2364304"/>
              <a:gd name="connsiteX3" fmla="*/ 9437211 w 9448109"/>
              <a:gd name="connsiteY3" fmla="*/ 1725163 h 2364304"/>
              <a:gd name="connsiteX4" fmla="*/ 9443675 w 9448109"/>
              <a:gd name="connsiteY4" fmla="*/ 52955 h 2364304"/>
              <a:gd name="connsiteX5" fmla="*/ 0 w 9448109"/>
              <a:gd name="connsiteY5" fmla="*/ 0 h 2364304"/>
              <a:gd name="connsiteX6" fmla="*/ 8456 w 9448109"/>
              <a:gd name="connsiteY6" fmla="*/ 2330924 h 2364304"/>
              <a:gd name="connsiteX0" fmla="*/ 8456 w 9448579"/>
              <a:gd name="connsiteY0" fmla="*/ 2330924 h 2364304"/>
              <a:gd name="connsiteX1" fmla="*/ 1910052 w 9448579"/>
              <a:gd name="connsiteY1" fmla="*/ 1569783 h 2364304"/>
              <a:gd name="connsiteX2" fmla="*/ 7387829 w 9448579"/>
              <a:gd name="connsiteY2" fmla="*/ 2269912 h 2364304"/>
              <a:gd name="connsiteX3" fmla="*/ 9437211 w 9448579"/>
              <a:gd name="connsiteY3" fmla="*/ 1725163 h 2364304"/>
              <a:gd name="connsiteX4" fmla="*/ 9443675 w 9448579"/>
              <a:gd name="connsiteY4" fmla="*/ 52955 h 2364304"/>
              <a:gd name="connsiteX5" fmla="*/ 0 w 9448579"/>
              <a:gd name="connsiteY5" fmla="*/ 0 h 2364304"/>
              <a:gd name="connsiteX6" fmla="*/ 8456 w 9448579"/>
              <a:gd name="connsiteY6" fmla="*/ 2330924 h 2364304"/>
              <a:gd name="connsiteX0" fmla="*/ 8456 w 9443675"/>
              <a:gd name="connsiteY0" fmla="*/ 2330924 h 2364304"/>
              <a:gd name="connsiteX1" fmla="*/ 1910052 w 9443675"/>
              <a:gd name="connsiteY1" fmla="*/ 1569783 h 2364304"/>
              <a:gd name="connsiteX2" fmla="*/ 7387829 w 9443675"/>
              <a:gd name="connsiteY2" fmla="*/ 2269912 h 2364304"/>
              <a:gd name="connsiteX3" fmla="*/ 9437211 w 9443675"/>
              <a:gd name="connsiteY3" fmla="*/ 1725163 h 2364304"/>
              <a:gd name="connsiteX4" fmla="*/ 9443675 w 9443675"/>
              <a:gd name="connsiteY4" fmla="*/ 52955 h 2364304"/>
              <a:gd name="connsiteX5" fmla="*/ 0 w 9443675"/>
              <a:gd name="connsiteY5" fmla="*/ 0 h 2364304"/>
              <a:gd name="connsiteX6" fmla="*/ 8456 w 9443675"/>
              <a:gd name="connsiteY6" fmla="*/ 2330924 h 2364304"/>
              <a:gd name="connsiteX0" fmla="*/ 8456 w 9443675"/>
              <a:gd name="connsiteY0" fmla="*/ 2330924 h 2364304"/>
              <a:gd name="connsiteX1" fmla="*/ 1910052 w 9443675"/>
              <a:gd name="connsiteY1" fmla="*/ 1569783 h 2364304"/>
              <a:gd name="connsiteX2" fmla="*/ 7387829 w 9443675"/>
              <a:gd name="connsiteY2" fmla="*/ 2269912 h 2364304"/>
              <a:gd name="connsiteX3" fmla="*/ 9437211 w 9443675"/>
              <a:gd name="connsiteY3" fmla="*/ 1725163 h 2364304"/>
              <a:gd name="connsiteX4" fmla="*/ 9443675 w 9443675"/>
              <a:gd name="connsiteY4" fmla="*/ 52955 h 2364304"/>
              <a:gd name="connsiteX5" fmla="*/ 0 w 9443675"/>
              <a:gd name="connsiteY5" fmla="*/ 0 h 2364304"/>
              <a:gd name="connsiteX6" fmla="*/ 8456 w 9443675"/>
              <a:gd name="connsiteY6" fmla="*/ 2330924 h 2364304"/>
              <a:gd name="connsiteX0" fmla="*/ 4940 w 9443675"/>
              <a:gd name="connsiteY0" fmla="*/ 2330924 h 2364304"/>
              <a:gd name="connsiteX1" fmla="*/ 1910052 w 9443675"/>
              <a:gd name="connsiteY1" fmla="*/ 1569783 h 2364304"/>
              <a:gd name="connsiteX2" fmla="*/ 7387829 w 9443675"/>
              <a:gd name="connsiteY2" fmla="*/ 2269912 h 2364304"/>
              <a:gd name="connsiteX3" fmla="*/ 9437211 w 9443675"/>
              <a:gd name="connsiteY3" fmla="*/ 1725163 h 2364304"/>
              <a:gd name="connsiteX4" fmla="*/ 9443675 w 9443675"/>
              <a:gd name="connsiteY4" fmla="*/ 52955 h 2364304"/>
              <a:gd name="connsiteX5" fmla="*/ 0 w 9443675"/>
              <a:gd name="connsiteY5" fmla="*/ 0 h 2364304"/>
              <a:gd name="connsiteX6" fmla="*/ 4940 w 9443675"/>
              <a:gd name="connsiteY6" fmla="*/ 2330924 h 2364304"/>
              <a:gd name="connsiteX0" fmla="*/ 1424 w 9443675"/>
              <a:gd name="connsiteY0" fmla="*/ 2330924 h 2364304"/>
              <a:gd name="connsiteX1" fmla="*/ 1910052 w 9443675"/>
              <a:gd name="connsiteY1" fmla="*/ 1569783 h 2364304"/>
              <a:gd name="connsiteX2" fmla="*/ 7387829 w 9443675"/>
              <a:gd name="connsiteY2" fmla="*/ 2269912 h 2364304"/>
              <a:gd name="connsiteX3" fmla="*/ 9437211 w 9443675"/>
              <a:gd name="connsiteY3" fmla="*/ 1725163 h 2364304"/>
              <a:gd name="connsiteX4" fmla="*/ 9443675 w 9443675"/>
              <a:gd name="connsiteY4" fmla="*/ 52955 h 2364304"/>
              <a:gd name="connsiteX5" fmla="*/ 0 w 9443675"/>
              <a:gd name="connsiteY5" fmla="*/ 0 h 2364304"/>
              <a:gd name="connsiteX6" fmla="*/ 1424 w 9443675"/>
              <a:gd name="connsiteY6" fmla="*/ 2330924 h 2364304"/>
              <a:gd name="connsiteX0" fmla="*/ 1424 w 9440144"/>
              <a:gd name="connsiteY0" fmla="*/ 2330924 h 2364304"/>
              <a:gd name="connsiteX1" fmla="*/ 1910052 w 9440144"/>
              <a:gd name="connsiteY1" fmla="*/ 1569783 h 2364304"/>
              <a:gd name="connsiteX2" fmla="*/ 7387829 w 9440144"/>
              <a:gd name="connsiteY2" fmla="*/ 2269912 h 2364304"/>
              <a:gd name="connsiteX3" fmla="*/ 9437211 w 9440144"/>
              <a:gd name="connsiteY3" fmla="*/ 1725163 h 2364304"/>
              <a:gd name="connsiteX4" fmla="*/ 9426096 w 9440144"/>
              <a:gd name="connsiteY4" fmla="*/ 12505 h 2364304"/>
              <a:gd name="connsiteX5" fmla="*/ 0 w 9440144"/>
              <a:gd name="connsiteY5" fmla="*/ 0 h 2364304"/>
              <a:gd name="connsiteX6" fmla="*/ 1424 w 9440144"/>
              <a:gd name="connsiteY6" fmla="*/ 2330924 h 2364304"/>
              <a:gd name="connsiteX0" fmla="*/ 1424 w 9430565"/>
              <a:gd name="connsiteY0" fmla="*/ 2330924 h 2364304"/>
              <a:gd name="connsiteX1" fmla="*/ 1910052 w 9430565"/>
              <a:gd name="connsiteY1" fmla="*/ 1569783 h 2364304"/>
              <a:gd name="connsiteX2" fmla="*/ 7387829 w 9430565"/>
              <a:gd name="connsiteY2" fmla="*/ 2269912 h 2364304"/>
              <a:gd name="connsiteX3" fmla="*/ 9426664 w 9430565"/>
              <a:gd name="connsiteY3" fmla="*/ 1730942 h 2364304"/>
              <a:gd name="connsiteX4" fmla="*/ 9426096 w 9430565"/>
              <a:gd name="connsiteY4" fmla="*/ 12505 h 2364304"/>
              <a:gd name="connsiteX5" fmla="*/ 0 w 9430565"/>
              <a:gd name="connsiteY5" fmla="*/ 0 h 2364304"/>
              <a:gd name="connsiteX6" fmla="*/ 1424 w 9430565"/>
              <a:gd name="connsiteY6" fmla="*/ 2330924 h 236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30565" h="2364304">
                <a:moveTo>
                  <a:pt x="1424" y="2330924"/>
                </a:moveTo>
                <a:cubicBezTo>
                  <a:pt x="319766" y="2554761"/>
                  <a:pt x="678985" y="1579952"/>
                  <a:pt x="1910052" y="1569783"/>
                </a:cubicBezTo>
                <a:cubicBezTo>
                  <a:pt x="3141119" y="1559614"/>
                  <a:pt x="6135060" y="2243052"/>
                  <a:pt x="7387829" y="2269912"/>
                </a:cubicBezTo>
                <a:cubicBezTo>
                  <a:pt x="8640598" y="2296772"/>
                  <a:pt x="9333644" y="2281107"/>
                  <a:pt x="9426664" y="1730942"/>
                </a:cubicBezTo>
                <a:cubicBezTo>
                  <a:pt x="9439700" y="1137217"/>
                  <a:pt x="9414945" y="1009328"/>
                  <a:pt x="9426096" y="12505"/>
                </a:cubicBezTo>
                <a:lnTo>
                  <a:pt x="0" y="0"/>
                </a:lnTo>
                <a:cubicBezTo>
                  <a:pt x="8114" y="759133"/>
                  <a:pt x="-2695" y="1992787"/>
                  <a:pt x="1424" y="2330924"/>
                </a:cubicBezTo>
                <a:close/>
              </a:path>
            </a:pathLst>
          </a:custGeom>
          <a:solidFill>
            <a:srgbClr val="348E90"/>
          </a:solidFill>
          <a:ln w="3175">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E2DA6A14-BE07-7213-405D-4CA2EBA1A206}"/>
              </a:ext>
            </a:extLst>
          </p:cNvPr>
          <p:cNvSpPr/>
          <p:nvPr userDrawn="1"/>
        </p:nvSpPr>
        <p:spPr>
          <a:xfrm>
            <a:off x="210903" y="4766795"/>
            <a:ext cx="8640305" cy="369332"/>
          </a:xfrm>
          <a:prstGeom prst="rect">
            <a:avLst/>
          </a:prstGeom>
        </p:spPr>
        <p:txBody>
          <a:bodyPr wrap="square">
            <a:spAutoFit/>
          </a:bodyPr>
          <a:lstStyle/>
          <a:p>
            <a:r>
              <a:rPr lang="en-IN" sz="900" b="1" i="0" u="none" strike="noStrike" dirty="0">
                <a:solidFill>
                  <a:schemeClr val="bg1"/>
                </a:solidFill>
                <a:effectLst/>
                <a:latin typeface="Calibri" panose="020F0502020204030204" pitchFamily="34" charset="0"/>
                <a:cs typeface="Calibri" panose="020F0502020204030204" pitchFamily="34" charset="0"/>
              </a:rPr>
              <a:t>Disclaimer:</a:t>
            </a:r>
            <a:r>
              <a:rPr lang="en-IN" sz="900" b="0" i="0" u="none" strike="noStrike" dirty="0">
                <a:solidFill>
                  <a:schemeClr val="bg1"/>
                </a:solidFill>
                <a:effectLst/>
                <a:latin typeface="Calibri" panose="020F0502020204030204" pitchFamily="34" charset="0"/>
                <a:cs typeface="Calibri" panose="020F0502020204030204" pitchFamily="34" charset="0"/>
              </a:rPr>
              <a:t> The information produced in this document is proprietor knowledge of ALabs AI Private Limited, dba Scaletrix.AI,  ©, 2017-2023. Unauthorized use or duplication of this material or any part of this material, including data, in any form without explicit and written permission will attract legal action.</a:t>
            </a:r>
            <a:endParaRPr lang="en-GB" sz="900" kern="1200" dirty="0">
              <a:solidFill>
                <a:schemeClr val="bg1"/>
              </a:solidFill>
              <a:effectLst/>
              <a:latin typeface="Calibri" panose="020F0502020204030204" pitchFamily="34" charset="0"/>
              <a:ea typeface="+mn-ea"/>
              <a:cs typeface="Calibri" panose="020F0502020204030204" pitchFamily="34" charset="0"/>
            </a:endParaRPr>
          </a:p>
        </p:txBody>
      </p:sp>
      <p:pic>
        <p:nvPicPr>
          <p:cNvPr id="8" name="Picture 7">
            <a:extLst>
              <a:ext uri="{FF2B5EF4-FFF2-40B4-BE49-F238E27FC236}">
                <a16:creationId xmlns:a16="http://schemas.microsoft.com/office/drawing/2014/main" id="{A9B28688-2EB4-2123-29C3-E4FD02DA4DBE}"/>
              </a:ext>
            </a:extLst>
          </p:cNvPr>
          <p:cNvPicPr>
            <a:picLocks noChangeAspect="1"/>
          </p:cNvPicPr>
          <p:nvPr userDrawn="1"/>
        </p:nvPicPr>
        <p:blipFill rotWithShape="1">
          <a:blip r:embed="rId2"/>
          <a:srcRect l="7158" t="10561" r="8984" b="14075"/>
          <a:stretch/>
        </p:blipFill>
        <p:spPr>
          <a:xfrm>
            <a:off x="135177" y="168922"/>
            <a:ext cx="2677768" cy="714447"/>
          </a:xfrm>
          <a:prstGeom prst="rect">
            <a:avLst/>
          </a:prstGeom>
        </p:spPr>
      </p:pic>
      <p:sp>
        <p:nvSpPr>
          <p:cNvPr id="5" name="Google Shape;133;g61ca4f9afc_1_413">
            <a:extLst>
              <a:ext uri="{FF2B5EF4-FFF2-40B4-BE49-F238E27FC236}">
                <a16:creationId xmlns:a16="http://schemas.microsoft.com/office/drawing/2014/main" id="{20698C81-16EA-D2D4-128D-90F7B5B1F19E}"/>
              </a:ext>
            </a:extLst>
          </p:cNvPr>
          <p:cNvSpPr/>
          <p:nvPr userDrawn="1"/>
        </p:nvSpPr>
        <p:spPr>
          <a:xfrm>
            <a:off x="4492939" y="3784175"/>
            <a:ext cx="4645653" cy="26105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600" b="1" i="0" u="none" strike="noStrike" cap="none" dirty="0">
                <a:solidFill>
                  <a:schemeClr val="bg2">
                    <a:lumMod val="75000"/>
                    <a:lumOff val="25000"/>
                  </a:schemeClr>
                </a:solidFill>
                <a:latin typeface="Calibri"/>
                <a:ea typeface="Calibri"/>
                <a:cs typeface="Calibri"/>
                <a:sym typeface="Calibri"/>
              </a:rPr>
              <a:t>•  NEW DELHI  •  BANGALORE  •  UNITED STATES  </a:t>
            </a:r>
            <a:endParaRPr sz="1600" b="1" i="0" u="none" strike="noStrike" cap="none" dirty="0">
              <a:solidFill>
                <a:schemeClr val="bg2">
                  <a:lumMod val="75000"/>
                  <a:lumOff val="25000"/>
                </a:schemeClr>
              </a:solidFill>
              <a:latin typeface="Calibri"/>
              <a:ea typeface="Calibri"/>
              <a:cs typeface="Calibri"/>
              <a:sym typeface="Calibri"/>
            </a:endParaRPr>
          </a:p>
        </p:txBody>
      </p:sp>
      <p:pic>
        <p:nvPicPr>
          <p:cNvPr id="10" name="Picture 9">
            <a:extLst>
              <a:ext uri="{FF2B5EF4-FFF2-40B4-BE49-F238E27FC236}">
                <a16:creationId xmlns:a16="http://schemas.microsoft.com/office/drawing/2014/main" id="{4822E74E-4BA3-3432-73FD-3D86F637E0AC}"/>
              </a:ext>
            </a:extLst>
          </p:cNvPr>
          <p:cNvPicPr>
            <a:picLocks noChangeAspect="1"/>
          </p:cNvPicPr>
          <p:nvPr userDrawn="1"/>
        </p:nvPicPr>
        <p:blipFill rotWithShape="1">
          <a:blip r:embed="rId3"/>
          <a:srcRect r="5636" b="4250"/>
          <a:stretch/>
        </p:blipFill>
        <p:spPr>
          <a:xfrm flipH="1">
            <a:off x="1338940" y="1595085"/>
            <a:ext cx="2684418" cy="2365231"/>
          </a:xfrm>
          <a:prstGeom prst="rect">
            <a:avLst/>
          </a:prstGeom>
        </p:spPr>
      </p:pic>
      <p:sp>
        <p:nvSpPr>
          <p:cNvPr id="12" name="TextBox 11">
            <a:extLst>
              <a:ext uri="{FF2B5EF4-FFF2-40B4-BE49-F238E27FC236}">
                <a16:creationId xmlns:a16="http://schemas.microsoft.com/office/drawing/2014/main" id="{6378693F-778E-5E1A-99F7-56C4711ADE88}"/>
              </a:ext>
            </a:extLst>
          </p:cNvPr>
          <p:cNvSpPr txBox="1"/>
          <p:nvPr userDrawn="1"/>
        </p:nvSpPr>
        <p:spPr>
          <a:xfrm>
            <a:off x="2160744" y="4182303"/>
            <a:ext cx="6969627" cy="40011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2800" b="1" dirty="0">
                <a:solidFill>
                  <a:schemeClr val="tx1"/>
                </a:solidFill>
                <a:latin typeface="Raleway" pitchFamily="2" charset="0"/>
                <a:ea typeface="Raleway"/>
                <a:cs typeface="Raleway"/>
                <a:sym typeface="Raleway"/>
              </a:rPr>
              <a:t>Empowering Your Business With Data</a:t>
            </a:r>
          </a:p>
        </p:txBody>
      </p:sp>
    </p:spTree>
    <p:extLst>
      <p:ext uri="{BB962C8B-B14F-4D97-AF65-F5344CB8AC3E}">
        <p14:creationId xmlns:p14="http://schemas.microsoft.com/office/powerpoint/2010/main" val="3018470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130401" y="3146871"/>
            <a:ext cx="4870500" cy="7926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2400">
                <a:latin typeface="Raleway"/>
                <a:ea typeface="Raleway"/>
                <a:cs typeface="Raleway"/>
                <a:sym typeface="Raleway"/>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38" name="Google Shape;38;p60"/>
          <p:cNvSpPr txBox="1">
            <a:spLocks noGrp="1"/>
          </p:cNvSpPr>
          <p:nvPr>
            <p:ph type="sldNum" idx="12"/>
          </p:nvPr>
        </p:nvSpPr>
        <p:spPr>
          <a:xfrm>
            <a:off x="8492930" y="4810835"/>
            <a:ext cx="548700" cy="266454"/>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000"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000"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000"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000"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000"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000"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000"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000"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000" b="0" i="0" u="none" strike="noStrike" cap="none">
                <a:solidFill>
                  <a:schemeClr val="lt1"/>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US"/>
              <a:t>‹#›</a:t>
            </a:fld>
            <a:endParaRPr/>
          </a:p>
        </p:txBody>
      </p:sp>
      <p:pic>
        <p:nvPicPr>
          <p:cNvPr id="39" name="Google Shape;39;p60"/>
          <p:cNvPicPr preferRelativeResize="0"/>
          <p:nvPr/>
        </p:nvPicPr>
        <p:blipFill rotWithShape="1">
          <a:blip r:embed="rId2">
            <a:alphaModFix/>
          </a:blip>
          <a:srcRect t="14380" b="10083"/>
          <a:stretch/>
        </p:blipFill>
        <p:spPr>
          <a:xfrm>
            <a:off x="-10479" y="4778374"/>
            <a:ext cx="1629531" cy="365126"/>
          </a:xfrm>
          <a:prstGeom prst="rect">
            <a:avLst/>
          </a:prstGeom>
          <a:noFill/>
          <a:ln>
            <a:noFill/>
          </a:ln>
        </p:spPr>
      </p:pic>
    </p:spTree>
    <p:extLst>
      <p:ext uri="{BB962C8B-B14F-4D97-AF65-F5344CB8AC3E}">
        <p14:creationId xmlns:p14="http://schemas.microsoft.com/office/powerpoint/2010/main" val="810246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blipFill dpi="0" rotWithShape="1">
          <a:blip r:embed="rId15">
            <a:alphaModFix amt="20000"/>
            <a:lum/>
          </a:blip>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02400" y="86400"/>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dirty="0"/>
          </a:p>
        </p:txBody>
      </p:sp>
      <p:sp>
        <p:nvSpPr>
          <p:cNvPr id="27" name="Rectangle 26">
            <a:extLst>
              <a:ext uri="{FF2B5EF4-FFF2-40B4-BE49-F238E27FC236}">
                <a16:creationId xmlns:a16="http://schemas.microsoft.com/office/drawing/2014/main" id="{D2573FB6-F6A4-C682-F4CD-14CE8176A144}"/>
              </a:ext>
            </a:extLst>
          </p:cNvPr>
          <p:cNvSpPr/>
          <p:nvPr userDrawn="1"/>
        </p:nvSpPr>
        <p:spPr>
          <a:xfrm>
            <a:off x="0" y="4748541"/>
            <a:ext cx="9146272" cy="3936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Google Shape;7;p1"/>
          <p:cNvSpPr txBox="1">
            <a:spLocks noGrp="1"/>
          </p:cNvSpPr>
          <p:nvPr>
            <p:ph type="body" idx="1"/>
          </p:nvPr>
        </p:nvSpPr>
        <p:spPr>
          <a:xfrm>
            <a:off x="311700" y="2217761"/>
            <a:ext cx="8520600" cy="2364912"/>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492930" y="4810835"/>
            <a:ext cx="548700" cy="266454"/>
          </a:xfrm>
          <a:prstGeom prst="rect">
            <a:avLst/>
          </a:prstGeom>
          <a:noFill/>
          <a:ln>
            <a:noFill/>
          </a:ln>
        </p:spPr>
        <p:txBody>
          <a:bodyPr spcFirstLastPara="1" wrap="square" lIns="91425" tIns="91425" rIns="91425" bIns="91425" anchor="ctr" anchorCtr="0">
            <a:noAutofit/>
          </a:bodyPr>
          <a:lstStyle>
            <a:lvl1pPr lvl="0" algn="r">
              <a:buNone/>
              <a:defRPr sz="1000">
                <a:solidFill>
                  <a:schemeClr val="bg1"/>
                </a:solidFill>
                <a:latin typeface="Raleway" pitchFamily="2" charset="0"/>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cSld>
  <p:clrMap bg1="lt1" tx1="dk1" bg2="dk2" tx2="lt2" accent1="accent1" accent2="accent2" accent3="accent3" accent4="accent4" accent5="accent5" accent6="accent6" hlink="hlink" folHlink="folHlink"/>
  <p:sldLayoutIdLst>
    <p:sldLayoutId id="2147483670" r:id="rId1"/>
    <p:sldLayoutId id="2147483649" r:id="rId2"/>
    <p:sldLayoutId id="2147483656" r:id="rId3"/>
    <p:sldLayoutId id="2147483653" r:id="rId4"/>
    <p:sldLayoutId id="2147483665" r:id="rId5"/>
    <p:sldLayoutId id="2147483661" r:id="rId6"/>
    <p:sldLayoutId id="2147483668" r:id="rId7"/>
    <p:sldLayoutId id="2147483659" r:id="rId8"/>
    <p:sldLayoutId id="2147483657" r:id="rId9"/>
    <p:sldLayoutId id="2147483666" r:id="rId10"/>
    <p:sldLayoutId id="2147483667" r:id="rId11"/>
    <p:sldLayoutId id="2147483671" r:id="rId12"/>
    <p:sldLayoutId id="214748367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000"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icons8.com/"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icons8.com/" TargetMode="External"/><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icons8.com/"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hyperlink" Target="https://icons8.com/"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icons8.com/" TargetMode="Externa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icons8.com/" TargetMode="Externa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icons8.com/" TargetMode="Externa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hyperlink" Target="https://icons8.com/" TargetMode="Externa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6CF642-B155-3EAA-0E23-97793C0E3936}"/>
              </a:ext>
            </a:extLst>
          </p:cNvPr>
          <p:cNvSpPr txBox="1"/>
          <p:nvPr/>
        </p:nvSpPr>
        <p:spPr>
          <a:xfrm>
            <a:off x="4429386" y="1588760"/>
            <a:ext cx="4714614" cy="584775"/>
          </a:xfrm>
          <a:prstGeom prst="rect">
            <a:avLst/>
          </a:prstGeom>
          <a:noFill/>
        </p:spPr>
        <p:txBody>
          <a:bodyPr wrap="square" rtlCol="0">
            <a:spAutoFit/>
          </a:bodyPr>
          <a:lstStyle/>
          <a:p>
            <a:pPr algn="ctr"/>
            <a:r>
              <a:rPr lang="en-IN" sz="3200" dirty="0">
                <a:solidFill>
                  <a:schemeClr val="tx1"/>
                </a:solidFill>
                <a:latin typeface="Georgia" panose="02040502050405020303" pitchFamily="18" charset="0"/>
                <a:cs typeface="Segoe UI" panose="020B0502040204020203" pitchFamily="34" charset="0"/>
              </a:rPr>
              <a:t>Healthcare Analytics</a:t>
            </a:r>
          </a:p>
        </p:txBody>
      </p:sp>
    </p:spTree>
    <p:extLst>
      <p:ext uri="{BB962C8B-B14F-4D97-AF65-F5344CB8AC3E}">
        <p14:creationId xmlns:p14="http://schemas.microsoft.com/office/powerpoint/2010/main" val="307134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3F824B-5F3B-E17B-97F7-B390D84A77AD}"/>
              </a:ext>
            </a:extLst>
          </p:cNvPr>
          <p:cNvSpPr>
            <a:spLocks noGrp="1"/>
          </p:cNvSpPr>
          <p:nvPr>
            <p:ph type="title"/>
          </p:nvPr>
        </p:nvSpPr>
        <p:spPr>
          <a:xfrm>
            <a:off x="528506" y="125835"/>
            <a:ext cx="1686188" cy="725251"/>
          </a:xfrm>
        </p:spPr>
        <p:txBody>
          <a:bodyPr anchor="ctr">
            <a:noAutofit/>
          </a:bodyPr>
          <a:lstStyle/>
          <a:p>
            <a:r>
              <a:rPr lang="en-US" sz="2800" dirty="0">
                <a:solidFill>
                  <a:srgbClr val="0D47A1"/>
                </a:solidFill>
                <a:latin typeface="Georgia" panose="02040502050405020303" pitchFamily="18" charset="0"/>
              </a:rPr>
              <a:t>Agenda</a:t>
            </a:r>
          </a:p>
        </p:txBody>
      </p:sp>
      <p:sp>
        <p:nvSpPr>
          <p:cNvPr id="3" name="TextBox 2">
            <a:extLst>
              <a:ext uri="{FF2B5EF4-FFF2-40B4-BE49-F238E27FC236}">
                <a16:creationId xmlns:a16="http://schemas.microsoft.com/office/drawing/2014/main" id="{A44434C5-5F06-D8AA-5302-0AF0F8B27C7C}"/>
              </a:ext>
            </a:extLst>
          </p:cNvPr>
          <p:cNvSpPr txBox="1"/>
          <p:nvPr/>
        </p:nvSpPr>
        <p:spPr>
          <a:xfrm>
            <a:off x="1734927" y="1070665"/>
            <a:ext cx="6140742" cy="300216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1600" dirty="0">
                <a:solidFill>
                  <a:srgbClr val="0D47A1"/>
                </a:solidFill>
                <a:latin typeface="Georgia" panose="02040502050405020303" pitchFamily="18" charset="0"/>
              </a:rPr>
              <a:t>Business Context</a:t>
            </a:r>
          </a:p>
          <a:p>
            <a:pPr marL="285750" indent="-285750">
              <a:lnSpc>
                <a:spcPct val="150000"/>
              </a:lnSpc>
              <a:buFont typeface="Arial" panose="020B0604020202020204" pitchFamily="34" charset="0"/>
              <a:buChar char="•"/>
            </a:pPr>
            <a:r>
              <a:rPr lang="en-IN" sz="1600" dirty="0">
                <a:solidFill>
                  <a:srgbClr val="0D47A1"/>
                </a:solidFill>
                <a:latin typeface="Georgia" panose="02040502050405020303" pitchFamily="18" charset="0"/>
              </a:rPr>
              <a:t>Data availability</a:t>
            </a:r>
          </a:p>
          <a:p>
            <a:pPr marL="285750" indent="-285750">
              <a:lnSpc>
                <a:spcPct val="150000"/>
              </a:lnSpc>
              <a:buFont typeface="Arial" panose="020B0604020202020204" pitchFamily="34" charset="0"/>
              <a:buChar char="•"/>
            </a:pPr>
            <a:r>
              <a:rPr lang="en-IN" sz="1600" dirty="0">
                <a:solidFill>
                  <a:srgbClr val="0D47A1"/>
                </a:solidFill>
                <a:latin typeface="Georgia" panose="02040502050405020303" pitchFamily="18" charset="0"/>
              </a:rPr>
              <a:t>Data Analysis</a:t>
            </a:r>
          </a:p>
          <a:p>
            <a:pPr marL="285750" indent="-285750">
              <a:lnSpc>
                <a:spcPct val="150000"/>
              </a:lnSpc>
              <a:buFont typeface="Arial" panose="020B0604020202020204" pitchFamily="34" charset="0"/>
              <a:buChar char="•"/>
            </a:pPr>
            <a:r>
              <a:rPr lang="en-IN" sz="1600" dirty="0">
                <a:solidFill>
                  <a:srgbClr val="0D47A1"/>
                </a:solidFill>
                <a:latin typeface="Georgia" panose="02040502050405020303" pitchFamily="18" charset="0"/>
              </a:rPr>
              <a:t>Dashboard</a:t>
            </a:r>
          </a:p>
          <a:p>
            <a:pPr marL="285750" indent="-285750">
              <a:lnSpc>
                <a:spcPct val="150000"/>
              </a:lnSpc>
              <a:buFont typeface="Arial" panose="020B0604020202020204" pitchFamily="34" charset="0"/>
              <a:buChar char="•"/>
            </a:pPr>
            <a:r>
              <a:rPr lang="en-IN" sz="1600" dirty="0">
                <a:solidFill>
                  <a:srgbClr val="0D47A1"/>
                </a:solidFill>
                <a:latin typeface="Georgia" panose="02040502050405020303" pitchFamily="18" charset="0"/>
              </a:rPr>
              <a:t>Cost Analysis &amp; Overcharging Detection</a:t>
            </a:r>
          </a:p>
          <a:p>
            <a:pPr marL="285750" indent="-285750">
              <a:lnSpc>
                <a:spcPct val="150000"/>
              </a:lnSpc>
              <a:buFont typeface="Arial" panose="020B0604020202020204" pitchFamily="34" charset="0"/>
              <a:buChar char="•"/>
            </a:pPr>
            <a:r>
              <a:rPr lang="en-IN" sz="1600" dirty="0">
                <a:solidFill>
                  <a:srgbClr val="0D47A1"/>
                </a:solidFill>
                <a:latin typeface="Georgia" panose="02040502050405020303" pitchFamily="18" charset="0"/>
              </a:rPr>
              <a:t>Least Similar Providers and Region</a:t>
            </a:r>
          </a:p>
          <a:p>
            <a:pPr marL="285750" indent="-285750">
              <a:lnSpc>
                <a:spcPct val="150000"/>
              </a:lnSpc>
              <a:buFont typeface="Arial" panose="020B0604020202020204" pitchFamily="34" charset="0"/>
              <a:buChar char="•"/>
            </a:pPr>
            <a:r>
              <a:rPr lang="en-US" sz="1600" dirty="0">
                <a:solidFill>
                  <a:srgbClr val="0D47A1"/>
                </a:solidFill>
                <a:latin typeface="Georgia" panose="02040502050405020303" pitchFamily="18" charset="0"/>
              </a:rPr>
              <a:t>Anomalous Patient Detection</a:t>
            </a:r>
            <a:endParaRPr lang="en-IN" sz="1600" dirty="0">
              <a:solidFill>
                <a:srgbClr val="0D47A1"/>
              </a:solidFill>
              <a:latin typeface="Georgia" panose="02040502050405020303" pitchFamily="18" charset="0"/>
            </a:endParaRPr>
          </a:p>
          <a:p>
            <a:pPr marL="285750" indent="-285750">
              <a:lnSpc>
                <a:spcPct val="150000"/>
              </a:lnSpc>
              <a:buFont typeface="Arial" panose="020B0604020202020204" pitchFamily="34" charset="0"/>
              <a:buChar char="•"/>
            </a:pPr>
            <a:r>
              <a:rPr lang="en-IN" sz="1600" dirty="0">
                <a:solidFill>
                  <a:srgbClr val="0D47A1"/>
                </a:solidFill>
                <a:latin typeface="Georgia" panose="02040502050405020303" pitchFamily="18" charset="0"/>
              </a:rPr>
              <a:t>Predictive Modelling</a:t>
            </a:r>
          </a:p>
        </p:txBody>
      </p:sp>
    </p:spTree>
    <p:extLst>
      <p:ext uri="{BB962C8B-B14F-4D97-AF65-F5344CB8AC3E}">
        <p14:creationId xmlns:p14="http://schemas.microsoft.com/office/powerpoint/2010/main" val="798131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23859B63-75C5-1118-EB35-836DC238BB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ED8850-850A-8CA3-9320-8858852B420D}"/>
              </a:ext>
            </a:extLst>
          </p:cNvPr>
          <p:cNvSpPr txBox="1"/>
          <p:nvPr/>
        </p:nvSpPr>
        <p:spPr>
          <a:xfrm>
            <a:off x="318462" y="305457"/>
            <a:ext cx="3892491" cy="523220"/>
          </a:xfrm>
          <a:prstGeom prst="rect">
            <a:avLst/>
          </a:prstGeom>
          <a:noFill/>
        </p:spPr>
        <p:txBody>
          <a:bodyPr wrap="square" rtlCol="0">
            <a:spAutoFit/>
          </a:bodyPr>
          <a:lstStyle/>
          <a:p>
            <a:r>
              <a:rPr lang="en-IN" sz="2800" b="1" dirty="0">
                <a:solidFill>
                  <a:srgbClr val="0D47A1"/>
                </a:solidFill>
                <a:latin typeface="Georgia" panose="02040502050405020303" pitchFamily="18" charset="0"/>
                <a:sym typeface="PT Sans Narrow"/>
              </a:rPr>
              <a:t>Business Context</a:t>
            </a:r>
          </a:p>
        </p:txBody>
      </p:sp>
      <p:sp>
        <p:nvSpPr>
          <p:cNvPr id="3" name="TextBox 2">
            <a:extLst>
              <a:ext uri="{FF2B5EF4-FFF2-40B4-BE49-F238E27FC236}">
                <a16:creationId xmlns:a16="http://schemas.microsoft.com/office/drawing/2014/main" id="{32D71245-B01D-8533-0BF2-12974F9E5572}"/>
              </a:ext>
            </a:extLst>
          </p:cNvPr>
          <p:cNvSpPr txBox="1"/>
          <p:nvPr/>
        </p:nvSpPr>
        <p:spPr>
          <a:xfrm>
            <a:off x="658535" y="1267835"/>
            <a:ext cx="7826929" cy="3046988"/>
          </a:xfrm>
          <a:prstGeom prst="rect">
            <a:avLst/>
          </a:prstGeom>
          <a:noFill/>
        </p:spPr>
        <p:txBody>
          <a:bodyPr wrap="square" rtlCol="0">
            <a:spAutoFit/>
          </a:bodyPr>
          <a:lstStyle/>
          <a:p>
            <a:pPr algn="ctr"/>
            <a:r>
              <a:rPr lang="en-US" sz="1600" dirty="0">
                <a:solidFill>
                  <a:srgbClr val="0D47A1"/>
                </a:solidFill>
                <a:latin typeface="Georgia" panose="02040502050405020303" pitchFamily="18" charset="0"/>
              </a:rPr>
              <a:t>Medicare reimburses private healthcare providers for medical procedures, ensuring access to essential care for millions of individuals. However, discrepancies in billing, unexpected cost variations, and potential fraudulent claims pose challenges to maintaining a fair and efficient system.</a:t>
            </a:r>
          </a:p>
          <a:p>
            <a:pPr algn="ctr">
              <a:lnSpc>
                <a:spcPct val="200000"/>
              </a:lnSpc>
            </a:pPr>
            <a:endParaRPr lang="en-US" sz="1600" dirty="0">
              <a:solidFill>
                <a:srgbClr val="0D47A1"/>
              </a:solidFill>
              <a:latin typeface="Georgia" panose="02040502050405020303" pitchFamily="18" charset="0"/>
            </a:endParaRPr>
          </a:p>
          <a:p>
            <a:pPr algn="ctr"/>
            <a:r>
              <a:rPr lang="en-US" sz="1600" dirty="0">
                <a:solidFill>
                  <a:srgbClr val="0D47A1"/>
                </a:solidFill>
                <a:latin typeface="Georgia" panose="02040502050405020303" pitchFamily="18" charset="0"/>
              </a:rPr>
              <a:t>This project focuses on analyzing Medicare data to detect anomalies—identifying providers that overcharge, procedures with extreme cost variations, and regions where medical expenses are unusually high. By uncovering these patterns, we aim to enhance cost transparency, prevent overbilling, and ensure the integrity of the reimbursement process.</a:t>
            </a:r>
          </a:p>
          <a:p>
            <a:endParaRPr lang="en-IN" sz="1600" dirty="0">
              <a:solidFill>
                <a:srgbClr val="0D47A1"/>
              </a:solidFill>
              <a:latin typeface="Georgia" panose="02040502050405020303" pitchFamily="18" charset="0"/>
            </a:endParaRPr>
          </a:p>
        </p:txBody>
      </p:sp>
    </p:spTree>
    <p:extLst>
      <p:ext uri="{BB962C8B-B14F-4D97-AF65-F5344CB8AC3E}">
        <p14:creationId xmlns:p14="http://schemas.microsoft.com/office/powerpoint/2010/main" val="405840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745D0E13-5A5B-5188-4EA3-28FC50828E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0EC78D-ED21-9FA5-31EE-44A395CC656B}"/>
              </a:ext>
            </a:extLst>
          </p:cNvPr>
          <p:cNvSpPr txBox="1"/>
          <p:nvPr/>
        </p:nvSpPr>
        <p:spPr>
          <a:xfrm>
            <a:off x="310297" y="222981"/>
            <a:ext cx="3363631" cy="523220"/>
          </a:xfrm>
          <a:prstGeom prst="rect">
            <a:avLst/>
          </a:prstGeom>
          <a:noFill/>
        </p:spPr>
        <p:txBody>
          <a:bodyPr wrap="square" rtlCol="0">
            <a:spAutoFit/>
          </a:bodyPr>
          <a:lstStyle/>
          <a:p>
            <a:r>
              <a:rPr lang="en-IN" sz="2800" b="1" dirty="0">
                <a:solidFill>
                  <a:srgbClr val="0D47A1"/>
                </a:solidFill>
                <a:latin typeface="Georgia" panose="02040502050405020303" pitchFamily="18" charset="0"/>
                <a:sym typeface="PT Sans Narrow"/>
              </a:rPr>
              <a:t>Data Availability</a:t>
            </a:r>
          </a:p>
        </p:txBody>
      </p:sp>
      <p:grpSp>
        <p:nvGrpSpPr>
          <p:cNvPr id="26" name="Group 25">
            <a:extLst>
              <a:ext uri="{FF2B5EF4-FFF2-40B4-BE49-F238E27FC236}">
                <a16:creationId xmlns:a16="http://schemas.microsoft.com/office/drawing/2014/main" id="{3220F624-B3B1-33EA-C3F2-402A9ADB2AEF}"/>
              </a:ext>
            </a:extLst>
          </p:cNvPr>
          <p:cNvGrpSpPr/>
          <p:nvPr/>
        </p:nvGrpSpPr>
        <p:grpSpPr>
          <a:xfrm>
            <a:off x="595993" y="938894"/>
            <a:ext cx="8239422" cy="3646136"/>
            <a:chOff x="595993" y="1360788"/>
            <a:chExt cx="8239422" cy="3224241"/>
          </a:xfrm>
        </p:grpSpPr>
        <p:pic>
          <p:nvPicPr>
            <p:cNvPr id="11" name="Picture 10">
              <a:extLst>
                <a:ext uri="{FF2B5EF4-FFF2-40B4-BE49-F238E27FC236}">
                  <a16:creationId xmlns:a16="http://schemas.microsoft.com/office/drawing/2014/main" id="{FAA94BBE-E911-D113-0918-60FA2CE55895}"/>
                </a:ext>
              </a:extLst>
            </p:cNvPr>
            <p:cNvPicPr>
              <a:picLocks noChangeAspect="1"/>
            </p:cNvPicPr>
            <p:nvPr/>
          </p:nvPicPr>
          <p:blipFill>
            <a:blip r:embed="rId2"/>
            <a:stretch>
              <a:fillRect/>
            </a:stretch>
          </p:blipFill>
          <p:spPr>
            <a:xfrm>
              <a:off x="3498051" y="1417938"/>
              <a:ext cx="2452310" cy="3167089"/>
            </a:xfrm>
            <a:prstGeom prst="rect">
              <a:avLst/>
            </a:prstGeom>
          </p:spPr>
        </p:pic>
        <p:pic>
          <p:nvPicPr>
            <p:cNvPr id="13" name="Picture 12">
              <a:extLst>
                <a:ext uri="{FF2B5EF4-FFF2-40B4-BE49-F238E27FC236}">
                  <a16:creationId xmlns:a16="http://schemas.microsoft.com/office/drawing/2014/main" id="{18BC4141-D12F-3E6F-1A64-45939A7899AD}"/>
                </a:ext>
              </a:extLst>
            </p:cNvPr>
            <p:cNvPicPr>
              <a:picLocks noChangeAspect="1"/>
            </p:cNvPicPr>
            <p:nvPr/>
          </p:nvPicPr>
          <p:blipFill>
            <a:blip r:embed="rId3"/>
            <a:stretch>
              <a:fillRect/>
            </a:stretch>
          </p:blipFill>
          <p:spPr>
            <a:xfrm>
              <a:off x="661309" y="1417940"/>
              <a:ext cx="2356849" cy="1623195"/>
            </a:xfrm>
            <a:prstGeom prst="rect">
              <a:avLst/>
            </a:prstGeom>
          </p:spPr>
        </p:pic>
        <p:pic>
          <p:nvPicPr>
            <p:cNvPr id="15" name="Picture 14">
              <a:extLst>
                <a:ext uri="{FF2B5EF4-FFF2-40B4-BE49-F238E27FC236}">
                  <a16:creationId xmlns:a16="http://schemas.microsoft.com/office/drawing/2014/main" id="{6027627A-38B5-88F4-5302-929E2893B44C}"/>
                </a:ext>
              </a:extLst>
            </p:cNvPr>
            <p:cNvPicPr>
              <a:picLocks noChangeAspect="1"/>
            </p:cNvPicPr>
            <p:nvPr/>
          </p:nvPicPr>
          <p:blipFill>
            <a:blip r:embed="rId4"/>
            <a:stretch>
              <a:fillRect/>
            </a:stretch>
          </p:blipFill>
          <p:spPr>
            <a:xfrm>
              <a:off x="6430255" y="1417938"/>
              <a:ext cx="2405160" cy="3167089"/>
            </a:xfrm>
            <a:prstGeom prst="rect">
              <a:avLst/>
            </a:prstGeom>
          </p:spPr>
        </p:pic>
        <p:pic>
          <p:nvPicPr>
            <p:cNvPr id="17" name="Picture 16">
              <a:extLst>
                <a:ext uri="{FF2B5EF4-FFF2-40B4-BE49-F238E27FC236}">
                  <a16:creationId xmlns:a16="http://schemas.microsoft.com/office/drawing/2014/main" id="{87589626-89A8-DEEF-5B0F-4E6C81041737}"/>
                </a:ext>
              </a:extLst>
            </p:cNvPr>
            <p:cNvPicPr>
              <a:picLocks noChangeAspect="1"/>
            </p:cNvPicPr>
            <p:nvPr/>
          </p:nvPicPr>
          <p:blipFill>
            <a:blip r:embed="rId5"/>
            <a:stretch>
              <a:fillRect/>
            </a:stretch>
          </p:blipFill>
          <p:spPr>
            <a:xfrm>
              <a:off x="661309" y="3203697"/>
              <a:ext cx="2356849" cy="1381332"/>
            </a:xfrm>
            <a:prstGeom prst="rect">
              <a:avLst/>
            </a:prstGeom>
          </p:spPr>
        </p:pic>
        <p:sp>
          <p:nvSpPr>
            <p:cNvPr id="22" name="Oval 21">
              <a:extLst>
                <a:ext uri="{FF2B5EF4-FFF2-40B4-BE49-F238E27FC236}">
                  <a16:creationId xmlns:a16="http://schemas.microsoft.com/office/drawing/2014/main" id="{856051FB-F9EE-78D4-3577-A8757A5B082B}"/>
                </a:ext>
              </a:extLst>
            </p:cNvPr>
            <p:cNvSpPr/>
            <p:nvPr/>
          </p:nvSpPr>
          <p:spPr>
            <a:xfrm>
              <a:off x="595994" y="1360788"/>
              <a:ext cx="130629" cy="1143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04D1C34B-9BB2-C87D-81D0-AAEB957D7548}"/>
                </a:ext>
              </a:extLst>
            </p:cNvPr>
            <p:cNvSpPr/>
            <p:nvPr/>
          </p:nvSpPr>
          <p:spPr>
            <a:xfrm>
              <a:off x="595993" y="3146546"/>
              <a:ext cx="130629" cy="1143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1CB5D739-F2F5-DDB1-FA31-930E00EE0D4F}"/>
                </a:ext>
              </a:extLst>
            </p:cNvPr>
            <p:cNvSpPr/>
            <p:nvPr/>
          </p:nvSpPr>
          <p:spPr>
            <a:xfrm>
              <a:off x="3432736" y="1360788"/>
              <a:ext cx="130629" cy="1143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9896E983-D237-11B9-4C65-542C53F97230}"/>
                </a:ext>
              </a:extLst>
            </p:cNvPr>
            <p:cNvSpPr/>
            <p:nvPr/>
          </p:nvSpPr>
          <p:spPr>
            <a:xfrm>
              <a:off x="6364939" y="1417938"/>
              <a:ext cx="130629" cy="1143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4238519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BB19BA4B-1268-B5F3-BB23-3705B6697C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809782-5658-7AF2-4999-5A73935AF3C9}"/>
              </a:ext>
            </a:extLst>
          </p:cNvPr>
          <p:cNvSpPr txBox="1"/>
          <p:nvPr/>
        </p:nvSpPr>
        <p:spPr>
          <a:xfrm>
            <a:off x="310297" y="222981"/>
            <a:ext cx="3363631" cy="523220"/>
          </a:xfrm>
          <a:prstGeom prst="rect">
            <a:avLst/>
          </a:prstGeom>
          <a:noFill/>
        </p:spPr>
        <p:txBody>
          <a:bodyPr wrap="square" rtlCol="0">
            <a:spAutoFit/>
          </a:bodyPr>
          <a:lstStyle/>
          <a:p>
            <a:r>
              <a:rPr lang="en-IN" sz="2800" b="1" dirty="0">
                <a:solidFill>
                  <a:srgbClr val="0D47A1"/>
                </a:solidFill>
                <a:latin typeface="Georgia" panose="02040502050405020303" pitchFamily="18" charset="0"/>
                <a:sym typeface="PT Sans Narrow"/>
              </a:rPr>
              <a:t>Data Availability</a:t>
            </a:r>
          </a:p>
        </p:txBody>
      </p:sp>
      <p:sp>
        <p:nvSpPr>
          <p:cNvPr id="3" name="TextBox 2">
            <a:extLst>
              <a:ext uri="{FF2B5EF4-FFF2-40B4-BE49-F238E27FC236}">
                <a16:creationId xmlns:a16="http://schemas.microsoft.com/office/drawing/2014/main" id="{FE2F49C5-2A3C-613B-7251-6FB5F63C3AE8}"/>
              </a:ext>
            </a:extLst>
          </p:cNvPr>
          <p:cNvSpPr txBox="1"/>
          <p:nvPr/>
        </p:nvSpPr>
        <p:spPr>
          <a:xfrm>
            <a:off x="751115" y="891962"/>
            <a:ext cx="1926771" cy="338554"/>
          </a:xfrm>
          <a:prstGeom prst="rect">
            <a:avLst/>
          </a:prstGeom>
          <a:noFill/>
        </p:spPr>
        <p:txBody>
          <a:bodyPr wrap="square" rtlCol="0">
            <a:spAutoFit/>
          </a:bodyPr>
          <a:lstStyle/>
          <a:p>
            <a:pPr>
              <a:spcAft>
                <a:spcPts val="600"/>
              </a:spcAft>
            </a:pPr>
            <a:r>
              <a:rPr lang="en-IN" sz="1600" u="sng" dirty="0">
                <a:solidFill>
                  <a:srgbClr val="0D47A1"/>
                </a:solidFill>
                <a:latin typeface="Georgia" panose="02040502050405020303" pitchFamily="18" charset="0"/>
              </a:rPr>
              <a:t>Tables Available:</a:t>
            </a:r>
          </a:p>
        </p:txBody>
      </p:sp>
      <p:pic>
        <p:nvPicPr>
          <p:cNvPr id="19" name="Picture 18">
            <a:extLst>
              <a:ext uri="{FF2B5EF4-FFF2-40B4-BE49-F238E27FC236}">
                <a16:creationId xmlns:a16="http://schemas.microsoft.com/office/drawing/2014/main" id="{3CB445B2-B1F7-0152-0380-25EC999EF29B}"/>
              </a:ext>
            </a:extLst>
          </p:cNvPr>
          <p:cNvPicPr>
            <a:picLocks noChangeAspect="1"/>
          </p:cNvPicPr>
          <p:nvPr/>
        </p:nvPicPr>
        <p:blipFill>
          <a:blip r:embed="rId2"/>
          <a:srcRect r="12448"/>
          <a:stretch/>
        </p:blipFill>
        <p:spPr>
          <a:xfrm>
            <a:off x="252138" y="1909141"/>
            <a:ext cx="1722610" cy="1667108"/>
          </a:xfrm>
          <a:prstGeom prst="rect">
            <a:avLst/>
          </a:prstGeom>
        </p:spPr>
      </p:pic>
      <p:pic>
        <p:nvPicPr>
          <p:cNvPr id="7" name="Picture 6">
            <a:extLst>
              <a:ext uri="{FF2B5EF4-FFF2-40B4-BE49-F238E27FC236}">
                <a16:creationId xmlns:a16="http://schemas.microsoft.com/office/drawing/2014/main" id="{9F88D05B-ECCC-5D18-807D-0F8E30DFDAB8}"/>
              </a:ext>
            </a:extLst>
          </p:cNvPr>
          <p:cNvPicPr>
            <a:picLocks noChangeAspect="1"/>
          </p:cNvPicPr>
          <p:nvPr/>
        </p:nvPicPr>
        <p:blipFill>
          <a:blip r:embed="rId3"/>
          <a:srcRect r="5441"/>
          <a:stretch/>
        </p:blipFill>
        <p:spPr>
          <a:xfrm>
            <a:off x="6896663" y="1909141"/>
            <a:ext cx="2061573" cy="1667109"/>
          </a:xfrm>
          <a:prstGeom prst="rect">
            <a:avLst/>
          </a:prstGeom>
        </p:spPr>
      </p:pic>
      <p:pic>
        <p:nvPicPr>
          <p:cNvPr id="9" name="Picture 8">
            <a:extLst>
              <a:ext uri="{FF2B5EF4-FFF2-40B4-BE49-F238E27FC236}">
                <a16:creationId xmlns:a16="http://schemas.microsoft.com/office/drawing/2014/main" id="{B29C742A-4A31-A9ED-44A4-49CBC655CAFA}"/>
              </a:ext>
            </a:extLst>
          </p:cNvPr>
          <p:cNvPicPr>
            <a:picLocks noChangeAspect="1"/>
          </p:cNvPicPr>
          <p:nvPr/>
        </p:nvPicPr>
        <p:blipFill>
          <a:blip r:embed="rId4"/>
          <a:srcRect r="16767"/>
          <a:stretch/>
        </p:blipFill>
        <p:spPr>
          <a:xfrm>
            <a:off x="4554056" y="1909141"/>
            <a:ext cx="2061573" cy="1667108"/>
          </a:xfrm>
          <a:prstGeom prst="rect">
            <a:avLst/>
          </a:prstGeom>
        </p:spPr>
      </p:pic>
      <p:pic>
        <p:nvPicPr>
          <p:cNvPr id="5" name="Picture 4">
            <a:extLst>
              <a:ext uri="{FF2B5EF4-FFF2-40B4-BE49-F238E27FC236}">
                <a16:creationId xmlns:a16="http://schemas.microsoft.com/office/drawing/2014/main" id="{B52808EB-AB25-5EEF-B964-1D1EF320F534}"/>
              </a:ext>
            </a:extLst>
          </p:cNvPr>
          <p:cNvPicPr>
            <a:picLocks noChangeAspect="1"/>
          </p:cNvPicPr>
          <p:nvPr/>
        </p:nvPicPr>
        <p:blipFill>
          <a:blip r:embed="rId5"/>
          <a:srcRect r="11132"/>
          <a:stretch/>
        </p:blipFill>
        <p:spPr>
          <a:xfrm>
            <a:off x="2211448" y="1909141"/>
            <a:ext cx="2061574" cy="1667108"/>
          </a:xfrm>
          <a:prstGeom prst="rect">
            <a:avLst/>
          </a:prstGeom>
        </p:spPr>
      </p:pic>
      <p:sp>
        <p:nvSpPr>
          <p:cNvPr id="8" name="Oval 7">
            <a:extLst>
              <a:ext uri="{FF2B5EF4-FFF2-40B4-BE49-F238E27FC236}">
                <a16:creationId xmlns:a16="http://schemas.microsoft.com/office/drawing/2014/main" id="{4D4586AA-C2A1-A640-5FCC-D42B58431C01}"/>
              </a:ext>
            </a:extLst>
          </p:cNvPr>
          <p:cNvSpPr/>
          <p:nvPr/>
        </p:nvSpPr>
        <p:spPr>
          <a:xfrm>
            <a:off x="202093" y="1909141"/>
            <a:ext cx="130629" cy="1143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C0018910-B218-CCF9-C8CF-D6747DE152DB}"/>
              </a:ext>
            </a:extLst>
          </p:cNvPr>
          <p:cNvSpPr/>
          <p:nvPr/>
        </p:nvSpPr>
        <p:spPr>
          <a:xfrm>
            <a:off x="2169485" y="1909141"/>
            <a:ext cx="130629" cy="1143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2210FE54-C23E-8E1A-CD4A-E64CBAECCDFE}"/>
              </a:ext>
            </a:extLst>
          </p:cNvPr>
          <p:cNvSpPr/>
          <p:nvPr/>
        </p:nvSpPr>
        <p:spPr>
          <a:xfrm>
            <a:off x="4533074" y="1909141"/>
            <a:ext cx="130629" cy="1143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535EC4EE-017A-C833-DF66-6FB1476C871E}"/>
              </a:ext>
            </a:extLst>
          </p:cNvPr>
          <p:cNvSpPr/>
          <p:nvPr/>
        </p:nvSpPr>
        <p:spPr>
          <a:xfrm>
            <a:off x="6909200" y="1909141"/>
            <a:ext cx="130629" cy="114300"/>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9979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1A7CF5B9-96D0-7CBD-8621-8F696875DB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B1F703-4F45-7243-2391-D930A2817D15}"/>
              </a:ext>
            </a:extLst>
          </p:cNvPr>
          <p:cNvSpPr txBox="1"/>
          <p:nvPr/>
        </p:nvSpPr>
        <p:spPr>
          <a:xfrm>
            <a:off x="5760238" y="5066556"/>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4" name="Thought Bubble: Cloud 3">
            <a:extLst>
              <a:ext uri="{FF2B5EF4-FFF2-40B4-BE49-F238E27FC236}">
                <a16:creationId xmlns:a16="http://schemas.microsoft.com/office/drawing/2014/main" id="{CE81BF8C-651C-FDC0-E312-42DE2BE3C9BF}"/>
              </a:ext>
            </a:extLst>
          </p:cNvPr>
          <p:cNvSpPr/>
          <p:nvPr/>
        </p:nvSpPr>
        <p:spPr>
          <a:xfrm>
            <a:off x="1485899" y="904921"/>
            <a:ext cx="5935437" cy="2564900"/>
          </a:xfrm>
          <a:prstGeom prst="cloudCallout">
            <a:avLst/>
          </a:prstGeom>
        </p:spPr>
        <p:style>
          <a:lnRef idx="2">
            <a:schemeClr val="accent3"/>
          </a:lnRef>
          <a:fillRef idx="1">
            <a:schemeClr val="lt1"/>
          </a:fillRef>
          <a:effectRef idx="0">
            <a:schemeClr val="accent3"/>
          </a:effectRef>
          <a:fontRef idx="minor">
            <a:schemeClr val="dk1"/>
          </a:fontRef>
        </p:style>
        <p:txBody>
          <a:bodyPr rtlCol="0" anchor="ctr"/>
          <a:lstStyle/>
          <a:p>
            <a:r>
              <a:rPr lang="en-IN" sz="4000" b="1" dirty="0">
                <a:solidFill>
                  <a:srgbClr val="0D47A1"/>
                </a:solidFill>
                <a:latin typeface="Georgia" panose="02040502050405020303" pitchFamily="18" charset="0"/>
                <a:sym typeface="PT Sans Narrow"/>
              </a:rPr>
              <a:t>Data Analysis</a:t>
            </a:r>
          </a:p>
        </p:txBody>
      </p:sp>
    </p:spTree>
    <p:extLst>
      <p:ext uri="{BB962C8B-B14F-4D97-AF65-F5344CB8AC3E}">
        <p14:creationId xmlns:p14="http://schemas.microsoft.com/office/powerpoint/2010/main" val="2592160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AA012D0C-BCEA-D106-E384-BE17707400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0DFEEE-3ED9-5D40-80C3-9E504370EF4A}"/>
              </a:ext>
            </a:extLst>
          </p:cNvPr>
          <p:cNvSpPr txBox="1"/>
          <p:nvPr/>
        </p:nvSpPr>
        <p:spPr>
          <a:xfrm>
            <a:off x="318406" y="2171640"/>
            <a:ext cx="4384221" cy="400110"/>
          </a:xfrm>
          <a:prstGeom prst="rect">
            <a:avLst/>
          </a:prstGeom>
          <a:noFill/>
        </p:spPr>
        <p:txBody>
          <a:bodyPr wrap="square" rtlCol="0">
            <a:spAutoFit/>
          </a:bodyPr>
          <a:lstStyle/>
          <a:p>
            <a:r>
              <a:rPr lang="en-IN" sz="2000" b="1" dirty="0">
                <a:solidFill>
                  <a:srgbClr val="0D47A1"/>
                </a:solidFill>
                <a:latin typeface="Georgia" panose="02040502050405020303" pitchFamily="18" charset="0"/>
              </a:rPr>
              <a:t>Data Understanding &amp; Cleaning</a:t>
            </a:r>
          </a:p>
        </p:txBody>
      </p:sp>
      <p:graphicFrame>
        <p:nvGraphicFramePr>
          <p:cNvPr id="10" name="Diagram 9">
            <a:extLst>
              <a:ext uri="{FF2B5EF4-FFF2-40B4-BE49-F238E27FC236}">
                <a16:creationId xmlns:a16="http://schemas.microsoft.com/office/drawing/2014/main" id="{DBDCF66D-746E-A2C1-C488-DFA683177F7A}"/>
              </a:ext>
            </a:extLst>
          </p:cNvPr>
          <p:cNvGraphicFramePr/>
          <p:nvPr>
            <p:extLst>
              <p:ext uri="{D42A27DB-BD31-4B8C-83A1-F6EECF244321}">
                <p14:modId xmlns:p14="http://schemas.microsoft.com/office/powerpoint/2010/main" val="2769712202"/>
              </p:ext>
            </p:extLst>
          </p:nvPr>
        </p:nvGraphicFramePr>
        <p:xfrm>
          <a:off x="759278" y="849086"/>
          <a:ext cx="7821385" cy="9388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C738C8BE-B41E-9C79-9CCC-D00202028513}"/>
              </a:ext>
            </a:extLst>
          </p:cNvPr>
          <p:cNvSpPr txBox="1"/>
          <p:nvPr/>
        </p:nvSpPr>
        <p:spPr>
          <a:xfrm>
            <a:off x="318406" y="195853"/>
            <a:ext cx="3796393" cy="400110"/>
          </a:xfrm>
          <a:prstGeom prst="rect">
            <a:avLst/>
          </a:prstGeom>
          <a:noFill/>
        </p:spPr>
        <p:txBody>
          <a:bodyPr wrap="square" rtlCol="0">
            <a:spAutoFit/>
          </a:bodyPr>
          <a:lstStyle/>
          <a:p>
            <a:r>
              <a:rPr lang="en-IN" sz="2000" b="1" dirty="0">
                <a:solidFill>
                  <a:srgbClr val="0D47A1"/>
                </a:solidFill>
                <a:latin typeface="Georgia" panose="02040502050405020303" pitchFamily="18" charset="0"/>
              </a:rPr>
              <a:t>Data Import &amp; Preparation</a:t>
            </a:r>
          </a:p>
        </p:txBody>
      </p:sp>
      <p:graphicFrame>
        <p:nvGraphicFramePr>
          <p:cNvPr id="13" name="Diagram 12">
            <a:extLst>
              <a:ext uri="{FF2B5EF4-FFF2-40B4-BE49-F238E27FC236}">
                <a16:creationId xmlns:a16="http://schemas.microsoft.com/office/drawing/2014/main" id="{5262C26E-E470-F969-73C2-0C86AE53E68B}"/>
              </a:ext>
            </a:extLst>
          </p:cNvPr>
          <p:cNvGraphicFramePr/>
          <p:nvPr>
            <p:extLst>
              <p:ext uri="{D42A27DB-BD31-4B8C-83A1-F6EECF244321}">
                <p14:modId xmlns:p14="http://schemas.microsoft.com/office/powerpoint/2010/main" val="2359804706"/>
              </p:ext>
            </p:extLst>
          </p:nvPr>
        </p:nvGraphicFramePr>
        <p:xfrm>
          <a:off x="759279" y="2726871"/>
          <a:ext cx="7952014" cy="181247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18021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628CB817-AC3D-C7C5-A7E0-48D4CDE4E8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37847B-B90B-065E-D0C1-2F5E9E03B11F}"/>
              </a:ext>
            </a:extLst>
          </p:cNvPr>
          <p:cNvSpPr txBox="1"/>
          <p:nvPr/>
        </p:nvSpPr>
        <p:spPr>
          <a:xfrm>
            <a:off x="1114964" y="1986975"/>
            <a:ext cx="6914071" cy="584775"/>
          </a:xfrm>
          <a:prstGeom prst="rect">
            <a:avLst/>
          </a:prstGeom>
          <a:noFill/>
        </p:spPr>
        <p:txBody>
          <a:bodyPr wrap="square" rtlCol="0" anchor="t">
            <a:spAutoFit/>
          </a:bodyPr>
          <a:lstStyle/>
          <a:p>
            <a:r>
              <a:rPr lang="en-IN" sz="3200" b="1" dirty="0">
                <a:solidFill>
                  <a:srgbClr val="0D47A1"/>
                </a:solidFill>
                <a:latin typeface="Georgia" panose="02040502050405020303" pitchFamily="18" charset="0"/>
                <a:sym typeface="PT Sans Narrow"/>
              </a:rPr>
              <a:t>Exploratory Data Analysis </a:t>
            </a:r>
            <a:r>
              <a:rPr lang="en-IN" sz="1800" dirty="0">
                <a:solidFill>
                  <a:schemeClr val="tx1"/>
                </a:solidFill>
                <a:latin typeface="Georgia" panose="02040502050405020303" pitchFamily="18" charset="0"/>
                <a:sym typeface="PT Sans Narrow"/>
              </a:rPr>
              <a:t>(EDA)</a:t>
            </a:r>
            <a:endParaRPr lang="en-IN" sz="2400" dirty="0">
              <a:solidFill>
                <a:schemeClr val="tx1"/>
              </a:solidFill>
              <a:latin typeface="Georgia" panose="02040502050405020303" pitchFamily="18" charset="0"/>
              <a:sym typeface="PT Sans Narrow"/>
            </a:endParaRPr>
          </a:p>
        </p:txBody>
      </p:sp>
    </p:spTree>
    <p:extLst>
      <p:ext uri="{BB962C8B-B14F-4D97-AF65-F5344CB8AC3E}">
        <p14:creationId xmlns:p14="http://schemas.microsoft.com/office/powerpoint/2010/main" val="1051255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160CBEBD-3925-C92F-A893-5CA6734A0003}"/>
            </a:ext>
          </a:extLst>
        </p:cNvPr>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C264E686-B494-42CB-F734-E2DF3E1E28B2}"/>
              </a:ext>
            </a:extLst>
          </p:cNvPr>
          <p:cNvGraphicFramePr>
            <a:graphicFrameLocks noGrp="1"/>
          </p:cNvGraphicFramePr>
          <p:nvPr>
            <p:extLst>
              <p:ext uri="{D42A27DB-BD31-4B8C-83A1-F6EECF244321}">
                <p14:modId xmlns:p14="http://schemas.microsoft.com/office/powerpoint/2010/main" val="3973309238"/>
              </p:ext>
            </p:extLst>
          </p:nvPr>
        </p:nvGraphicFramePr>
        <p:xfrm>
          <a:off x="4133088" y="255605"/>
          <a:ext cx="4800600" cy="4311224"/>
        </p:xfrm>
        <a:graphic>
          <a:graphicData uri="http://schemas.openxmlformats.org/drawingml/2006/table">
            <a:tbl>
              <a:tblPr firstRow="1" bandRow="1">
                <a:effectLst>
                  <a:innerShdw blurRad="63500" dist="50800" dir="13500000">
                    <a:prstClr val="black">
                      <a:alpha val="50000"/>
                    </a:prstClr>
                  </a:innerShdw>
                </a:effectLst>
                <a:tableStyleId>{8EC7A202-D894-4549-BF34-816215706C42}</a:tableStyleId>
              </a:tblPr>
              <a:tblGrid>
                <a:gridCol w="3444272">
                  <a:extLst>
                    <a:ext uri="{9D8B030D-6E8A-4147-A177-3AD203B41FA5}">
                      <a16:colId xmlns:a16="http://schemas.microsoft.com/office/drawing/2014/main" val="1822232213"/>
                    </a:ext>
                  </a:extLst>
                </a:gridCol>
                <a:gridCol w="1356328">
                  <a:extLst>
                    <a:ext uri="{9D8B030D-6E8A-4147-A177-3AD203B41FA5}">
                      <a16:colId xmlns:a16="http://schemas.microsoft.com/office/drawing/2014/main" val="2451779968"/>
                    </a:ext>
                  </a:extLst>
                </a:gridCol>
              </a:tblGrid>
              <a:tr h="584561">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5A9C"/>
                          </a:solidFill>
                          <a:effectLst/>
                          <a:latin typeface="Georgia" panose="02040502050405020303" pitchFamily="18" charset="0"/>
                        </a:rPr>
                        <a:t>Total Inpatient Procedures</a:t>
                      </a:r>
                      <a:endParaRPr lang="en-IN" sz="1600" dirty="0">
                        <a:solidFill>
                          <a:srgbClr val="005A9C"/>
                        </a:solidFill>
                        <a:latin typeface="Georgia" panose="02040502050405020303" pitchFamily="18" charset="0"/>
                      </a:endParaRPr>
                    </a:p>
                  </a:txBody>
                  <a:tcPr anchor="ctr"/>
                </a:tc>
                <a:tc>
                  <a:txBody>
                    <a:bodyPr/>
                    <a:lstStyle/>
                    <a:p>
                      <a:pPr algn="ctr"/>
                      <a:r>
                        <a:rPr lang="en-IN" sz="1600" dirty="0">
                          <a:solidFill>
                            <a:schemeClr val="tx1"/>
                          </a:solidFill>
                          <a:latin typeface="Georgia" panose="02040502050405020303" pitchFamily="18" charset="0"/>
                        </a:rPr>
                        <a:t>100</a:t>
                      </a:r>
                    </a:p>
                  </a:txBody>
                  <a:tcPr anchor="ctr"/>
                </a:tc>
                <a:extLst>
                  <a:ext uri="{0D108BD9-81ED-4DB2-BD59-A6C34878D82A}">
                    <a16:rowId xmlns:a16="http://schemas.microsoft.com/office/drawing/2014/main" val="2647923001"/>
                  </a:ext>
                </a:extLst>
              </a:tr>
              <a:tr h="75239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5A9C"/>
                          </a:solidFill>
                          <a:effectLst/>
                          <a:latin typeface="Georgia" panose="02040502050405020303" pitchFamily="18" charset="0"/>
                        </a:rPr>
                        <a:t>Total Outpatient Procedures</a:t>
                      </a:r>
                      <a:endParaRPr kumimoji="0" lang="en-US" altLang="en-US" sz="1600" b="0" i="0" u="none" strike="noStrike" cap="none" normalizeH="0" baseline="0" dirty="0">
                        <a:ln>
                          <a:noFill/>
                        </a:ln>
                        <a:solidFill>
                          <a:srgbClr val="005A9C"/>
                        </a:solidFill>
                        <a:effectLst/>
                        <a:latin typeface="Georgia" panose="02040502050405020303" pitchFamily="18" charset="0"/>
                      </a:endParaRPr>
                    </a:p>
                  </a:txBody>
                  <a:tcPr anchor="ctr"/>
                </a:tc>
                <a:tc>
                  <a:txBody>
                    <a:bodyPr/>
                    <a:lstStyle/>
                    <a:p>
                      <a:pPr algn="ctr"/>
                      <a:r>
                        <a:rPr lang="en-IN" sz="1600" dirty="0">
                          <a:solidFill>
                            <a:schemeClr val="tx1"/>
                          </a:solidFill>
                          <a:latin typeface="Georgia" panose="02040502050405020303" pitchFamily="18" charset="0"/>
                        </a:rPr>
                        <a:t>30</a:t>
                      </a:r>
                    </a:p>
                  </a:txBody>
                  <a:tcPr anchor="ctr"/>
                </a:tc>
                <a:extLst>
                  <a:ext uri="{0D108BD9-81ED-4DB2-BD59-A6C34878D82A}">
                    <a16:rowId xmlns:a16="http://schemas.microsoft.com/office/drawing/2014/main" val="1926032175"/>
                  </a:ext>
                </a:extLst>
              </a:tr>
              <a:tr h="732599">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5A9C"/>
                          </a:solidFill>
                          <a:effectLst/>
                          <a:latin typeface="Georgia" panose="02040502050405020303" pitchFamily="18" charset="0"/>
                        </a:rPr>
                        <a:t>Inpatient Provider Count</a:t>
                      </a:r>
                      <a:endParaRPr kumimoji="0" lang="en-US" altLang="en-US" sz="1600" b="0" i="0" u="none" strike="noStrike" cap="none" normalizeH="0" baseline="0" dirty="0">
                        <a:ln>
                          <a:noFill/>
                        </a:ln>
                        <a:solidFill>
                          <a:srgbClr val="005A9C"/>
                        </a:solidFill>
                        <a:effectLst/>
                        <a:latin typeface="Georgia" panose="02040502050405020303" pitchFamily="18" charset="0"/>
                      </a:endParaRPr>
                    </a:p>
                  </a:txBody>
                  <a:tcPr anchor="ctr"/>
                </a:tc>
                <a:tc>
                  <a:txBody>
                    <a:bodyPr/>
                    <a:lstStyle/>
                    <a:p>
                      <a:pPr algn="ctr"/>
                      <a:r>
                        <a:rPr lang="en-IN" sz="1600" dirty="0">
                          <a:solidFill>
                            <a:schemeClr val="tx1"/>
                          </a:solidFill>
                          <a:latin typeface="Georgia" panose="02040502050405020303" pitchFamily="18" charset="0"/>
                        </a:rPr>
                        <a:t>3,337</a:t>
                      </a:r>
                    </a:p>
                  </a:txBody>
                  <a:tcPr anchor="ctr"/>
                </a:tc>
                <a:extLst>
                  <a:ext uri="{0D108BD9-81ED-4DB2-BD59-A6C34878D82A}">
                    <a16:rowId xmlns:a16="http://schemas.microsoft.com/office/drawing/2014/main" val="2740621936"/>
                  </a:ext>
                </a:extLst>
              </a:tr>
              <a:tr h="747222">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5A9C"/>
                          </a:solidFill>
                          <a:effectLst/>
                          <a:latin typeface="Georgia" panose="02040502050405020303" pitchFamily="18" charset="0"/>
                        </a:rPr>
                        <a:t>Outpatient Provider Count</a:t>
                      </a:r>
                      <a:endParaRPr kumimoji="0" lang="en-US" altLang="en-US" sz="1600" b="0" i="0" u="none" strike="noStrike" cap="none" normalizeH="0" baseline="0" dirty="0">
                        <a:ln>
                          <a:noFill/>
                        </a:ln>
                        <a:solidFill>
                          <a:srgbClr val="005A9C"/>
                        </a:solidFill>
                        <a:effectLst/>
                        <a:latin typeface="Georgia" panose="02040502050405020303" pitchFamily="18" charset="0"/>
                      </a:endParaRPr>
                    </a:p>
                  </a:txBody>
                  <a:tcPr anchor="ctr"/>
                </a:tc>
                <a:tc>
                  <a:txBody>
                    <a:bodyPr/>
                    <a:lstStyle/>
                    <a:p>
                      <a:pPr algn="ctr"/>
                      <a:r>
                        <a:rPr lang="en-IN" sz="1600" dirty="0">
                          <a:solidFill>
                            <a:schemeClr val="tx1"/>
                          </a:solidFill>
                          <a:latin typeface="Georgia" panose="02040502050405020303" pitchFamily="18" charset="0"/>
                        </a:rPr>
                        <a:t>3,135</a:t>
                      </a:r>
                    </a:p>
                  </a:txBody>
                  <a:tcPr anchor="ctr"/>
                </a:tc>
                <a:extLst>
                  <a:ext uri="{0D108BD9-81ED-4DB2-BD59-A6C34878D82A}">
                    <a16:rowId xmlns:a16="http://schemas.microsoft.com/office/drawing/2014/main" val="2991916245"/>
                  </a:ext>
                </a:extLst>
              </a:tr>
              <a:tr h="747222">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5A9C"/>
                          </a:solidFill>
                          <a:effectLst/>
                          <a:latin typeface="Georgia" panose="02040502050405020303" pitchFamily="18" charset="0"/>
                          <a:cs typeface="Arial"/>
                          <a:sym typeface="Arial"/>
                        </a:rPr>
                        <a:t>Total Inpatient Discharge</a:t>
                      </a:r>
                    </a:p>
                  </a:txBody>
                  <a:tcPr anchor="ctr"/>
                </a:tc>
                <a:tc>
                  <a:txBody>
                    <a:bodyPr/>
                    <a:lstStyle/>
                    <a:p>
                      <a:pPr marR="0" algn="ctr" rtl="0">
                        <a:lnSpc>
                          <a:spcPct val="100000"/>
                        </a:lnSpc>
                        <a:spcBef>
                          <a:spcPts val="0"/>
                        </a:spcBef>
                        <a:spcAft>
                          <a:spcPts val="0"/>
                        </a:spcAft>
                        <a:buClr>
                          <a:srgbClr val="000000"/>
                        </a:buClr>
                        <a:buFont typeface="Arial"/>
                      </a:pPr>
                      <a:r>
                        <a:rPr lang="en-IN" sz="1600" b="0" i="0" u="none" strike="noStrike" cap="none" dirty="0">
                          <a:solidFill>
                            <a:schemeClr val="tx1"/>
                          </a:solidFill>
                          <a:latin typeface="Georgia" panose="02040502050405020303" pitchFamily="18" charset="0"/>
                          <a:ea typeface="Arial"/>
                          <a:cs typeface="Arial"/>
                          <a:sym typeface="Arial"/>
                        </a:rPr>
                        <a:t>69,75,318</a:t>
                      </a:r>
                      <a:endParaRPr lang="en-IN" sz="1600" b="0" i="0" u="none" strike="noStrike" cap="none" dirty="0">
                        <a:solidFill>
                          <a:schemeClr val="tx1"/>
                        </a:solidFill>
                        <a:latin typeface="Georgia" panose="02040502050405020303" pitchFamily="18" charset="0"/>
                        <a:cs typeface="Arial"/>
                        <a:sym typeface="Arial"/>
                      </a:endParaRPr>
                    </a:p>
                  </a:txBody>
                  <a:tcPr anchor="ctr"/>
                </a:tc>
                <a:extLst>
                  <a:ext uri="{0D108BD9-81ED-4DB2-BD59-A6C34878D82A}">
                    <a16:rowId xmlns:a16="http://schemas.microsoft.com/office/drawing/2014/main" val="3128712572"/>
                  </a:ext>
                </a:extLst>
              </a:tr>
              <a:tr h="747222">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5A9C"/>
                          </a:solidFill>
                          <a:effectLst/>
                          <a:latin typeface="Georgia" panose="02040502050405020303" pitchFamily="18" charset="0"/>
                          <a:cs typeface="Arial"/>
                          <a:sym typeface="Arial"/>
                        </a:rPr>
                        <a:t>Outpatient Service</a:t>
                      </a:r>
                    </a:p>
                  </a:txBody>
                  <a:tcPr anchor="ctr"/>
                </a:tc>
                <a:tc>
                  <a:txBody>
                    <a:bodyPr/>
                    <a:lstStyle/>
                    <a:p>
                      <a:pPr marR="0" algn="ctr" rtl="0">
                        <a:lnSpc>
                          <a:spcPct val="100000"/>
                        </a:lnSpc>
                        <a:spcBef>
                          <a:spcPts val="0"/>
                        </a:spcBef>
                        <a:spcAft>
                          <a:spcPts val="0"/>
                        </a:spcAft>
                        <a:buClr>
                          <a:srgbClr val="000000"/>
                        </a:buClr>
                        <a:buFont typeface="Arial"/>
                      </a:pPr>
                      <a:r>
                        <a:rPr lang="en-IN" sz="1600" b="0" i="0" u="none" strike="noStrike" cap="none" dirty="0">
                          <a:solidFill>
                            <a:schemeClr val="tx1"/>
                          </a:solidFill>
                          <a:latin typeface="Georgia" panose="02040502050405020303" pitchFamily="18" charset="0"/>
                          <a:ea typeface="Arial"/>
                          <a:cs typeface="Arial"/>
                          <a:sym typeface="Arial"/>
                        </a:rPr>
                        <a:t>2,55,01,910</a:t>
                      </a:r>
                      <a:endParaRPr lang="en-IN" sz="1600" b="0" i="0" u="none" strike="noStrike" cap="none" dirty="0">
                        <a:solidFill>
                          <a:schemeClr val="tx1"/>
                        </a:solidFill>
                        <a:latin typeface="Georgia" panose="02040502050405020303" pitchFamily="18" charset="0"/>
                        <a:cs typeface="Arial"/>
                        <a:sym typeface="Arial"/>
                      </a:endParaRPr>
                    </a:p>
                  </a:txBody>
                  <a:tcPr anchor="ctr"/>
                </a:tc>
                <a:extLst>
                  <a:ext uri="{0D108BD9-81ED-4DB2-BD59-A6C34878D82A}">
                    <a16:rowId xmlns:a16="http://schemas.microsoft.com/office/drawing/2014/main" val="1439200542"/>
                  </a:ext>
                </a:extLst>
              </a:tr>
            </a:tbl>
          </a:graphicData>
        </a:graphic>
      </p:graphicFrame>
      <p:sp>
        <p:nvSpPr>
          <p:cNvPr id="14" name="Rectangle 13">
            <a:extLst>
              <a:ext uri="{FF2B5EF4-FFF2-40B4-BE49-F238E27FC236}">
                <a16:creationId xmlns:a16="http://schemas.microsoft.com/office/drawing/2014/main" id="{576303C4-B415-1308-9306-69B5E7FD1263}"/>
              </a:ext>
            </a:extLst>
          </p:cNvPr>
          <p:cNvSpPr/>
          <p:nvPr/>
        </p:nvSpPr>
        <p:spPr>
          <a:xfrm>
            <a:off x="0" y="0"/>
            <a:ext cx="3947767" cy="4752753"/>
          </a:xfrm>
          <a:prstGeom prst="rect">
            <a:avLst/>
          </a:prstGeom>
          <a:solidFill>
            <a:srgbClr val="005A9C"/>
          </a:solidFill>
          <a:ln>
            <a:solidFill>
              <a:srgbClr val="005A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Georgia" panose="02040502050405020303" pitchFamily="18" charset="0"/>
              </a:rPr>
              <a:t>Inpatient vs. Outpatient Provider,</a:t>
            </a:r>
          </a:p>
          <a:p>
            <a:pPr algn="ctr"/>
            <a:r>
              <a:rPr lang="en-US" sz="3200" b="1" dirty="0">
                <a:solidFill>
                  <a:schemeClr val="bg1"/>
                </a:solidFill>
                <a:latin typeface="Georgia" panose="02040502050405020303" pitchFamily="18" charset="0"/>
              </a:rPr>
              <a:t>Procedure Count</a:t>
            </a:r>
          </a:p>
          <a:p>
            <a:pPr algn="ctr"/>
            <a:r>
              <a:rPr lang="en-US" sz="3200" b="1" dirty="0">
                <a:solidFill>
                  <a:schemeClr val="bg1"/>
                </a:solidFill>
                <a:latin typeface="Georgia" panose="02040502050405020303" pitchFamily="18" charset="0"/>
              </a:rPr>
              <a:t>and Discharge Count</a:t>
            </a:r>
            <a:endParaRPr lang="en-IN" sz="3200" b="1" dirty="0">
              <a:solidFill>
                <a:schemeClr val="bg1"/>
              </a:solidFill>
              <a:latin typeface="Georgia" panose="02040502050405020303" pitchFamily="18" charset="0"/>
            </a:endParaRPr>
          </a:p>
        </p:txBody>
      </p:sp>
    </p:spTree>
    <p:extLst>
      <p:ext uri="{BB962C8B-B14F-4D97-AF65-F5344CB8AC3E}">
        <p14:creationId xmlns:p14="http://schemas.microsoft.com/office/powerpoint/2010/main" val="243588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090067DD-3AB4-07D1-B5BB-5DE08D6B4461}"/>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496B74DB-0F24-F3CE-64A7-E97B0593ADBC}"/>
              </a:ext>
            </a:extLst>
          </p:cNvPr>
          <p:cNvSpPr>
            <a:spLocks noChangeArrowheads="1"/>
          </p:cNvSpPr>
          <p:nvPr/>
        </p:nvSpPr>
        <p:spPr bwMode="auto">
          <a:xfrm>
            <a:off x="644652" y="863590"/>
            <a:ext cx="821588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600"/>
              </a:spcAft>
            </a:pPr>
            <a:r>
              <a:rPr lang="en-US" sz="1600" b="1" dirty="0">
                <a:latin typeface="Georgia" panose="02040502050405020303" pitchFamily="18" charset="0"/>
              </a:rPr>
              <a:t>Insights:</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More Inpatient Procedures</a:t>
            </a:r>
            <a:r>
              <a:rPr lang="en-US" dirty="0">
                <a:solidFill>
                  <a:srgbClr val="0D47A1"/>
                </a:solidFill>
                <a:latin typeface="Georgia" panose="02040502050405020303" pitchFamily="18" charset="0"/>
              </a:rPr>
              <a:t> </a:t>
            </a:r>
            <a:r>
              <a:rPr lang="en-US" dirty="0">
                <a:latin typeface="Georgia" panose="02040502050405020303" pitchFamily="18" charset="0"/>
              </a:rPr>
              <a:t>– Inpatient procedures (100) are much higher than outpatient (30), indicating a hospital-focused approach.</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Balanced Provider Availability</a:t>
            </a:r>
            <a:r>
              <a:rPr lang="en-US" dirty="0">
                <a:solidFill>
                  <a:srgbClr val="0D47A1"/>
                </a:solidFill>
                <a:latin typeface="Georgia" panose="02040502050405020303" pitchFamily="18" charset="0"/>
              </a:rPr>
              <a:t> </a:t>
            </a:r>
            <a:r>
              <a:rPr lang="en-US" dirty="0">
                <a:latin typeface="Georgia" panose="02040502050405020303" pitchFamily="18" charset="0"/>
              </a:rPr>
              <a:t>– Inpatient (3,337) and outpatient (3,135) providers are nearly equal, ensuring service accessibility.</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Higher Outpatient Demand</a:t>
            </a:r>
            <a:r>
              <a:rPr lang="en-US" dirty="0">
                <a:solidFill>
                  <a:srgbClr val="0D47A1"/>
                </a:solidFill>
                <a:latin typeface="Georgia" panose="02040502050405020303" pitchFamily="18" charset="0"/>
              </a:rPr>
              <a:t> </a:t>
            </a:r>
            <a:r>
              <a:rPr lang="en-US" dirty="0">
                <a:latin typeface="Georgia" panose="02040502050405020303" pitchFamily="18" charset="0"/>
              </a:rPr>
              <a:t>– Outpatient services (2.55 crore) far exceed inpatient discharges (69.75 lakh), showing patient preference.</a:t>
            </a:r>
          </a:p>
          <a:p>
            <a:pPr>
              <a:spcAft>
                <a:spcPts val="600"/>
              </a:spcAft>
            </a:pPr>
            <a:endParaRPr lang="en-US" dirty="0">
              <a:latin typeface="Georgia" panose="02040502050405020303" pitchFamily="18" charset="0"/>
            </a:endParaRPr>
          </a:p>
          <a:p>
            <a:pPr>
              <a:spcAft>
                <a:spcPts val="600"/>
              </a:spcAft>
            </a:pPr>
            <a:r>
              <a:rPr lang="en-US" sz="1600" b="1" dirty="0">
                <a:latin typeface="Georgia" panose="02040502050405020303" pitchFamily="18" charset="0"/>
              </a:rPr>
              <a:t>Recommendations: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rgbClr val="0D47A1"/>
                </a:solidFill>
                <a:effectLst/>
                <a:latin typeface="Georgia" panose="02040502050405020303" pitchFamily="18" charset="0"/>
              </a:rPr>
              <a:t>Improve Outpatient Care</a:t>
            </a:r>
            <a:r>
              <a:rPr kumimoji="0" lang="en-US" altLang="en-US" b="0" i="0" u="none" strike="noStrike" cap="none" normalizeH="0" baseline="0" dirty="0">
                <a:ln>
                  <a:noFill/>
                </a:ln>
                <a:solidFill>
                  <a:srgbClr val="0D47A1"/>
                </a:solidFill>
                <a:effectLst/>
                <a:latin typeface="Georgia" panose="02040502050405020303" pitchFamily="18" charset="0"/>
              </a:rPr>
              <a:t>: </a:t>
            </a:r>
            <a:r>
              <a:rPr kumimoji="0" lang="en-US" altLang="en-US" b="0" i="0" u="none" strike="noStrike" cap="none" normalizeH="0" baseline="0" dirty="0">
                <a:ln>
                  <a:noFill/>
                </a:ln>
                <a:solidFill>
                  <a:schemeClr val="tx1"/>
                </a:solidFill>
                <a:effectLst/>
                <a:latin typeface="Georgia" panose="02040502050405020303" pitchFamily="18" charset="0"/>
              </a:rPr>
              <a:t>Build better outpatient facilities so fewer people need to stay in the hospital.</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rgbClr val="0D47A1"/>
                </a:solidFill>
                <a:effectLst/>
                <a:latin typeface="Georgia" panose="02040502050405020303" pitchFamily="18" charset="0"/>
              </a:rPr>
              <a:t>Use Resources Wisely</a:t>
            </a:r>
            <a:r>
              <a:rPr kumimoji="0" lang="en-US" altLang="en-US" b="0" i="0" u="none" strike="noStrike" cap="none" normalizeH="0" baseline="0" dirty="0">
                <a:ln>
                  <a:noFill/>
                </a:ln>
                <a:solidFill>
                  <a:srgbClr val="0D47A1"/>
                </a:solidFill>
                <a:effectLst/>
                <a:latin typeface="Georgia" panose="02040502050405020303" pitchFamily="18" charset="0"/>
              </a:rPr>
              <a:t>: </a:t>
            </a:r>
            <a:r>
              <a:rPr kumimoji="0" lang="en-US" altLang="en-US" b="0" i="0" u="none" strike="noStrike" cap="none" normalizeH="0" baseline="0" dirty="0">
                <a:ln>
                  <a:noFill/>
                </a:ln>
                <a:solidFill>
                  <a:schemeClr val="tx1"/>
                </a:solidFill>
                <a:effectLst/>
                <a:latin typeface="Georgia" panose="02040502050405020303" pitchFamily="18" charset="0"/>
              </a:rPr>
              <a:t>Adjust the number of staff and resources based on how many patients are there to provide the best care.</a:t>
            </a:r>
            <a:endParaRPr lang="en-US" sz="1600" b="1" dirty="0">
              <a:latin typeface="Georgia" panose="02040502050405020303" pitchFamily="18" charset="0"/>
            </a:endParaRPr>
          </a:p>
        </p:txBody>
      </p:sp>
      <p:sp>
        <p:nvSpPr>
          <p:cNvPr id="5" name="TextBox 4">
            <a:extLst>
              <a:ext uri="{FF2B5EF4-FFF2-40B4-BE49-F238E27FC236}">
                <a16:creationId xmlns:a16="http://schemas.microsoft.com/office/drawing/2014/main" id="{8D11AEA4-057D-2A45-CE7B-D1A09B88581F}"/>
              </a:ext>
            </a:extLst>
          </p:cNvPr>
          <p:cNvSpPr txBox="1"/>
          <p:nvPr/>
        </p:nvSpPr>
        <p:spPr>
          <a:xfrm>
            <a:off x="0" y="225344"/>
            <a:ext cx="9144000" cy="338554"/>
          </a:xfrm>
          <a:prstGeom prst="rect">
            <a:avLst/>
          </a:prstGeom>
          <a:noFill/>
        </p:spPr>
        <p:txBody>
          <a:bodyPr wrap="square">
            <a:spAutoFit/>
          </a:bodyPr>
          <a:lstStyle/>
          <a:p>
            <a:pPr algn="ctr"/>
            <a:r>
              <a:rPr lang="en-US" sz="1600" b="1" i="1" dirty="0">
                <a:solidFill>
                  <a:srgbClr val="0D47A1"/>
                </a:solidFill>
                <a:latin typeface="Georgia" panose="02040502050405020303" pitchFamily="18" charset="0"/>
              </a:rPr>
              <a:t>Inpatient vs. Outpatient Provider, Procedure Count and Discharge Count</a:t>
            </a:r>
            <a:endParaRPr lang="en-IN" sz="1600" b="1" i="1" dirty="0">
              <a:solidFill>
                <a:srgbClr val="0D47A1"/>
              </a:solidFill>
              <a:latin typeface="Georgia" panose="02040502050405020303" pitchFamily="18" charset="0"/>
            </a:endParaRPr>
          </a:p>
        </p:txBody>
      </p:sp>
    </p:spTree>
    <p:extLst>
      <p:ext uri="{BB962C8B-B14F-4D97-AF65-F5344CB8AC3E}">
        <p14:creationId xmlns:p14="http://schemas.microsoft.com/office/powerpoint/2010/main" val="4107403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3D826237-7B8A-61B5-6E64-B2F227C4621A}"/>
              </a:ext>
            </a:extLst>
          </p:cNvPr>
          <p:cNvGraphicFramePr/>
          <p:nvPr>
            <p:extLst>
              <p:ext uri="{D42A27DB-BD31-4B8C-83A1-F6EECF244321}">
                <p14:modId xmlns:p14="http://schemas.microsoft.com/office/powerpoint/2010/main" val="96159715"/>
              </p:ext>
            </p:extLst>
          </p:nvPr>
        </p:nvGraphicFramePr>
        <p:xfrm>
          <a:off x="648906" y="1654367"/>
          <a:ext cx="7846186" cy="1575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13E8C247-5416-4BA7-A902-F2E7E12DC7AE}"/>
              </a:ext>
            </a:extLst>
          </p:cNvPr>
          <p:cNvSpPr txBox="1"/>
          <p:nvPr/>
        </p:nvSpPr>
        <p:spPr>
          <a:xfrm>
            <a:off x="1481027" y="584464"/>
            <a:ext cx="6181944"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solidFill>
                  <a:srgbClr val="0D47A1"/>
                </a:solidFill>
                <a:latin typeface="Georgia" panose="02040502050405020303" pitchFamily="18" charset="0"/>
              </a:rPr>
              <a:t>Medicare's Contribution to Total Payments</a:t>
            </a:r>
            <a:endParaRPr lang="en-IN" sz="2000" b="1" i="1" dirty="0">
              <a:solidFill>
                <a:srgbClr val="0D47A1"/>
              </a:solidFill>
              <a:latin typeface="Georgia" panose="02040502050405020303" pitchFamily="18" charset="0"/>
            </a:endParaRPr>
          </a:p>
        </p:txBody>
      </p:sp>
    </p:spTree>
    <p:extLst>
      <p:ext uri="{BB962C8B-B14F-4D97-AF65-F5344CB8AC3E}">
        <p14:creationId xmlns:p14="http://schemas.microsoft.com/office/powerpoint/2010/main" val="644815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64B67E30-E7A3-9F61-DBE8-37B49F2CC9F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2C6C2E5-490D-B5BC-77AB-CC7A95D6DD6D}"/>
              </a:ext>
            </a:extLst>
          </p:cNvPr>
          <p:cNvSpPr txBox="1"/>
          <p:nvPr/>
        </p:nvSpPr>
        <p:spPr>
          <a:xfrm>
            <a:off x="540772" y="974130"/>
            <a:ext cx="8249267" cy="3631763"/>
          </a:xfrm>
          <a:prstGeom prst="rect">
            <a:avLst/>
          </a:prstGeom>
          <a:noFill/>
        </p:spPr>
        <p:txBody>
          <a:bodyPr wrap="square" rtlCol="0">
            <a:spAutoFit/>
          </a:bodyPr>
          <a:lstStyle/>
          <a:p>
            <a:pPr>
              <a:spcAft>
                <a:spcPts val="600"/>
              </a:spcAft>
            </a:pPr>
            <a:r>
              <a:rPr lang="en-US" sz="1600" b="1" dirty="0">
                <a:latin typeface="Georgia" panose="02040502050405020303" pitchFamily="18" charset="0"/>
              </a:rPr>
              <a:t>Insights:</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Patients Face High Costs</a:t>
            </a:r>
            <a:r>
              <a:rPr lang="en-US" dirty="0">
                <a:solidFill>
                  <a:srgbClr val="0D47A1"/>
                </a:solidFill>
                <a:latin typeface="Georgia" panose="02040502050405020303" pitchFamily="18" charset="0"/>
              </a:rPr>
              <a:t> </a:t>
            </a:r>
            <a:r>
              <a:rPr lang="en-US" dirty="0">
                <a:latin typeface="Georgia" panose="02040502050405020303" pitchFamily="18" charset="0"/>
              </a:rPr>
              <a:t>– On average, patients pay </a:t>
            </a:r>
            <a:r>
              <a:rPr lang="en-US" b="1" dirty="0">
                <a:latin typeface="Georgia" panose="02040502050405020303" pitchFamily="18" charset="0"/>
              </a:rPr>
              <a:t>27%</a:t>
            </a:r>
            <a:r>
              <a:rPr lang="en-US" dirty="0">
                <a:latin typeface="Georgia" panose="02040502050405020303" pitchFamily="18" charset="0"/>
              </a:rPr>
              <a:t> of their total bill out of pocket, which can be a financial burden.</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Medicare Covers a Small Share</a:t>
            </a:r>
            <a:r>
              <a:rPr lang="en-US" dirty="0">
                <a:solidFill>
                  <a:srgbClr val="0D47A1"/>
                </a:solidFill>
                <a:latin typeface="Georgia" panose="02040502050405020303" pitchFamily="18" charset="0"/>
              </a:rPr>
              <a:t> </a:t>
            </a:r>
            <a:r>
              <a:rPr lang="en-US" dirty="0">
                <a:latin typeface="Georgia" panose="02040502050405020303" pitchFamily="18" charset="0"/>
              </a:rPr>
              <a:t>– Medicare pays for only </a:t>
            </a:r>
            <a:r>
              <a:rPr lang="en-US" b="1" dirty="0">
                <a:latin typeface="Georgia" panose="02040502050405020303" pitchFamily="18" charset="0"/>
              </a:rPr>
              <a:t>23%</a:t>
            </a:r>
            <a:r>
              <a:rPr lang="en-US" dirty="0">
                <a:latin typeface="Georgia" panose="02040502050405020303" pitchFamily="18" charset="0"/>
              </a:rPr>
              <a:t> of the total bill, raising concerns about whether coverage is enough.</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Medicare’s Key Role in Payments</a:t>
            </a:r>
            <a:r>
              <a:rPr lang="en-US" dirty="0">
                <a:solidFill>
                  <a:srgbClr val="0D47A1"/>
                </a:solidFill>
                <a:latin typeface="Georgia" panose="02040502050405020303" pitchFamily="18" charset="0"/>
              </a:rPr>
              <a:t> </a:t>
            </a:r>
            <a:r>
              <a:rPr lang="en-US" dirty="0">
                <a:latin typeface="Georgia" panose="02040502050405020303" pitchFamily="18" charset="0"/>
              </a:rPr>
              <a:t>– Out of the total amount that gets paid, </a:t>
            </a:r>
            <a:r>
              <a:rPr lang="en-US" b="1" dirty="0">
                <a:latin typeface="Georgia" panose="02040502050405020303" pitchFamily="18" charset="0"/>
              </a:rPr>
              <a:t>85%</a:t>
            </a:r>
            <a:r>
              <a:rPr lang="en-US" dirty="0">
                <a:latin typeface="Georgia" panose="02040502050405020303" pitchFamily="18" charset="0"/>
              </a:rPr>
              <a:t> comes from Medicare, shows that the healthcare system relies heavily on Medicare funding to ensure payments are made</a:t>
            </a:r>
          </a:p>
          <a:p>
            <a:endParaRPr lang="en-US" dirty="0">
              <a:latin typeface="Georgia" panose="02040502050405020303" pitchFamily="18" charset="0"/>
            </a:endParaRPr>
          </a:p>
          <a:p>
            <a:pPr>
              <a:spcAft>
                <a:spcPts val="600"/>
              </a:spcAft>
            </a:pPr>
            <a:r>
              <a:rPr lang="en-IN" sz="1600" b="1" dirty="0">
                <a:latin typeface="Georgia" panose="02040502050405020303" pitchFamily="18" charset="0"/>
              </a:rPr>
              <a:t>Recommendations</a:t>
            </a:r>
            <a:r>
              <a:rPr lang="en-US" sz="1600" b="1" dirty="0">
                <a:latin typeface="Georgia" panose="02040502050405020303" pitchFamily="18" charset="0"/>
              </a:rPr>
              <a:t>:</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Reduce Out-of-Pocket Costs</a:t>
            </a:r>
            <a:r>
              <a:rPr lang="en-US" dirty="0">
                <a:solidFill>
                  <a:srgbClr val="0D47A1"/>
                </a:solidFill>
                <a:latin typeface="Georgia" panose="02040502050405020303" pitchFamily="18" charset="0"/>
              </a:rPr>
              <a:t> </a:t>
            </a:r>
            <a:r>
              <a:rPr lang="en-US" dirty="0">
                <a:latin typeface="Georgia" panose="02040502050405020303" pitchFamily="18" charset="0"/>
              </a:rPr>
              <a:t>– Explore subsidy programs or secondary insurance options for patients.</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Enhance Medicare Coverage</a:t>
            </a:r>
            <a:r>
              <a:rPr lang="en-US" dirty="0">
                <a:solidFill>
                  <a:srgbClr val="0D47A1"/>
                </a:solidFill>
                <a:latin typeface="Georgia" panose="02040502050405020303" pitchFamily="18" charset="0"/>
              </a:rPr>
              <a:t> </a:t>
            </a:r>
            <a:r>
              <a:rPr lang="en-US" dirty="0">
                <a:latin typeface="Georgia" panose="02040502050405020303" pitchFamily="18" charset="0"/>
              </a:rPr>
              <a:t>– Assess potential policy adjustments to increase the </a:t>
            </a:r>
            <a:r>
              <a:rPr lang="en-US" b="1" dirty="0">
                <a:latin typeface="Georgia" panose="02040502050405020303" pitchFamily="18" charset="0"/>
              </a:rPr>
              <a:t>23% Medicare contribution</a:t>
            </a:r>
            <a:r>
              <a:rPr lang="en-US" dirty="0">
                <a:latin typeface="Georgia" panose="02040502050405020303" pitchFamily="18" charset="0"/>
              </a:rPr>
              <a:t>.</a:t>
            </a:r>
            <a:endParaRPr lang="en-IN" dirty="0">
              <a:latin typeface="Georgia" panose="02040502050405020303" pitchFamily="18" charset="0"/>
            </a:endParaRPr>
          </a:p>
        </p:txBody>
      </p:sp>
      <p:sp>
        <p:nvSpPr>
          <p:cNvPr id="2" name="TextBox 1">
            <a:extLst>
              <a:ext uri="{FF2B5EF4-FFF2-40B4-BE49-F238E27FC236}">
                <a16:creationId xmlns:a16="http://schemas.microsoft.com/office/drawing/2014/main" id="{61321E4C-3BD5-AC12-014B-BACA0A9D7B87}"/>
              </a:ext>
            </a:extLst>
          </p:cNvPr>
          <p:cNvSpPr txBox="1"/>
          <p:nvPr/>
        </p:nvSpPr>
        <p:spPr>
          <a:xfrm>
            <a:off x="1481028" y="255280"/>
            <a:ext cx="6181944"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solidFill>
                  <a:srgbClr val="0D47A1"/>
                </a:solidFill>
                <a:latin typeface="Georgia" panose="02040502050405020303" pitchFamily="18" charset="0"/>
              </a:rPr>
              <a:t>Medicare's Contribution to Total Payments</a:t>
            </a:r>
            <a:endParaRPr lang="en-IN" sz="2000" b="1" i="1" dirty="0">
              <a:solidFill>
                <a:srgbClr val="0D47A1"/>
              </a:solidFill>
              <a:latin typeface="Georgia" panose="02040502050405020303" pitchFamily="18" charset="0"/>
            </a:endParaRPr>
          </a:p>
        </p:txBody>
      </p:sp>
    </p:spTree>
    <p:extLst>
      <p:ext uri="{BB962C8B-B14F-4D97-AF65-F5344CB8AC3E}">
        <p14:creationId xmlns:p14="http://schemas.microsoft.com/office/powerpoint/2010/main" val="1103811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8979A6FD-6ED3-588B-F1B1-16C3BD48A8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7F48DA-26FC-06AD-1320-D4A63BCE7F26}"/>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3"/>
              </a:rPr>
              <a:t>icons8</a:t>
            </a:r>
            <a:r>
              <a:rPr lang="en-IN" sz="500" dirty="0">
                <a:latin typeface="Calibri" panose="020F0502020204030204" pitchFamily="34" charset="0"/>
                <a:cs typeface="Calibri" panose="020F0502020204030204" pitchFamily="34" charset="0"/>
              </a:rPr>
              <a:t>`</a:t>
            </a:r>
          </a:p>
        </p:txBody>
      </p:sp>
      <p:sp>
        <p:nvSpPr>
          <p:cNvPr id="9" name="TextBox 8">
            <a:extLst>
              <a:ext uri="{FF2B5EF4-FFF2-40B4-BE49-F238E27FC236}">
                <a16:creationId xmlns:a16="http://schemas.microsoft.com/office/drawing/2014/main" id="{63468A83-3695-7A74-9E01-E453BBB845DC}"/>
              </a:ext>
            </a:extLst>
          </p:cNvPr>
          <p:cNvSpPr txBox="1"/>
          <p:nvPr/>
        </p:nvSpPr>
        <p:spPr>
          <a:xfrm>
            <a:off x="1219136" y="219619"/>
            <a:ext cx="6705722"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solidFill>
                  <a:srgbClr val="0D47A1"/>
                </a:solidFill>
                <a:latin typeface="Georgia" panose="02040502050405020303" pitchFamily="18" charset="0"/>
              </a:rPr>
              <a:t>Number of Procedure Covered by Each Provider</a:t>
            </a:r>
            <a:endParaRPr lang="en-IN" sz="2000" b="1" i="1" dirty="0">
              <a:solidFill>
                <a:srgbClr val="0D47A1"/>
              </a:solidFill>
              <a:latin typeface="Georgia" panose="02040502050405020303" pitchFamily="18" charset="0"/>
            </a:endParaRPr>
          </a:p>
        </p:txBody>
      </p:sp>
      <p:sp>
        <p:nvSpPr>
          <p:cNvPr id="13" name="TextBox 12">
            <a:extLst>
              <a:ext uri="{FF2B5EF4-FFF2-40B4-BE49-F238E27FC236}">
                <a16:creationId xmlns:a16="http://schemas.microsoft.com/office/drawing/2014/main" id="{09D9EE73-A361-D272-9C55-73E414F1EA42}"/>
              </a:ext>
            </a:extLst>
          </p:cNvPr>
          <p:cNvSpPr txBox="1"/>
          <p:nvPr/>
        </p:nvSpPr>
        <p:spPr>
          <a:xfrm>
            <a:off x="513781" y="3880393"/>
            <a:ext cx="8116433" cy="584775"/>
          </a:xfrm>
          <a:prstGeom prst="rect">
            <a:avLst/>
          </a:prstGeom>
          <a:noFill/>
        </p:spPr>
        <p:txBody>
          <a:bodyPr wrap="square" rtlCol="0">
            <a:spAutoFit/>
          </a:bodyPr>
          <a:lstStyle/>
          <a:p>
            <a:r>
              <a:rPr lang="en-US" sz="1600" dirty="0">
                <a:solidFill>
                  <a:schemeClr val="tx1"/>
                </a:solidFill>
                <a:latin typeface="Georgia" panose="02040502050405020303" pitchFamily="18" charset="0"/>
              </a:rPr>
              <a:t>Providers covering fewer diagnoses are more common, while specialized providers handle higher diagnosis counts, showing a fluctuating yet increasing trend.</a:t>
            </a:r>
            <a:endParaRPr lang="en-IN" sz="1600" dirty="0">
              <a:solidFill>
                <a:schemeClr val="tx1"/>
              </a:solidFill>
              <a:latin typeface="Georgia" panose="02040502050405020303" pitchFamily="18" charset="0"/>
            </a:endParaRPr>
          </a:p>
        </p:txBody>
      </p:sp>
      <p:pic>
        <p:nvPicPr>
          <p:cNvPr id="15" name="Picture 14">
            <a:extLst>
              <a:ext uri="{FF2B5EF4-FFF2-40B4-BE49-F238E27FC236}">
                <a16:creationId xmlns:a16="http://schemas.microsoft.com/office/drawing/2014/main" id="{B0BD5AAF-9031-0DB9-BD2D-7EB0BFA0D301}"/>
              </a:ext>
            </a:extLst>
          </p:cNvPr>
          <p:cNvPicPr>
            <a:picLocks noChangeAspect="1"/>
          </p:cNvPicPr>
          <p:nvPr/>
        </p:nvPicPr>
        <p:blipFill>
          <a:blip r:embed="rId4"/>
          <a:stretch>
            <a:fillRect/>
          </a:stretch>
        </p:blipFill>
        <p:spPr>
          <a:xfrm>
            <a:off x="513781" y="950863"/>
            <a:ext cx="8116433" cy="2667372"/>
          </a:xfrm>
          <a:prstGeom prst="rect">
            <a:avLst/>
          </a:prstGeom>
        </p:spPr>
      </p:pic>
    </p:spTree>
    <p:extLst>
      <p:ext uri="{BB962C8B-B14F-4D97-AF65-F5344CB8AC3E}">
        <p14:creationId xmlns:p14="http://schemas.microsoft.com/office/powerpoint/2010/main" val="1956616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A22D3FE8-E405-6BA6-DC9E-39366D296D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755D85-8CED-18E3-3F8B-A7853A1C4814}"/>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3" name="TextBox 2">
            <a:extLst>
              <a:ext uri="{FF2B5EF4-FFF2-40B4-BE49-F238E27FC236}">
                <a16:creationId xmlns:a16="http://schemas.microsoft.com/office/drawing/2014/main" id="{B33E647A-0651-C015-1021-94FDF8BAE1A2}"/>
              </a:ext>
            </a:extLst>
          </p:cNvPr>
          <p:cNvSpPr txBox="1"/>
          <p:nvPr/>
        </p:nvSpPr>
        <p:spPr>
          <a:xfrm>
            <a:off x="1" y="171783"/>
            <a:ext cx="9144000"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solidFill>
                  <a:srgbClr val="0D47A1"/>
                </a:solidFill>
                <a:latin typeface="Georgia" panose="02040502050405020303" pitchFamily="18" charset="0"/>
              </a:rPr>
              <a:t>Highly Charged Inpatient Procedure</a:t>
            </a:r>
            <a:endParaRPr lang="en-IN" sz="2000" b="1" i="1" dirty="0">
              <a:solidFill>
                <a:srgbClr val="0D47A1"/>
              </a:solidFill>
              <a:latin typeface="Georgia" panose="02040502050405020303" pitchFamily="18" charset="0"/>
            </a:endParaRPr>
          </a:p>
        </p:txBody>
      </p:sp>
      <p:pic>
        <p:nvPicPr>
          <p:cNvPr id="5" name="Picture 4">
            <a:extLst>
              <a:ext uri="{FF2B5EF4-FFF2-40B4-BE49-F238E27FC236}">
                <a16:creationId xmlns:a16="http://schemas.microsoft.com/office/drawing/2014/main" id="{FE63D268-A736-D955-4007-C75596506B2B}"/>
              </a:ext>
            </a:extLst>
          </p:cNvPr>
          <p:cNvPicPr>
            <a:picLocks noChangeAspect="1"/>
          </p:cNvPicPr>
          <p:nvPr/>
        </p:nvPicPr>
        <p:blipFill>
          <a:blip r:embed="rId3"/>
          <a:stretch>
            <a:fillRect/>
          </a:stretch>
        </p:blipFill>
        <p:spPr>
          <a:xfrm>
            <a:off x="261252" y="718537"/>
            <a:ext cx="8621495" cy="2868137"/>
          </a:xfrm>
          <a:prstGeom prst="rect">
            <a:avLst/>
          </a:prstGeom>
        </p:spPr>
      </p:pic>
      <p:sp>
        <p:nvSpPr>
          <p:cNvPr id="7" name="TextBox 6">
            <a:extLst>
              <a:ext uri="{FF2B5EF4-FFF2-40B4-BE49-F238E27FC236}">
                <a16:creationId xmlns:a16="http://schemas.microsoft.com/office/drawing/2014/main" id="{F68D3EFA-0346-BB4D-5C3C-BA9F1FD2CD22}"/>
              </a:ext>
            </a:extLst>
          </p:cNvPr>
          <p:cNvSpPr txBox="1"/>
          <p:nvPr/>
        </p:nvSpPr>
        <p:spPr>
          <a:xfrm>
            <a:off x="414670" y="3740610"/>
            <a:ext cx="8314660" cy="830997"/>
          </a:xfrm>
          <a:prstGeom prst="rect">
            <a:avLst/>
          </a:prstGeom>
          <a:noFill/>
        </p:spPr>
        <p:txBody>
          <a:bodyPr wrap="square" rtlCol="0">
            <a:spAutoFit/>
          </a:bodyPr>
          <a:lstStyle/>
          <a:p>
            <a:r>
              <a:rPr lang="en-US" sz="1600" dirty="0">
                <a:latin typeface="Georgia" panose="02040502050405020303" pitchFamily="18" charset="0"/>
              </a:rPr>
              <a:t>Darker color in the chart signifies the highest charges, with </a:t>
            </a:r>
            <a:r>
              <a:rPr lang="en-US" sz="1600" b="1" dirty="0">
                <a:latin typeface="Georgia" panose="02040502050405020303" pitchFamily="18" charset="0"/>
              </a:rPr>
              <a:t>Septicemia or Severe Sepsis W MV 96+ hours </a:t>
            </a:r>
            <a:r>
              <a:rPr lang="en-US" sz="1600" dirty="0">
                <a:latin typeface="Georgia" panose="02040502050405020303" pitchFamily="18" charset="0"/>
              </a:rPr>
              <a:t>having the highest cost. Lighter colors represent lower charges, with Hip and Femur procedures still contributing significantly.</a:t>
            </a:r>
            <a:endParaRPr lang="en-IN" sz="1600" dirty="0">
              <a:latin typeface="Georgia" panose="02040502050405020303" pitchFamily="18" charset="0"/>
            </a:endParaRPr>
          </a:p>
        </p:txBody>
      </p:sp>
    </p:spTree>
    <p:extLst>
      <p:ext uri="{BB962C8B-B14F-4D97-AF65-F5344CB8AC3E}">
        <p14:creationId xmlns:p14="http://schemas.microsoft.com/office/powerpoint/2010/main" val="3975353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F953DD9A-C5FA-8D30-751F-3B5D962087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1557A2-5466-B0C7-72F9-BA94F6284E57}"/>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C7F02359-BD3F-956A-DD3E-417A867B8288}"/>
              </a:ext>
            </a:extLst>
          </p:cNvPr>
          <p:cNvSpPr txBox="1"/>
          <p:nvPr/>
        </p:nvSpPr>
        <p:spPr>
          <a:xfrm>
            <a:off x="0" y="169328"/>
            <a:ext cx="9126594"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solidFill>
                  <a:srgbClr val="0D47A1"/>
                </a:solidFill>
                <a:latin typeface="Georgia" panose="02040502050405020303" pitchFamily="18" charset="0"/>
              </a:rPr>
              <a:t>Highly Charged Outpatient Procedure</a:t>
            </a:r>
            <a:endParaRPr lang="en-IN" sz="2000" b="1" i="1" dirty="0">
              <a:solidFill>
                <a:srgbClr val="0D47A1"/>
              </a:solidFill>
              <a:latin typeface="Georgia" panose="02040502050405020303" pitchFamily="18" charset="0"/>
            </a:endParaRPr>
          </a:p>
        </p:txBody>
      </p:sp>
      <p:pic>
        <p:nvPicPr>
          <p:cNvPr id="11" name="Picture 10">
            <a:extLst>
              <a:ext uri="{FF2B5EF4-FFF2-40B4-BE49-F238E27FC236}">
                <a16:creationId xmlns:a16="http://schemas.microsoft.com/office/drawing/2014/main" id="{C2B77C77-BA07-9EE8-9E51-24B1FEF5A302}"/>
              </a:ext>
            </a:extLst>
          </p:cNvPr>
          <p:cNvPicPr>
            <a:picLocks noChangeAspect="1"/>
          </p:cNvPicPr>
          <p:nvPr/>
        </p:nvPicPr>
        <p:blipFill>
          <a:blip r:embed="rId3"/>
          <a:stretch>
            <a:fillRect/>
          </a:stretch>
        </p:blipFill>
        <p:spPr>
          <a:xfrm>
            <a:off x="252824" y="666977"/>
            <a:ext cx="8582832" cy="2724809"/>
          </a:xfrm>
          <a:prstGeom prst="rect">
            <a:avLst/>
          </a:prstGeom>
        </p:spPr>
      </p:pic>
      <p:sp>
        <p:nvSpPr>
          <p:cNvPr id="12" name="TextBox 11">
            <a:extLst>
              <a:ext uri="{FF2B5EF4-FFF2-40B4-BE49-F238E27FC236}">
                <a16:creationId xmlns:a16="http://schemas.microsoft.com/office/drawing/2014/main" id="{B1B71C52-3835-3E84-C40E-62DE475AE9DE}"/>
              </a:ext>
            </a:extLst>
          </p:cNvPr>
          <p:cNvSpPr txBox="1"/>
          <p:nvPr/>
        </p:nvSpPr>
        <p:spPr>
          <a:xfrm>
            <a:off x="334926" y="3554842"/>
            <a:ext cx="8474148" cy="1077218"/>
          </a:xfrm>
          <a:prstGeom prst="rect">
            <a:avLst/>
          </a:prstGeom>
          <a:noFill/>
        </p:spPr>
        <p:txBody>
          <a:bodyPr wrap="square" rtlCol="0">
            <a:spAutoFit/>
          </a:bodyPr>
          <a:lstStyle/>
          <a:p>
            <a:r>
              <a:rPr lang="en-US" sz="1600" dirty="0">
                <a:latin typeface="Georgia" panose="02040502050405020303" pitchFamily="18" charset="0"/>
              </a:rPr>
              <a:t>Darkest green section represents the highest-charged outpatient service, which is </a:t>
            </a:r>
            <a:r>
              <a:rPr lang="en-US" sz="1600" b="1" dirty="0">
                <a:latin typeface="Georgia" panose="02040502050405020303" pitchFamily="18" charset="0"/>
              </a:rPr>
              <a:t>Level IV Endoscopy Upper Airway (6.8K)</a:t>
            </a:r>
            <a:r>
              <a:rPr lang="en-US" sz="1600" dirty="0">
                <a:latin typeface="Georgia" panose="02040502050405020303" pitchFamily="18" charset="0"/>
              </a:rPr>
              <a:t>. Other services like </a:t>
            </a:r>
            <a:r>
              <a:rPr lang="en-US" sz="1600" b="1" dirty="0">
                <a:latin typeface="Georgia" panose="02040502050405020303" pitchFamily="18" charset="0"/>
              </a:rPr>
              <a:t>Cardiac Imaging </a:t>
            </a:r>
            <a:r>
              <a:rPr lang="en-US" sz="1600" dirty="0">
                <a:latin typeface="Georgia" panose="02040502050405020303" pitchFamily="18" charset="0"/>
              </a:rPr>
              <a:t>and</a:t>
            </a:r>
            <a:r>
              <a:rPr lang="en-US" sz="1600" b="1" dirty="0">
                <a:latin typeface="Georgia" panose="02040502050405020303" pitchFamily="18" charset="0"/>
              </a:rPr>
              <a:t> Nerve Injections</a:t>
            </a:r>
            <a:r>
              <a:rPr lang="en-US" sz="1600" dirty="0">
                <a:latin typeface="Georgia" panose="02040502050405020303" pitchFamily="18" charset="0"/>
              </a:rPr>
              <a:t> have relatively high charges but are lower in comparison. The lighter the green, the lower the charge for that service.</a:t>
            </a:r>
            <a:endParaRPr lang="en-IN" sz="1600" dirty="0">
              <a:latin typeface="Georgia" panose="02040502050405020303" pitchFamily="18" charset="0"/>
            </a:endParaRPr>
          </a:p>
        </p:txBody>
      </p:sp>
    </p:spTree>
    <p:extLst>
      <p:ext uri="{BB962C8B-B14F-4D97-AF65-F5344CB8AC3E}">
        <p14:creationId xmlns:p14="http://schemas.microsoft.com/office/powerpoint/2010/main" val="1711539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3ECCBC8E-456C-32F8-88CC-74A47056D7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B57DE3-092B-8514-4441-A7309AF60DAD}"/>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5E5F2208-74B0-9648-211C-9D34EA456711}"/>
              </a:ext>
            </a:extLst>
          </p:cNvPr>
          <p:cNvPicPr>
            <a:picLocks noChangeAspect="1"/>
          </p:cNvPicPr>
          <p:nvPr/>
        </p:nvPicPr>
        <p:blipFill>
          <a:blip r:embed="rId3"/>
          <a:stretch>
            <a:fillRect/>
          </a:stretch>
        </p:blipFill>
        <p:spPr>
          <a:xfrm>
            <a:off x="190819" y="682310"/>
            <a:ext cx="5210521" cy="3991532"/>
          </a:xfrm>
          <a:prstGeom prst="rect">
            <a:avLst/>
          </a:prstGeom>
        </p:spPr>
      </p:pic>
      <p:sp>
        <p:nvSpPr>
          <p:cNvPr id="5" name="TextBox 4">
            <a:extLst>
              <a:ext uri="{FF2B5EF4-FFF2-40B4-BE49-F238E27FC236}">
                <a16:creationId xmlns:a16="http://schemas.microsoft.com/office/drawing/2014/main" id="{E36E0A9C-1BD6-7612-4F19-DC65D18301F8}"/>
              </a:ext>
            </a:extLst>
          </p:cNvPr>
          <p:cNvSpPr txBox="1"/>
          <p:nvPr/>
        </p:nvSpPr>
        <p:spPr>
          <a:xfrm>
            <a:off x="0" y="158694"/>
            <a:ext cx="9126594"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solidFill>
                  <a:srgbClr val="0D47A1"/>
                </a:solidFill>
                <a:latin typeface="Georgia" panose="02040502050405020303" pitchFamily="18" charset="0"/>
              </a:rPr>
              <a:t>Number of Procedure and Provider per State</a:t>
            </a:r>
            <a:endParaRPr lang="en-IN" sz="2000" b="1" i="1" dirty="0">
              <a:solidFill>
                <a:srgbClr val="0D47A1"/>
              </a:solidFill>
              <a:latin typeface="Georgia" panose="02040502050405020303" pitchFamily="18" charset="0"/>
            </a:endParaRPr>
          </a:p>
        </p:txBody>
      </p:sp>
      <p:sp>
        <p:nvSpPr>
          <p:cNvPr id="6" name="TextBox 5">
            <a:extLst>
              <a:ext uri="{FF2B5EF4-FFF2-40B4-BE49-F238E27FC236}">
                <a16:creationId xmlns:a16="http://schemas.microsoft.com/office/drawing/2014/main" id="{A254EA15-3BFB-F83C-C44A-CC93B57ADC11}"/>
              </a:ext>
            </a:extLst>
          </p:cNvPr>
          <p:cNvSpPr txBox="1"/>
          <p:nvPr/>
        </p:nvSpPr>
        <p:spPr>
          <a:xfrm>
            <a:off x="5401340" y="1477747"/>
            <a:ext cx="3476846" cy="2400657"/>
          </a:xfrm>
          <a:prstGeom prst="rect">
            <a:avLst/>
          </a:prstGeom>
          <a:noFill/>
        </p:spPr>
        <p:txBody>
          <a:bodyPr wrap="square" rtlCol="0" anchor="ctr">
            <a:spAutoFit/>
          </a:bodyPr>
          <a:lstStyle/>
          <a:p>
            <a:pPr marL="285750" indent="-285750">
              <a:spcAft>
                <a:spcPts val="600"/>
              </a:spcAft>
              <a:buFont typeface="Arial" panose="020B0604020202020204" pitchFamily="34" charset="0"/>
              <a:buChar char="•"/>
            </a:pPr>
            <a:r>
              <a:rPr lang="en-US" dirty="0">
                <a:solidFill>
                  <a:schemeClr val="tx1"/>
                </a:solidFill>
                <a:latin typeface="Georgia" panose="02040502050405020303" pitchFamily="18" charset="0"/>
              </a:rPr>
              <a:t>CA, TX, and FL lead in both provider count and procedure volume.</a:t>
            </a:r>
          </a:p>
          <a:p>
            <a:pPr marL="285750" indent="-285750">
              <a:spcAft>
                <a:spcPts val="600"/>
              </a:spcAft>
              <a:buFont typeface="Arial" panose="020B0604020202020204" pitchFamily="34" charset="0"/>
              <a:buChar char="•"/>
            </a:pPr>
            <a:r>
              <a:rPr lang="en-US" dirty="0">
                <a:solidFill>
                  <a:schemeClr val="tx1"/>
                </a:solidFill>
                <a:latin typeface="Georgia" panose="02040502050405020303" pitchFamily="18" charset="0"/>
              </a:rPr>
              <a:t>Higher provider counts generally correspond to higher procedure counts, but some state(e.g., PA, OH) have fewer providers handling a significant number of procedures.</a:t>
            </a:r>
          </a:p>
          <a:p>
            <a:pPr marL="285750" indent="-285750">
              <a:spcAft>
                <a:spcPts val="600"/>
              </a:spcAft>
              <a:buFont typeface="Arial" panose="020B0604020202020204" pitchFamily="34" charset="0"/>
              <a:buChar char="•"/>
            </a:pPr>
            <a:r>
              <a:rPr lang="en-US" dirty="0">
                <a:latin typeface="Georgia" panose="02040502050405020303" pitchFamily="18" charset="0"/>
              </a:rPr>
              <a:t>Smaller states (e.g., MO, TN, IN) have lower counts, indicating fewer healthcare providers and procedures.</a:t>
            </a:r>
            <a:endParaRPr lang="en-IN" dirty="0">
              <a:solidFill>
                <a:schemeClr val="tx1"/>
              </a:solidFill>
              <a:latin typeface="Georgia" panose="02040502050405020303" pitchFamily="18" charset="0"/>
            </a:endParaRPr>
          </a:p>
        </p:txBody>
      </p:sp>
    </p:spTree>
    <p:extLst>
      <p:ext uri="{BB962C8B-B14F-4D97-AF65-F5344CB8AC3E}">
        <p14:creationId xmlns:p14="http://schemas.microsoft.com/office/powerpoint/2010/main" val="2348228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23C375FC-68BF-01D7-9829-962D55ABD20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57E8A1E-7F18-2950-9754-A37D3AF192EA}"/>
              </a:ext>
            </a:extLst>
          </p:cNvPr>
          <p:cNvPicPr>
            <a:picLocks noChangeAspect="1"/>
          </p:cNvPicPr>
          <p:nvPr/>
        </p:nvPicPr>
        <p:blipFill>
          <a:blip r:embed="rId2"/>
          <a:stretch>
            <a:fillRect/>
          </a:stretch>
        </p:blipFill>
        <p:spPr>
          <a:xfrm>
            <a:off x="229344" y="1082444"/>
            <a:ext cx="6017309" cy="3202690"/>
          </a:xfrm>
          <a:prstGeom prst="rect">
            <a:avLst/>
          </a:prstGeom>
          <a:ln>
            <a:solidFill>
              <a:schemeClr val="tx1"/>
            </a:solidFill>
          </a:ln>
        </p:spPr>
      </p:pic>
      <p:sp>
        <p:nvSpPr>
          <p:cNvPr id="5" name="TextBox 4">
            <a:extLst>
              <a:ext uri="{FF2B5EF4-FFF2-40B4-BE49-F238E27FC236}">
                <a16:creationId xmlns:a16="http://schemas.microsoft.com/office/drawing/2014/main" id="{B3797FEC-6794-1A95-D314-F231455FECB9}"/>
              </a:ext>
            </a:extLst>
          </p:cNvPr>
          <p:cNvSpPr txBox="1"/>
          <p:nvPr/>
        </p:nvSpPr>
        <p:spPr>
          <a:xfrm>
            <a:off x="0" y="261612"/>
            <a:ext cx="9144000"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solidFill>
                  <a:srgbClr val="0D47A1"/>
                </a:solidFill>
                <a:latin typeface="Georgia" panose="02040502050405020303" pitchFamily="18" charset="0"/>
              </a:rPr>
              <a:t>Geographical Locations of Highest Medicare Coverage Providers</a:t>
            </a:r>
            <a:endParaRPr lang="en-IN" sz="2000" b="1" i="1" dirty="0">
              <a:solidFill>
                <a:srgbClr val="0D47A1"/>
              </a:solidFill>
              <a:latin typeface="Georgia" panose="02040502050405020303" pitchFamily="18" charset="0"/>
            </a:endParaRPr>
          </a:p>
        </p:txBody>
      </p:sp>
      <p:sp>
        <p:nvSpPr>
          <p:cNvPr id="6" name="TextBox 5">
            <a:extLst>
              <a:ext uri="{FF2B5EF4-FFF2-40B4-BE49-F238E27FC236}">
                <a16:creationId xmlns:a16="http://schemas.microsoft.com/office/drawing/2014/main" id="{B790E970-9FDB-E9B0-76B1-B9FE0FBC41FF}"/>
              </a:ext>
            </a:extLst>
          </p:cNvPr>
          <p:cNvSpPr txBox="1"/>
          <p:nvPr/>
        </p:nvSpPr>
        <p:spPr>
          <a:xfrm>
            <a:off x="6246653" y="1479143"/>
            <a:ext cx="2567016" cy="2185214"/>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dirty="0">
                <a:latin typeface="Georgia" panose="02040502050405020303" pitchFamily="18" charset="0"/>
              </a:rPr>
              <a:t>Max providers are from Tx and CA indicates a strong healthcare access</a:t>
            </a:r>
          </a:p>
          <a:p>
            <a:pPr marL="285750" indent="-285750">
              <a:buFont typeface="Arial" panose="020B0604020202020204" pitchFamily="34" charset="0"/>
              <a:buChar char="•"/>
            </a:pPr>
            <a:r>
              <a:rPr lang="en-US" dirty="0">
                <a:latin typeface="Georgia" panose="02040502050405020303" pitchFamily="18" charset="0"/>
              </a:rPr>
              <a:t>High Medicare coverage is distributed across both urban and rural areas in multiple states, indicating a strong nationwide provider network.</a:t>
            </a:r>
            <a:endParaRPr lang="en-IN" dirty="0">
              <a:latin typeface="Georgia" panose="02040502050405020303" pitchFamily="18" charset="0"/>
            </a:endParaRPr>
          </a:p>
        </p:txBody>
      </p:sp>
    </p:spTree>
    <p:extLst>
      <p:ext uri="{BB962C8B-B14F-4D97-AF65-F5344CB8AC3E}">
        <p14:creationId xmlns:p14="http://schemas.microsoft.com/office/powerpoint/2010/main" val="1390593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32E48952-469A-02D0-B2E7-D8E3418AAD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5C19BE-0577-3ED1-8DD1-3E9798B8575F}"/>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4" name="Title 3">
            <a:extLst>
              <a:ext uri="{FF2B5EF4-FFF2-40B4-BE49-F238E27FC236}">
                <a16:creationId xmlns:a16="http://schemas.microsoft.com/office/drawing/2014/main" id="{F59DCFE4-77A1-AFBB-F8E0-CFC418D34546}"/>
              </a:ext>
            </a:extLst>
          </p:cNvPr>
          <p:cNvSpPr>
            <a:spLocks noGrp="1"/>
          </p:cNvSpPr>
          <p:nvPr>
            <p:ph type="title"/>
          </p:nvPr>
        </p:nvSpPr>
        <p:spPr/>
        <p:txBody>
          <a:bodyPr/>
          <a:lstStyle/>
          <a:p>
            <a:br>
              <a:rPr lang="en-IN" dirty="0"/>
            </a:br>
            <a:endParaRPr lang="en-IN" dirty="0"/>
          </a:p>
        </p:txBody>
      </p:sp>
      <p:sp>
        <p:nvSpPr>
          <p:cNvPr id="6" name="TextBox 5">
            <a:extLst>
              <a:ext uri="{FF2B5EF4-FFF2-40B4-BE49-F238E27FC236}">
                <a16:creationId xmlns:a16="http://schemas.microsoft.com/office/drawing/2014/main" id="{D3A4F71E-AED6-1C40-879A-03AD45C1DC0C}"/>
              </a:ext>
            </a:extLst>
          </p:cNvPr>
          <p:cNvSpPr txBox="1"/>
          <p:nvPr/>
        </p:nvSpPr>
        <p:spPr>
          <a:xfrm>
            <a:off x="1661" y="258844"/>
            <a:ext cx="9124933"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solidFill>
                  <a:srgbClr val="0D47A1"/>
                </a:solidFill>
                <a:latin typeface="Georgia" panose="02040502050405020303" pitchFamily="18" charset="0"/>
              </a:rPr>
              <a:t>Total Discharge Rate Per Hospital Region</a:t>
            </a:r>
            <a:endParaRPr lang="en-IN" sz="2000" b="1" i="1" dirty="0">
              <a:solidFill>
                <a:srgbClr val="0D47A1"/>
              </a:solidFill>
              <a:latin typeface="Georgia" panose="02040502050405020303" pitchFamily="18" charset="0"/>
            </a:endParaRPr>
          </a:p>
        </p:txBody>
      </p:sp>
      <p:pic>
        <p:nvPicPr>
          <p:cNvPr id="10" name="Picture 9">
            <a:extLst>
              <a:ext uri="{FF2B5EF4-FFF2-40B4-BE49-F238E27FC236}">
                <a16:creationId xmlns:a16="http://schemas.microsoft.com/office/drawing/2014/main" id="{7917A700-2606-B337-531E-A9801C9F4BC2}"/>
              </a:ext>
            </a:extLst>
          </p:cNvPr>
          <p:cNvPicPr>
            <a:picLocks noChangeAspect="1"/>
          </p:cNvPicPr>
          <p:nvPr/>
        </p:nvPicPr>
        <p:blipFill>
          <a:blip r:embed="rId3"/>
          <a:stretch>
            <a:fillRect/>
          </a:stretch>
        </p:blipFill>
        <p:spPr>
          <a:xfrm>
            <a:off x="180362" y="853200"/>
            <a:ext cx="8783276" cy="2248647"/>
          </a:xfrm>
          <a:prstGeom prst="rect">
            <a:avLst/>
          </a:prstGeom>
        </p:spPr>
      </p:pic>
      <p:sp>
        <p:nvSpPr>
          <p:cNvPr id="11" name="TextBox 10">
            <a:extLst>
              <a:ext uri="{FF2B5EF4-FFF2-40B4-BE49-F238E27FC236}">
                <a16:creationId xmlns:a16="http://schemas.microsoft.com/office/drawing/2014/main" id="{01D43DA7-C3D4-D7A5-8166-4BA9413A22BF}"/>
              </a:ext>
            </a:extLst>
          </p:cNvPr>
          <p:cNvSpPr txBox="1"/>
          <p:nvPr/>
        </p:nvSpPr>
        <p:spPr>
          <a:xfrm>
            <a:off x="302398" y="3296093"/>
            <a:ext cx="8661240" cy="1231106"/>
          </a:xfrm>
          <a:prstGeom prst="rect">
            <a:avLst/>
          </a:prstGeom>
          <a:noFill/>
        </p:spPr>
        <p:txBody>
          <a:bodyPr wrap="square" rtlCol="0">
            <a:spAutoFit/>
          </a:bodyPr>
          <a:lstStyle/>
          <a:p>
            <a:pPr marL="285750" indent="-285750" eaLnBrk="0" fontAlgn="base" hangingPunct="0">
              <a:spcBef>
                <a:spcPct val="0"/>
              </a:spcBef>
              <a:spcAft>
                <a:spcPts val="1200"/>
              </a:spcAft>
              <a:buClrTx/>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eorgia" panose="02040502050405020303" pitchFamily="18" charset="0"/>
              </a:rPr>
              <a:t>Boston leads in both inpatient discharges (152K) and outpatient services (1342K), indicating a high patient volume. </a:t>
            </a:r>
          </a:p>
          <a:p>
            <a:pPr marL="285750" indent="-285750" eaLnBrk="0" fontAlgn="base" hangingPunct="0">
              <a:spcBef>
                <a:spcPct val="0"/>
              </a:spcBef>
              <a:spcAft>
                <a:spcPct val="0"/>
              </a:spcAft>
              <a:buClrTx/>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eorgia" panose="02040502050405020303" pitchFamily="18" charset="0"/>
              </a:rPr>
              <a:t>Los Angeles and East Long Island see more inpatient discharges, while Cleveland and Seattle rank high in outpatient services.</a:t>
            </a:r>
          </a:p>
        </p:txBody>
      </p:sp>
    </p:spTree>
    <p:extLst>
      <p:ext uri="{BB962C8B-B14F-4D97-AF65-F5344CB8AC3E}">
        <p14:creationId xmlns:p14="http://schemas.microsoft.com/office/powerpoint/2010/main" val="424253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906A5A5C-D6E2-6D14-C2C8-B66ECA5910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1A04AD-A5BE-23F9-8EEA-70CF658784C3}"/>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3" name="TextBox 2">
            <a:extLst>
              <a:ext uri="{FF2B5EF4-FFF2-40B4-BE49-F238E27FC236}">
                <a16:creationId xmlns:a16="http://schemas.microsoft.com/office/drawing/2014/main" id="{ECFCCA0F-2C0D-907D-79C8-E9EF7ED825F9}"/>
              </a:ext>
            </a:extLst>
          </p:cNvPr>
          <p:cNvSpPr txBox="1"/>
          <p:nvPr/>
        </p:nvSpPr>
        <p:spPr>
          <a:xfrm>
            <a:off x="3514055" y="1227650"/>
            <a:ext cx="3413054" cy="707886"/>
          </a:xfrm>
          <a:prstGeom prst="rect">
            <a:avLst/>
          </a:prstGeom>
          <a:noFill/>
        </p:spPr>
        <p:txBody>
          <a:bodyPr wrap="square" rtlCol="0">
            <a:spAutoFit/>
          </a:bodyPr>
          <a:lstStyle/>
          <a:p>
            <a:r>
              <a:rPr lang="en-IN" sz="4000" dirty="0">
                <a:solidFill>
                  <a:schemeClr val="tx1"/>
                </a:solidFill>
                <a:latin typeface="Georgia" panose="02040502050405020303" pitchFamily="18" charset="0"/>
              </a:rPr>
              <a:t>DASHBOARD</a:t>
            </a:r>
          </a:p>
        </p:txBody>
      </p:sp>
      <p:sp>
        <p:nvSpPr>
          <p:cNvPr id="5" name="Rectangle 4">
            <a:extLst>
              <a:ext uri="{FF2B5EF4-FFF2-40B4-BE49-F238E27FC236}">
                <a16:creationId xmlns:a16="http://schemas.microsoft.com/office/drawing/2014/main" id="{511643AF-9138-88EF-BA92-5AB503E27E2C}"/>
              </a:ext>
            </a:extLst>
          </p:cNvPr>
          <p:cNvSpPr/>
          <p:nvPr/>
        </p:nvSpPr>
        <p:spPr>
          <a:xfrm>
            <a:off x="2216890" y="1395934"/>
            <a:ext cx="1297168" cy="2519916"/>
          </a:xfrm>
          <a:prstGeom prst="rect">
            <a:avLst/>
          </a:prstGeom>
          <a:solidFill>
            <a:srgbClr val="0D47A1"/>
          </a:solidFill>
          <a:ln>
            <a:solidFill>
              <a:srgbClr val="E3F2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A71D67E-BA21-63DF-DD14-971A7A19C718}"/>
              </a:ext>
            </a:extLst>
          </p:cNvPr>
          <p:cNvSpPr/>
          <p:nvPr/>
        </p:nvSpPr>
        <p:spPr>
          <a:xfrm>
            <a:off x="3354572" y="1906295"/>
            <a:ext cx="1297168" cy="2009554"/>
          </a:xfrm>
          <a:prstGeom prst="rect">
            <a:avLst/>
          </a:prstGeom>
          <a:solidFill>
            <a:srgbClr val="0D47A1"/>
          </a:solidFill>
          <a:ln>
            <a:solidFill>
              <a:srgbClr val="E3F2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59CBE825-7975-2D47-611F-F542E9008772}"/>
              </a:ext>
            </a:extLst>
          </p:cNvPr>
          <p:cNvSpPr/>
          <p:nvPr/>
        </p:nvSpPr>
        <p:spPr>
          <a:xfrm>
            <a:off x="4492254" y="2278436"/>
            <a:ext cx="1297170" cy="1637414"/>
          </a:xfrm>
          <a:prstGeom prst="rect">
            <a:avLst/>
          </a:prstGeom>
          <a:solidFill>
            <a:srgbClr val="0D47A1"/>
          </a:solidFill>
          <a:ln>
            <a:solidFill>
              <a:srgbClr val="E3F2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DB640248-6F84-5F37-B6DF-B35FE64A58CF}"/>
              </a:ext>
            </a:extLst>
          </p:cNvPr>
          <p:cNvSpPr/>
          <p:nvPr/>
        </p:nvSpPr>
        <p:spPr>
          <a:xfrm>
            <a:off x="5629936" y="2788798"/>
            <a:ext cx="1297170" cy="1127051"/>
          </a:xfrm>
          <a:prstGeom prst="rect">
            <a:avLst/>
          </a:prstGeom>
          <a:solidFill>
            <a:srgbClr val="0D47A1"/>
          </a:solidFill>
          <a:ln>
            <a:solidFill>
              <a:srgbClr val="E3F2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80241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2BC93CBA-534D-902C-8242-00A8B952AC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5037ED-998D-B254-E27C-328CB0332390}"/>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0FF38B0B-63D2-A486-8964-09D45F39CA39}"/>
              </a:ext>
            </a:extLst>
          </p:cNvPr>
          <p:cNvPicPr>
            <a:picLocks noChangeAspect="1"/>
          </p:cNvPicPr>
          <p:nvPr/>
        </p:nvPicPr>
        <p:blipFill>
          <a:blip r:embed="rId3"/>
          <a:stretch>
            <a:fillRect/>
          </a:stretch>
        </p:blipFill>
        <p:spPr>
          <a:xfrm>
            <a:off x="30398" y="-1"/>
            <a:ext cx="9096195" cy="4687081"/>
          </a:xfrm>
          <a:prstGeom prst="rect">
            <a:avLst/>
          </a:prstGeom>
        </p:spPr>
      </p:pic>
    </p:spTree>
    <p:extLst>
      <p:ext uri="{BB962C8B-B14F-4D97-AF65-F5344CB8AC3E}">
        <p14:creationId xmlns:p14="http://schemas.microsoft.com/office/powerpoint/2010/main" val="3417380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23E6DF26-E273-C352-C383-941197579B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91604C-7F23-A8A8-BD3B-31BE83C787D2}"/>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5" name="Picture 4">
            <a:extLst>
              <a:ext uri="{FF2B5EF4-FFF2-40B4-BE49-F238E27FC236}">
                <a16:creationId xmlns:a16="http://schemas.microsoft.com/office/drawing/2014/main" id="{E5137C77-09F5-3E23-D986-2B09C61BC1A5}"/>
              </a:ext>
            </a:extLst>
          </p:cNvPr>
          <p:cNvPicPr>
            <a:picLocks noChangeAspect="1"/>
          </p:cNvPicPr>
          <p:nvPr/>
        </p:nvPicPr>
        <p:blipFill>
          <a:blip r:embed="rId3"/>
          <a:stretch>
            <a:fillRect/>
          </a:stretch>
        </p:blipFill>
        <p:spPr>
          <a:xfrm>
            <a:off x="29485" y="0"/>
            <a:ext cx="9085029" cy="4742121"/>
          </a:xfrm>
          <a:prstGeom prst="rect">
            <a:avLst/>
          </a:prstGeom>
        </p:spPr>
      </p:pic>
    </p:spTree>
    <p:extLst>
      <p:ext uri="{BB962C8B-B14F-4D97-AF65-F5344CB8AC3E}">
        <p14:creationId xmlns:p14="http://schemas.microsoft.com/office/powerpoint/2010/main" val="2691159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D41586A8-E071-F3BB-2691-98E9E887A5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ACC57A4-038B-8AB0-6FAD-D172D40A28CD}"/>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5" name="Picture 4">
            <a:extLst>
              <a:ext uri="{FF2B5EF4-FFF2-40B4-BE49-F238E27FC236}">
                <a16:creationId xmlns:a16="http://schemas.microsoft.com/office/drawing/2014/main" id="{BE187E0F-ABBA-0489-E902-40408F3D485C}"/>
              </a:ext>
            </a:extLst>
          </p:cNvPr>
          <p:cNvPicPr>
            <a:picLocks noChangeAspect="1"/>
          </p:cNvPicPr>
          <p:nvPr/>
        </p:nvPicPr>
        <p:blipFill>
          <a:blip r:embed="rId3"/>
          <a:stretch>
            <a:fillRect/>
          </a:stretch>
        </p:blipFill>
        <p:spPr>
          <a:xfrm>
            <a:off x="34531" y="0"/>
            <a:ext cx="9074937" cy="4727448"/>
          </a:xfrm>
          <a:prstGeom prst="rect">
            <a:avLst/>
          </a:prstGeom>
        </p:spPr>
      </p:pic>
    </p:spTree>
    <p:extLst>
      <p:ext uri="{BB962C8B-B14F-4D97-AF65-F5344CB8AC3E}">
        <p14:creationId xmlns:p14="http://schemas.microsoft.com/office/powerpoint/2010/main" val="1102782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0A7B4C54-5695-1F4E-C956-F368FBC699E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EB0DC31-556B-9057-0EDE-32738AECF26B}"/>
              </a:ext>
            </a:extLst>
          </p:cNvPr>
          <p:cNvSpPr txBox="1"/>
          <p:nvPr/>
        </p:nvSpPr>
        <p:spPr>
          <a:xfrm>
            <a:off x="964061" y="266276"/>
            <a:ext cx="7215878"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latin typeface="Georgia" panose="02040502050405020303" pitchFamily="18" charset="0"/>
              </a:rPr>
              <a:t>Power BI Dashboard Deployment to Power BI Server</a:t>
            </a:r>
            <a:endParaRPr lang="en-IN" sz="2000" b="1" dirty="0">
              <a:solidFill>
                <a:schemeClr val="tx1"/>
              </a:solidFill>
              <a:latin typeface="Georgia" panose="02040502050405020303" pitchFamily="18" charset="0"/>
            </a:endParaRPr>
          </a:p>
        </p:txBody>
      </p:sp>
      <p:sp>
        <p:nvSpPr>
          <p:cNvPr id="9" name="TextBox 8">
            <a:extLst>
              <a:ext uri="{FF2B5EF4-FFF2-40B4-BE49-F238E27FC236}">
                <a16:creationId xmlns:a16="http://schemas.microsoft.com/office/drawing/2014/main" id="{3634B300-CC65-DA23-5070-26CA52B5EB50}"/>
              </a:ext>
            </a:extLst>
          </p:cNvPr>
          <p:cNvSpPr txBox="1"/>
          <p:nvPr/>
        </p:nvSpPr>
        <p:spPr>
          <a:xfrm>
            <a:off x="392076" y="1138286"/>
            <a:ext cx="8359848" cy="523220"/>
          </a:xfrm>
          <a:prstGeom prst="rect">
            <a:avLst/>
          </a:prstGeom>
          <a:noFill/>
        </p:spPr>
        <p:txBody>
          <a:bodyPr wrap="square">
            <a:spAutoFit/>
          </a:bodyPr>
          <a:lstStyle/>
          <a:p>
            <a:pPr algn="ctr"/>
            <a:r>
              <a:rPr lang="en-US" dirty="0">
                <a:latin typeface="Georgia" panose="02040502050405020303" pitchFamily="18" charset="0"/>
              </a:rPr>
              <a:t>The Power BI dashboard was published to </a:t>
            </a:r>
            <a:r>
              <a:rPr lang="en-US" b="1" dirty="0">
                <a:solidFill>
                  <a:srgbClr val="0D47A1"/>
                </a:solidFill>
                <a:latin typeface="Georgia" panose="02040502050405020303" pitchFamily="18" charset="0"/>
              </a:rPr>
              <a:t>“Healthcare Project"</a:t>
            </a:r>
            <a:r>
              <a:rPr lang="en-US" dirty="0">
                <a:solidFill>
                  <a:srgbClr val="0D47A1"/>
                </a:solidFill>
                <a:latin typeface="Georgia" panose="02040502050405020303" pitchFamily="18" charset="0"/>
              </a:rPr>
              <a:t> </a:t>
            </a:r>
            <a:r>
              <a:rPr lang="en-US" dirty="0">
                <a:latin typeface="Georgia" panose="02040502050405020303" pitchFamily="18" charset="0"/>
              </a:rPr>
              <a:t>in Power BI Service for easy access and sharing.</a:t>
            </a:r>
            <a:endParaRPr lang="en-IN" dirty="0">
              <a:latin typeface="Georgia" panose="02040502050405020303" pitchFamily="18" charset="0"/>
            </a:endParaRPr>
          </a:p>
        </p:txBody>
      </p:sp>
      <p:pic>
        <p:nvPicPr>
          <p:cNvPr id="13" name="Picture 12">
            <a:extLst>
              <a:ext uri="{FF2B5EF4-FFF2-40B4-BE49-F238E27FC236}">
                <a16:creationId xmlns:a16="http://schemas.microsoft.com/office/drawing/2014/main" id="{CD6E0EEA-423B-1501-5163-8F2E9ADAB9E6}"/>
              </a:ext>
            </a:extLst>
          </p:cNvPr>
          <p:cNvPicPr>
            <a:picLocks noChangeAspect="1"/>
          </p:cNvPicPr>
          <p:nvPr/>
        </p:nvPicPr>
        <p:blipFill>
          <a:blip r:embed="rId2"/>
          <a:stretch>
            <a:fillRect/>
          </a:stretch>
        </p:blipFill>
        <p:spPr>
          <a:xfrm>
            <a:off x="148856" y="2205197"/>
            <a:ext cx="8651602" cy="2148202"/>
          </a:xfrm>
          <a:prstGeom prst="rect">
            <a:avLst/>
          </a:prstGeom>
        </p:spPr>
      </p:pic>
    </p:spTree>
    <p:extLst>
      <p:ext uri="{BB962C8B-B14F-4D97-AF65-F5344CB8AC3E}">
        <p14:creationId xmlns:p14="http://schemas.microsoft.com/office/powerpoint/2010/main" val="1858359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F3FFB44A-FA76-DAD6-2547-9039020900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280EE5-819B-B99C-C5C6-2528BC3B6342}"/>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5C70CF8A-A4B3-EC1D-6240-0B98D5D53DDA}"/>
              </a:ext>
            </a:extLst>
          </p:cNvPr>
          <p:cNvPicPr>
            <a:picLocks noChangeAspect="1"/>
          </p:cNvPicPr>
          <p:nvPr/>
        </p:nvPicPr>
        <p:blipFill>
          <a:blip r:embed="rId3"/>
          <a:stretch>
            <a:fillRect/>
          </a:stretch>
        </p:blipFill>
        <p:spPr>
          <a:xfrm>
            <a:off x="0" y="0"/>
            <a:ext cx="9144000" cy="4752753"/>
          </a:xfrm>
          <a:prstGeom prst="rect">
            <a:avLst/>
          </a:prstGeom>
        </p:spPr>
      </p:pic>
    </p:spTree>
    <p:extLst>
      <p:ext uri="{BB962C8B-B14F-4D97-AF65-F5344CB8AC3E}">
        <p14:creationId xmlns:p14="http://schemas.microsoft.com/office/powerpoint/2010/main" val="3351638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a:stretch>
        </a:blipFill>
        <a:effectLst/>
      </p:bgPr>
    </p:bg>
    <p:spTree>
      <p:nvGrpSpPr>
        <p:cNvPr id="1" name="">
          <a:extLst>
            <a:ext uri="{FF2B5EF4-FFF2-40B4-BE49-F238E27FC236}">
              <a16:creationId xmlns:a16="http://schemas.microsoft.com/office/drawing/2014/main" id="{28CC1B12-5FA4-E15C-A60D-21E4FC4F73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C339C4-90B2-C37F-19C4-168F746861DE}"/>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3"/>
              </a:rPr>
              <a:t>icons8</a:t>
            </a:r>
            <a:r>
              <a:rPr lang="en-IN" sz="500"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0DA658D1-3AD4-AF64-F28B-8EE1664E3681}"/>
              </a:ext>
            </a:extLst>
          </p:cNvPr>
          <p:cNvSpPr txBox="1"/>
          <p:nvPr/>
        </p:nvSpPr>
        <p:spPr>
          <a:xfrm>
            <a:off x="1234440" y="922868"/>
            <a:ext cx="6675120" cy="2750240"/>
          </a:xfrm>
          <a:prstGeom prst="rect">
            <a:avLst/>
          </a:prstGeom>
          <a:noFill/>
        </p:spPr>
        <p:txBody>
          <a:bodyPr wrap="square">
            <a:spAutoFit/>
          </a:bodyPr>
          <a:lstStyle/>
          <a:p>
            <a:pPr algn="ctr">
              <a:lnSpc>
                <a:spcPct val="150000"/>
              </a:lnSpc>
            </a:pPr>
            <a:r>
              <a:rPr lang="en-IN" sz="4000" dirty="0">
                <a:solidFill>
                  <a:srgbClr val="0D47A1"/>
                </a:solidFill>
                <a:latin typeface="Georgia" panose="02040502050405020303" pitchFamily="18" charset="0"/>
              </a:rPr>
              <a:t>Cost Analysis </a:t>
            </a:r>
          </a:p>
          <a:p>
            <a:pPr algn="ctr">
              <a:lnSpc>
                <a:spcPct val="150000"/>
              </a:lnSpc>
            </a:pPr>
            <a:r>
              <a:rPr lang="en-IN" sz="4000" dirty="0">
                <a:solidFill>
                  <a:srgbClr val="0D47A1"/>
                </a:solidFill>
                <a:latin typeface="Georgia" panose="02040502050405020303" pitchFamily="18" charset="0"/>
              </a:rPr>
              <a:t>&amp;</a:t>
            </a:r>
          </a:p>
          <a:p>
            <a:pPr algn="ctr">
              <a:lnSpc>
                <a:spcPct val="150000"/>
              </a:lnSpc>
            </a:pPr>
            <a:r>
              <a:rPr lang="en-IN" sz="4000" dirty="0">
                <a:solidFill>
                  <a:srgbClr val="0D47A1"/>
                </a:solidFill>
                <a:latin typeface="Georgia" panose="02040502050405020303" pitchFamily="18" charset="0"/>
              </a:rPr>
              <a:t> Overcharging Detection</a:t>
            </a:r>
          </a:p>
        </p:txBody>
      </p:sp>
    </p:spTree>
    <p:extLst>
      <p:ext uri="{BB962C8B-B14F-4D97-AF65-F5344CB8AC3E}">
        <p14:creationId xmlns:p14="http://schemas.microsoft.com/office/powerpoint/2010/main" val="1195755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83F170F5-CABA-4564-5E63-B058C7E3EC3F}"/>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4E9F838E-A089-535C-428D-D23026E9B1CB}"/>
              </a:ext>
            </a:extLst>
          </p:cNvPr>
          <p:cNvSpPr>
            <a:spLocks noChangeArrowheads="1"/>
          </p:cNvSpPr>
          <p:nvPr/>
        </p:nvSpPr>
        <p:spPr bwMode="auto">
          <a:xfrm>
            <a:off x="669593" y="1029883"/>
            <a:ext cx="77114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1600" dirty="0">
                <a:latin typeface="Georgia" panose="02040502050405020303" pitchFamily="18" charset="0"/>
              </a:rPr>
              <a:t>Data successfully imported from SQL Server into Python, enabling further analysis.</a:t>
            </a:r>
            <a:endParaRPr kumimoji="0" lang="en-US" altLang="en-US" sz="1600" b="0" i="0" u="none" strike="noStrike" cap="none" normalizeH="0" baseline="0" dirty="0">
              <a:ln>
                <a:noFill/>
              </a:ln>
              <a:solidFill>
                <a:schemeClr val="tx1"/>
              </a:solidFill>
              <a:effectLst/>
              <a:latin typeface="Georgia" panose="02040502050405020303" pitchFamily="18" charset="0"/>
            </a:endParaRPr>
          </a:p>
        </p:txBody>
      </p:sp>
      <p:sp>
        <p:nvSpPr>
          <p:cNvPr id="10" name="TextBox 9">
            <a:extLst>
              <a:ext uri="{FF2B5EF4-FFF2-40B4-BE49-F238E27FC236}">
                <a16:creationId xmlns:a16="http://schemas.microsoft.com/office/drawing/2014/main" id="{0DF3321D-FECB-9570-F1E9-6AC79CA3A59A}"/>
              </a:ext>
            </a:extLst>
          </p:cNvPr>
          <p:cNvSpPr txBox="1"/>
          <p:nvPr/>
        </p:nvSpPr>
        <p:spPr>
          <a:xfrm>
            <a:off x="1086007" y="286546"/>
            <a:ext cx="7259096" cy="400110"/>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000" b="1" i="1" dirty="0">
                <a:solidFill>
                  <a:schemeClr val="tx1"/>
                </a:solidFill>
                <a:latin typeface="Georgia" panose="02040502050405020303" pitchFamily="18" charset="0"/>
              </a:rPr>
              <a:t>Connecting SQL Server to Python for Data Analysis</a:t>
            </a:r>
            <a:endParaRPr lang="en-IN" sz="2000" b="1" i="1" dirty="0">
              <a:solidFill>
                <a:schemeClr val="tx1"/>
              </a:solidFill>
              <a:latin typeface="Georgia" panose="02040502050405020303" pitchFamily="18" charset="0"/>
            </a:endParaRPr>
          </a:p>
        </p:txBody>
      </p:sp>
      <p:grpSp>
        <p:nvGrpSpPr>
          <p:cNvPr id="19" name="Group 18">
            <a:extLst>
              <a:ext uri="{FF2B5EF4-FFF2-40B4-BE49-F238E27FC236}">
                <a16:creationId xmlns:a16="http://schemas.microsoft.com/office/drawing/2014/main" id="{D719659E-5B64-4153-10BA-21B2F489CFA1}"/>
              </a:ext>
            </a:extLst>
          </p:cNvPr>
          <p:cNvGrpSpPr/>
          <p:nvPr/>
        </p:nvGrpSpPr>
        <p:grpSpPr>
          <a:xfrm>
            <a:off x="419598" y="1874617"/>
            <a:ext cx="8304804" cy="2198866"/>
            <a:chOff x="378829" y="2029072"/>
            <a:chExt cx="8304804" cy="2198866"/>
          </a:xfrm>
        </p:grpSpPr>
        <p:graphicFrame>
          <p:nvGraphicFramePr>
            <p:cNvPr id="12" name="Diagram 11">
              <a:extLst>
                <a:ext uri="{FF2B5EF4-FFF2-40B4-BE49-F238E27FC236}">
                  <a16:creationId xmlns:a16="http://schemas.microsoft.com/office/drawing/2014/main" id="{5907786D-2B81-662D-40EC-BCA735F331A8}"/>
                </a:ext>
              </a:extLst>
            </p:cNvPr>
            <p:cNvGraphicFramePr/>
            <p:nvPr>
              <p:extLst>
                <p:ext uri="{D42A27DB-BD31-4B8C-83A1-F6EECF244321}">
                  <p14:modId xmlns:p14="http://schemas.microsoft.com/office/powerpoint/2010/main" val="298254484"/>
                </p:ext>
              </p:extLst>
            </p:nvPr>
          </p:nvGraphicFramePr>
          <p:xfrm>
            <a:off x="378829" y="2029072"/>
            <a:ext cx="8223269" cy="1927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13">
              <a:extLst>
                <a:ext uri="{FF2B5EF4-FFF2-40B4-BE49-F238E27FC236}">
                  <a16:creationId xmlns:a16="http://schemas.microsoft.com/office/drawing/2014/main" id="{0F4E8F9C-A320-564A-F0C9-6C739507A11F}"/>
                </a:ext>
              </a:extLst>
            </p:cNvPr>
            <p:cNvSpPr txBox="1"/>
            <p:nvPr/>
          </p:nvSpPr>
          <p:spPr>
            <a:xfrm>
              <a:off x="2420755" y="3489274"/>
              <a:ext cx="1968365" cy="523220"/>
            </a:xfrm>
            <a:prstGeom prst="rect">
              <a:avLst/>
            </a:prstGeom>
            <a:noFill/>
          </p:spPr>
          <p:txBody>
            <a:bodyPr wrap="square">
              <a:spAutoFit/>
            </a:bodyPr>
            <a:lstStyle/>
            <a:p>
              <a:pPr algn="ctr"/>
              <a:r>
                <a:rPr lang="en-IN" dirty="0">
                  <a:solidFill>
                    <a:schemeClr val="tx1"/>
                  </a:solidFill>
                  <a:latin typeface="Georgia" panose="02040502050405020303" pitchFamily="18" charset="0"/>
                </a:rPr>
                <a:t>(</a:t>
              </a:r>
              <a:r>
                <a:rPr lang="en-IN" dirty="0">
                  <a:solidFill>
                    <a:srgbClr val="0D47A1"/>
                  </a:solidFill>
                  <a:latin typeface="Georgia" panose="02040502050405020303" pitchFamily="18" charset="0"/>
                </a:rPr>
                <a:t>Connects using SQL Alchemy / PyODBC</a:t>
              </a:r>
              <a:r>
                <a:rPr lang="en-IN" dirty="0">
                  <a:solidFill>
                    <a:schemeClr val="tx1"/>
                  </a:solidFill>
                  <a:latin typeface="Georgia" panose="02040502050405020303" pitchFamily="18" charset="0"/>
                </a:rPr>
                <a:t>)</a:t>
              </a:r>
            </a:p>
          </p:txBody>
        </p:sp>
        <p:sp>
          <p:nvSpPr>
            <p:cNvPr id="16" name="TextBox 15">
              <a:extLst>
                <a:ext uri="{FF2B5EF4-FFF2-40B4-BE49-F238E27FC236}">
                  <a16:creationId xmlns:a16="http://schemas.microsoft.com/office/drawing/2014/main" id="{0EF69988-1C97-DFBC-95C2-C939574913B0}"/>
                </a:ext>
              </a:extLst>
            </p:cNvPr>
            <p:cNvSpPr txBox="1"/>
            <p:nvPr/>
          </p:nvSpPr>
          <p:spPr>
            <a:xfrm>
              <a:off x="4484568" y="3489274"/>
              <a:ext cx="2051808" cy="738664"/>
            </a:xfrm>
            <a:prstGeom prst="rect">
              <a:avLst/>
            </a:prstGeom>
            <a:noFill/>
          </p:spPr>
          <p:txBody>
            <a:bodyPr wrap="square">
              <a:spAutoFit/>
            </a:bodyPr>
            <a:lstStyle/>
            <a:p>
              <a:pPr algn="ctr"/>
              <a:r>
                <a:rPr lang="en-IN" dirty="0">
                  <a:solidFill>
                    <a:schemeClr val="tx1"/>
                  </a:solidFill>
                  <a:latin typeface="Georgia" panose="02040502050405020303" pitchFamily="18" charset="0"/>
                </a:rPr>
                <a:t>(</a:t>
              </a:r>
              <a:r>
                <a:rPr lang="en-IN" dirty="0">
                  <a:solidFill>
                    <a:srgbClr val="0D47A1"/>
                  </a:solidFill>
                  <a:latin typeface="Georgia" panose="02040502050405020303" pitchFamily="18" charset="0"/>
                </a:rPr>
                <a:t>Cleaning, Transformation, Feature Engineering</a:t>
              </a:r>
              <a:r>
                <a:rPr lang="en-IN" dirty="0">
                  <a:solidFill>
                    <a:schemeClr val="tx1"/>
                  </a:solidFill>
                  <a:latin typeface="Georgia" panose="02040502050405020303" pitchFamily="18" charset="0"/>
                </a:rPr>
                <a:t>)</a:t>
              </a:r>
            </a:p>
          </p:txBody>
        </p:sp>
        <p:sp>
          <p:nvSpPr>
            <p:cNvPr id="18" name="TextBox 17">
              <a:extLst>
                <a:ext uri="{FF2B5EF4-FFF2-40B4-BE49-F238E27FC236}">
                  <a16:creationId xmlns:a16="http://schemas.microsoft.com/office/drawing/2014/main" id="{CC2B763F-8B2A-B039-D06A-9A5558E88019}"/>
                </a:ext>
              </a:extLst>
            </p:cNvPr>
            <p:cNvSpPr txBox="1"/>
            <p:nvPr/>
          </p:nvSpPr>
          <p:spPr>
            <a:xfrm>
              <a:off x="6508305" y="3495525"/>
              <a:ext cx="2175328" cy="523220"/>
            </a:xfrm>
            <a:prstGeom prst="rect">
              <a:avLst/>
            </a:prstGeom>
            <a:noFill/>
          </p:spPr>
          <p:txBody>
            <a:bodyPr wrap="square">
              <a:spAutoFit/>
            </a:bodyPr>
            <a:lstStyle/>
            <a:p>
              <a:pPr algn="ctr"/>
              <a:r>
                <a:rPr lang="en-IN" dirty="0">
                  <a:latin typeface="Georgia" panose="02040502050405020303" pitchFamily="18" charset="0"/>
                </a:rPr>
                <a:t>(</a:t>
              </a:r>
              <a:r>
                <a:rPr lang="en-IN" dirty="0">
                  <a:solidFill>
                    <a:srgbClr val="0D47A1"/>
                  </a:solidFill>
                  <a:latin typeface="Georgia" panose="02040502050405020303" pitchFamily="18" charset="0"/>
                </a:rPr>
                <a:t>Visualization, Model Building, Reporting</a:t>
              </a:r>
              <a:r>
                <a:rPr lang="en-IN" dirty="0">
                  <a:latin typeface="Georgia" panose="02040502050405020303" pitchFamily="18" charset="0"/>
                </a:rPr>
                <a:t>)</a:t>
              </a:r>
            </a:p>
          </p:txBody>
        </p:sp>
      </p:grpSp>
      <p:sp>
        <p:nvSpPr>
          <p:cNvPr id="20" name="TextBox 19">
            <a:extLst>
              <a:ext uri="{FF2B5EF4-FFF2-40B4-BE49-F238E27FC236}">
                <a16:creationId xmlns:a16="http://schemas.microsoft.com/office/drawing/2014/main" id="{A71F2776-130F-8A7D-DAC3-916601F4AD36}"/>
              </a:ext>
            </a:extLst>
          </p:cNvPr>
          <p:cNvSpPr txBox="1"/>
          <p:nvPr/>
        </p:nvSpPr>
        <p:spPr>
          <a:xfrm>
            <a:off x="491248" y="3421120"/>
            <a:ext cx="1968365" cy="523220"/>
          </a:xfrm>
          <a:prstGeom prst="rect">
            <a:avLst/>
          </a:prstGeom>
          <a:noFill/>
        </p:spPr>
        <p:txBody>
          <a:bodyPr wrap="square">
            <a:spAutoFit/>
          </a:bodyPr>
          <a:lstStyle/>
          <a:p>
            <a:pPr algn="ctr"/>
            <a:r>
              <a:rPr lang="en-IN" dirty="0">
                <a:solidFill>
                  <a:schemeClr val="tx1"/>
                </a:solidFill>
                <a:latin typeface="Georgia" panose="02040502050405020303" pitchFamily="18" charset="0"/>
              </a:rPr>
              <a:t>(</a:t>
            </a:r>
            <a:r>
              <a:rPr lang="en-IN" dirty="0">
                <a:solidFill>
                  <a:srgbClr val="0D47A1"/>
                </a:solidFill>
                <a:latin typeface="Georgia" panose="02040502050405020303" pitchFamily="18" charset="0"/>
              </a:rPr>
              <a:t>Stores structured data</a:t>
            </a:r>
            <a:r>
              <a:rPr lang="en-IN" dirty="0">
                <a:solidFill>
                  <a:schemeClr val="tx1"/>
                </a:solidFill>
                <a:latin typeface="Georgia" panose="02040502050405020303" pitchFamily="18" charset="0"/>
              </a:rPr>
              <a:t>)</a:t>
            </a:r>
          </a:p>
        </p:txBody>
      </p:sp>
    </p:spTree>
    <p:extLst>
      <p:ext uri="{BB962C8B-B14F-4D97-AF65-F5344CB8AC3E}">
        <p14:creationId xmlns:p14="http://schemas.microsoft.com/office/powerpoint/2010/main" val="1714796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0C1F9053-56FA-B12C-C8F2-44EE228233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089B78-DCA0-3BA9-1F41-CC8015CD5C4D}"/>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12" name="TextBox 11">
            <a:extLst>
              <a:ext uri="{FF2B5EF4-FFF2-40B4-BE49-F238E27FC236}">
                <a16:creationId xmlns:a16="http://schemas.microsoft.com/office/drawing/2014/main" id="{3DC927B7-AF73-998B-FFF9-6ADD892EBDE7}"/>
              </a:ext>
            </a:extLst>
          </p:cNvPr>
          <p:cNvSpPr txBox="1"/>
          <p:nvPr/>
        </p:nvSpPr>
        <p:spPr>
          <a:xfrm>
            <a:off x="95331" y="151494"/>
            <a:ext cx="3928030" cy="369332"/>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1800" dirty="0">
                <a:solidFill>
                  <a:srgbClr val="0D47A1"/>
                </a:solidFill>
                <a:latin typeface="Georgia" panose="02040502050405020303" pitchFamily="18" charset="0"/>
              </a:rPr>
              <a:t>Setting Up the Connection in Python</a:t>
            </a:r>
            <a:endParaRPr lang="en-IN" sz="1800" dirty="0">
              <a:solidFill>
                <a:srgbClr val="0D47A1"/>
              </a:solidFill>
              <a:latin typeface="Georgia" panose="02040502050405020303" pitchFamily="18" charset="0"/>
            </a:endParaRPr>
          </a:p>
        </p:txBody>
      </p:sp>
      <p:pic>
        <p:nvPicPr>
          <p:cNvPr id="14" name="Picture 13">
            <a:extLst>
              <a:ext uri="{FF2B5EF4-FFF2-40B4-BE49-F238E27FC236}">
                <a16:creationId xmlns:a16="http://schemas.microsoft.com/office/drawing/2014/main" id="{EEB756AA-D6FB-6C61-9612-C04E1EB807CE}"/>
              </a:ext>
            </a:extLst>
          </p:cNvPr>
          <p:cNvPicPr>
            <a:picLocks noChangeAspect="1"/>
          </p:cNvPicPr>
          <p:nvPr/>
        </p:nvPicPr>
        <p:blipFill>
          <a:blip r:embed="rId3"/>
          <a:stretch>
            <a:fillRect/>
          </a:stretch>
        </p:blipFill>
        <p:spPr>
          <a:xfrm>
            <a:off x="1060846" y="687975"/>
            <a:ext cx="6793368" cy="3767550"/>
          </a:xfrm>
          <a:prstGeom prst="rect">
            <a:avLst/>
          </a:prstGeom>
        </p:spPr>
      </p:pic>
    </p:spTree>
    <p:extLst>
      <p:ext uri="{BB962C8B-B14F-4D97-AF65-F5344CB8AC3E}">
        <p14:creationId xmlns:p14="http://schemas.microsoft.com/office/powerpoint/2010/main" val="2750209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B4996499-ADD8-00AA-A2AC-82A18DB374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A142BF-A59B-D911-390B-55A9040911ED}"/>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3"/>
              </a:rPr>
              <a:t>icons8</a:t>
            </a:r>
            <a:r>
              <a:rPr lang="en-IN" sz="500" dirty="0">
                <a:latin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B32F73EC-EC18-A170-FC90-3E263F9C6ED5}"/>
              </a:ext>
            </a:extLst>
          </p:cNvPr>
          <p:cNvSpPr txBox="1"/>
          <p:nvPr/>
        </p:nvSpPr>
        <p:spPr>
          <a:xfrm>
            <a:off x="129941" y="182918"/>
            <a:ext cx="3643162" cy="369332"/>
          </a:xfrm>
          <a:prstGeom prst="rect">
            <a:avLst/>
          </a:prstGeom>
          <a:solidFill>
            <a:srgbClr val="E3F2FD"/>
          </a:solidFill>
          <a:ln w="3175">
            <a:solidFill>
              <a:srgbClr val="E3F2FD"/>
            </a:solidFill>
            <a:prstDash val="lgDashDot"/>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IN" sz="1800" dirty="0">
                <a:solidFill>
                  <a:srgbClr val="0D47A1"/>
                </a:solidFill>
                <a:latin typeface="Georgia" panose="02040502050405020303" pitchFamily="18" charset="0"/>
              </a:rPr>
              <a:t>Retrieving Data from SQL Server</a:t>
            </a:r>
          </a:p>
        </p:txBody>
      </p:sp>
      <p:pic>
        <p:nvPicPr>
          <p:cNvPr id="8" name="Picture 7">
            <a:extLst>
              <a:ext uri="{FF2B5EF4-FFF2-40B4-BE49-F238E27FC236}">
                <a16:creationId xmlns:a16="http://schemas.microsoft.com/office/drawing/2014/main" id="{DF6C58B3-F933-F282-6DAE-9EF86B06C0B0}"/>
              </a:ext>
            </a:extLst>
          </p:cNvPr>
          <p:cNvPicPr>
            <a:picLocks noChangeAspect="1"/>
          </p:cNvPicPr>
          <p:nvPr/>
        </p:nvPicPr>
        <p:blipFill>
          <a:blip r:embed="rId4"/>
          <a:srcRect t="4075"/>
          <a:stretch/>
        </p:blipFill>
        <p:spPr>
          <a:xfrm>
            <a:off x="558265" y="697215"/>
            <a:ext cx="8027470" cy="3908884"/>
          </a:xfrm>
          <a:prstGeom prst="rect">
            <a:avLst/>
          </a:prstGeom>
        </p:spPr>
      </p:pic>
    </p:spTree>
    <p:extLst>
      <p:ext uri="{BB962C8B-B14F-4D97-AF65-F5344CB8AC3E}">
        <p14:creationId xmlns:p14="http://schemas.microsoft.com/office/powerpoint/2010/main" val="4157282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4D73C205-493E-9D1A-9B88-231DA479088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70E9281-3316-10D8-12B0-8A954E9C1EF8}"/>
              </a:ext>
            </a:extLst>
          </p:cNvPr>
          <p:cNvPicPr>
            <a:picLocks noChangeAspect="1"/>
          </p:cNvPicPr>
          <p:nvPr/>
        </p:nvPicPr>
        <p:blipFill>
          <a:blip r:embed="rId3"/>
          <a:stretch>
            <a:fillRect/>
          </a:stretch>
        </p:blipFill>
        <p:spPr>
          <a:xfrm>
            <a:off x="166687" y="690562"/>
            <a:ext cx="8810625" cy="3762375"/>
          </a:xfrm>
          <a:prstGeom prst="rect">
            <a:avLst/>
          </a:prstGeom>
          <a:ln>
            <a:solidFill>
              <a:schemeClr val="tx1"/>
            </a:solidFill>
          </a:ln>
        </p:spPr>
      </p:pic>
      <p:sp>
        <p:nvSpPr>
          <p:cNvPr id="4" name="TextBox 3">
            <a:extLst>
              <a:ext uri="{FF2B5EF4-FFF2-40B4-BE49-F238E27FC236}">
                <a16:creationId xmlns:a16="http://schemas.microsoft.com/office/drawing/2014/main" id="{4B1019E7-20F9-45A7-792D-776B7CA5DB84}"/>
              </a:ext>
            </a:extLst>
          </p:cNvPr>
          <p:cNvSpPr txBox="1"/>
          <p:nvPr/>
        </p:nvSpPr>
        <p:spPr>
          <a:xfrm>
            <a:off x="166687" y="153582"/>
            <a:ext cx="8977312" cy="369332"/>
          </a:xfrm>
          <a:prstGeom prst="rect">
            <a:avLst/>
          </a:prstGeom>
          <a:noFill/>
        </p:spPr>
        <p:txBody>
          <a:bodyPr wrap="square" rtlCol="0">
            <a:spAutoFit/>
          </a:bodyPr>
          <a:lstStyle/>
          <a:p>
            <a:r>
              <a:rPr lang="en-IN" sz="1800" b="1" i="1" dirty="0">
                <a:solidFill>
                  <a:srgbClr val="0D47A1"/>
                </a:solidFill>
                <a:latin typeface="Georgia" panose="02040502050405020303" pitchFamily="18" charset="0"/>
              </a:rPr>
              <a:t>Highest Cost Variation (</a:t>
            </a:r>
            <a:r>
              <a:rPr lang="en-IN" sz="1800" i="1" dirty="0">
                <a:solidFill>
                  <a:srgbClr val="0D47A1"/>
                </a:solidFill>
                <a:latin typeface="Georgia" panose="02040502050405020303" pitchFamily="18" charset="0"/>
              </a:rPr>
              <a:t>inpatient</a:t>
            </a:r>
            <a:r>
              <a:rPr lang="en-IN" sz="1800" b="1" i="1" dirty="0">
                <a:solidFill>
                  <a:srgbClr val="0D47A1"/>
                </a:solidFill>
                <a:latin typeface="Georgia" panose="02040502050405020303" pitchFamily="18" charset="0"/>
              </a:rPr>
              <a:t>)</a:t>
            </a:r>
          </a:p>
        </p:txBody>
      </p:sp>
    </p:spTree>
    <p:extLst>
      <p:ext uri="{BB962C8B-B14F-4D97-AF65-F5344CB8AC3E}">
        <p14:creationId xmlns:p14="http://schemas.microsoft.com/office/powerpoint/2010/main" val="7780903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5DF9423D-4C57-BC65-EDFF-7CB078015F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C3DB29-9BBF-F4ED-FCD7-603B5592F3BC}"/>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5" name="Picture 4">
            <a:extLst>
              <a:ext uri="{FF2B5EF4-FFF2-40B4-BE49-F238E27FC236}">
                <a16:creationId xmlns:a16="http://schemas.microsoft.com/office/drawing/2014/main" id="{1EC623DB-857E-2ADF-51AC-841DD3ED203B}"/>
              </a:ext>
            </a:extLst>
          </p:cNvPr>
          <p:cNvPicPr>
            <a:picLocks noChangeAspect="1"/>
          </p:cNvPicPr>
          <p:nvPr/>
        </p:nvPicPr>
        <p:blipFill>
          <a:blip r:embed="rId3"/>
          <a:stretch>
            <a:fillRect/>
          </a:stretch>
        </p:blipFill>
        <p:spPr>
          <a:xfrm>
            <a:off x="509587" y="690562"/>
            <a:ext cx="8124825" cy="3762375"/>
          </a:xfrm>
          <a:prstGeom prst="rect">
            <a:avLst/>
          </a:prstGeom>
          <a:ln>
            <a:solidFill>
              <a:schemeClr val="tx1"/>
            </a:solidFill>
          </a:ln>
        </p:spPr>
      </p:pic>
      <p:sp>
        <p:nvSpPr>
          <p:cNvPr id="6" name="TextBox 5">
            <a:extLst>
              <a:ext uri="{FF2B5EF4-FFF2-40B4-BE49-F238E27FC236}">
                <a16:creationId xmlns:a16="http://schemas.microsoft.com/office/drawing/2014/main" id="{E7A18FE6-6384-4215-95A8-272E54D70CF7}"/>
              </a:ext>
            </a:extLst>
          </p:cNvPr>
          <p:cNvSpPr txBox="1"/>
          <p:nvPr/>
        </p:nvSpPr>
        <p:spPr>
          <a:xfrm>
            <a:off x="391886" y="153582"/>
            <a:ext cx="8752113" cy="369332"/>
          </a:xfrm>
          <a:prstGeom prst="rect">
            <a:avLst/>
          </a:prstGeom>
          <a:noFill/>
        </p:spPr>
        <p:txBody>
          <a:bodyPr wrap="square" rtlCol="0">
            <a:spAutoFit/>
          </a:bodyPr>
          <a:lstStyle/>
          <a:p>
            <a:r>
              <a:rPr lang="en-IN" sz="1800" b="1" i="1" dirty="0">
                <a:solidFill>
                  <a:srgbClr val="0D47A1"/>
                </a:solidFill>
                <a:latin typeface="Georgia" panose="02040502050405020303" pitchFamily="18" charset="0"/>
              </a:rPr>
              <a:t>Highest Cost Variation (</a:t>
            </a:r>
            <a:r>
              <a:rPr lang="en-IN" sz="1800" i="1" dirty="0">
                <a:solidFill>
                  <a:srgbClr val="0D47A1"/>
                </a:solidFill>
                <a:latin typeface="Georgia" panose="02040502050405020303" pitchFamily="18" charset="0"/>
              </a:rPr>
              <a:t>outpatient</a:t>
            </a:r>
            <a:r>
              <a:rPr lang="en-IN" sz="1800" b="1" i="1" dirty="0">
                <a:solidFill>
                  <a:srgbClr val="0D47A1"/>
                </a:solidFill>
                <a:latin typeface="Georgia" panose="02040502050405020303" pitchFamily="18" charset="0"/>
              </a:rPr>
              <a:t>)</a:t>
            </a:r>
          </a:p>
        </p:txBody>
      </p:sp>
    </p:spTree>
    <p:extLst>
      <p:ext uri="{BB962C8B-B14F-4D97-AF65-F5344CB8AC3E}">
        <p14:creationId xmlns:p14="http://schemas.microsoft.com/office/powerpoint/2010/main" val="3368918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70BDED46-66A1-9233-5D44-B5513E9845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7806FB-EA8C-2C4F-792E-168D4C53B8AB}"/>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3"/>
              </a:rPr>
              <a:t>icons8</a:t>
            </a:r>
            <a:r>
              <a:rPr lang="en-IN" sz="500" dirty="0">
                <a:latin typeface="Calibri" panose="020F0502020204030204" pitchFamily="34" charset="0"/>
                <a:cs typeface="Calibri" panose="020F0502020204030204" pitchFamily="34" charset="0"/>
              </a:rPr>
              <a:t>`</a:t>
            </a:r>
          </a:p>
        </p:txBody>
      </p:sp>
      <p:sp>
        <p:nvSpPr>
          <p:cNvPr id="5" name="Rectangle 1">
            <a:extLst>
              <a:ext uri="{FF2B5EF4-FFF2-40B4-BE49-F238E27FC236}">
                <a16:creationId xmlns:a16="http://schemas.microsoft.com/office/drawing/2014/main" id="{ED132469-3B5B-034A-AE1C-CCFEF32A1733}"/>
              </a:ext>
            </a:extLst>
          </p:cNvPr>
          <p:cNvSpPr>
            <a:spLocks noChangeArrowheads="1"/>
          </p:cNvSpPr>
          <p:nvPr/>
        </p:nvSpPr>
        <p:spPr bwMode="auto">
          <a:xfrm>
            <a:off x="502090" y="748174"/>
            <a:ext cx="8367589"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600"/>
              </a:spcAft>
            </a:pPr>
            <a:r>
              <a:rPr lang="en-US" b="1" dirty="0">
                <a:latin typeface="Georgia" panose="02040502050405020303" pitchFamily="18" charset="0"/>
              </a:rPr>
              <a:t>Insights:</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High-Cost Variability Across Procedures</a:t>
            </a:r>
            <a:r>
              <a:rPr lang="en-US" dirty="0">
                <a:solidFill>
                  <a:srgbClr val="0D47A1"/>
                </a:solidFill>
                <a:latin typeface="Georgia" panose="02040502050405020303" pitchFamily="18" charset="0"/>
              </a:rPr>
              <a:t> </a:t>
            </a:r>
            <a:r>
              <a:rPr lang="en-US" dirty="0">
                <a:latin typeface="Georgia" panose="02040502050405020303" pitchFamily="18" charset="0"/>
              </a:rPr>
              <a:t>– Both inpatient and outpatient procedures exhibit significant fluctuations in covered charges.</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Complex &amp; Critical Cases Drive Variability</a:t>
            </a:r>
            <a:r>
              <a:rPr lang="en-US" dirty="0">
                <a:solidFill>
                  <a:srgbClr val="0D47A1"/>
                </a:solidFill>
                <a:latin typeface="Georgia" panose="02040502050405020303" pitchFamily="18" charset="0"/>
              </a:rPr>
              <a:t> </a:t>
            </a:r>
            <a:r>
              <a:rPr lang="en-US" dirty="0">
                <a:latin typeface="Georgia" panose="02040502050405020303" pitchFamily="18" charset="0"/>
              </a:rPr>
              <a:t>– Inpatient procedures like sepsis and respiratory failure, and outpatient procedures like endoscopy and excision/biopsy, show the highest cost variations.</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Surgical &amp; Diagnostic Procedures Contribute to Variability</a:t>
            </a:r>
            <a:r>
              <a:rPr lang="en-US" dirty="0">
                <a:solidFill>
                  <a:srgbClr val="0D47A1"/>
                </a:solidFill>
                <a:latin typeface="Georgia" panose="02040502050405020303" pitchFamily="18" charset="0"/>
              </a:rPr>
              <a:t> </a:t>
            </a:r>
            <a:r>
              <a:rPr lang="en-US" dirty="0">
                <a:latin typeface="Georgia" panose="02040502050405020303" pitchFamily="18" charset="0"/>
              </a:rPr>
              <a:t>– High-cost surgical and imaging procedures impact overall cost trends.</a:t>
            </a:r>
          </a:p>
          <a:p>
            <a:pPr>
              <a:spcAft>
                <a:spcPts val="600"/>
              </a:spcAft>
            </a:pPr>
            <a:endParaRPr lang="en-US" dirty="0">
              <a:latin typeface="Georgia" panose="02040502050405020303" pitchFamily="18" charset="0"/>
            </a:endParaRPr>
          </a:p>
          <a:p>
            <a:pPr>
              <a:spcAft>
                <a:spcPts val="600"/>
              </a:spcAft>
            </a:pPr>
            <a:r>
              <a:rPr lang="en-US" b="1" dirty="0">
                <a:latin typeface="Georgia" panose="02040502050405020303" pitchFamily="18" charset="0"/>
              </a:rPr>
              <a:t>Recommendations:</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Standardize Cost Structures</a:t>
            </a:r>
            <a:r>
              <a:rPr lang="en-US" dirty="0">
                <a:solidFill>
                  <a:srgbClr val="0D47A1"/>
                </a:solidFill>
                <a:latin typeface="Georgia" panose="02040502050405020303" pitchFamily="18" charset="0"/>
              </a:rPr>
              <a:t> </a:t>
            </a:r>
            <a:r>
              <a:rPr lang="en-US" dirty="0">
                <a:latin typeface="Georgia" panose="02040502050405020303" pitchFamily="18" charset="0"/>
              </a:rPr>
              <a:t>– Implement uniform pricing strategies to reduce variability across inpatient and outpatient services.</a:t>
            </a:r>
          </a:p>
          <a:p>
            <a:pPr marL="285750" indent="-285750">
              <a:spcAft>
                <a:spcPts val="600"/>
              </a:spcAft>
              <a:buFont typeface="Arial" panose="020B0604020202020204" pitchFamily="34" charset="0"/>
              <a:buChar char="•"/>
            </a:pPr>
            <a:r>
              <a:rPr lang="en-US" b="1" dirty="0">
                <a:solidFill>
                  <a:srgbClr val="0D47A1"/>
                </a:solidFill>
                <a:latin typeface="Georgia" panose="02040502050405020303" pitchFamily="18" charset="0"/>
              </a:rPr>
              <a:t>Leverage Predictive Analytics</a:t>
            </a:r>
            <a:r>
              <a:rPr lang="en-US" dirty="0">
                <a:solidFill>
                  <a:srgbClr val="0D47A1"/>
                </a:solidFill>
                <a:latin typeface="Georgia" panose="02040502050405020303" pitchFamily="18" charset="0"/>
              </a:rPr>
              <a:t> </a:t>
            </a:r>
            <a:r>
              <a:rPr lang="en-US" dirty="0">
                <a:latin typeface="Georgia" panose="02040502050405020303" pitchFamily="18" charset="0"/>
              </a:rPr>
              <a:t>– Utilize AI-driven cost prediction models to manage unexpected cost variations efficiently.</a:t>
            </a:r>
          </a:p>
        </p:txBody>
      </p:sp>
      <p:sp>
        <p:nvSpPr>
          <p:cNvPr id="8" name="TextBox 7">
            <a:extLst>
              <a:ext uri="{FF2B5EF4-FFF2-40B4-BE49-F238E27FC236}">
                <a16:creationId xmlns:a16="http://schemas.microsoft.com/office/drawing/2014/main" id="{01741C31-A015-1E4E-2796-ACE2ABD1688F}"/>
              </a:ext>
            </a:extLst>
          </p:cNvPr>
          <p:cNvSpPr txBox="1"/>
          <p:nvPr/>
        </p:nvSpPr>
        <p:spPr>
          <a:xfrm>
            <a:off x="0" y="153582"/>
            <a:ext cx="9126593" cy="340676"/>
          </a:xfrm>
          <a:prstGeom prst="rect">
            <a:avLst/>
          </a:prstGeom>
          <a:noFill/>
        </p:spPr>
        <p:txBody>
          <a:bodyPr wrap="square" rtlCol="0">
            <a:spAutoFit/>
          </a:bodyPr>
          <a:lstStyle/>
          <a:p>
            <a:pPr algn="ctr"/>
            <a:r>
              <a:rPr lang="en-IN" sz="1600" b="1" i="1" dirty="0">
                <a:solidFill>
                  <a:srgbClr val="0D47A1"/>
                </a:solidFill>
                <a:latin typeface="Georgia" panose="02040502050405020303" pitchFamily="18" charset="0"/>
              </a:rPr>
              <a:t>Highest Cost Variation (Inpatient/Outpatient)</a:t>
            </a:r>
          </a:p>
        </p:txBody>
      </p:sp>
    </p:spTree>
    <p:extLst>
      <p:ext uri="{BB962C8B-B14F-4D97-AF65-F5344CB8AC3E}">
        <p14:creationId xmlns:p14="http://schemas.microsoft.com/office/powerpoint/2010/main" val="105224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054EB8BF-381B-4FAC-2075-F45FC1F543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74D9E2-0F20-7476-9C8F-899F486EC7C1}"/>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F026D7F1-5E71-1628-E394-0AC1C279A82C}"/>
              </a:ext>
            </a:extLst>
          </p:cNvPr>
          <p:cNvSpPr txBox="1"/>
          <p:nvPr/>
        </p:nvSpPr>
        <p:spPr>
          <a:xfrm>
            <a:off x="69669" y="126152"/>
            <a:ext cx="4807131" cy="338554"/>
          </a:xfrm>
          <a:prstGeom prst="rect">
            <a:avLst/>
          </a:prstGeom>
          <a:noFill/>
        </p:spPr>
        <p:txBody>
          <a:bodyPr wrap="square" rtlCol="0">
            <a:spAutoFit/>
          </a:bodyPr>
          <a:lstStyle/>
          <a:p>
            <a:pPr algn="ctr"/>
            <a:r>
              <a:rPr lang="en-IN" sz="1600" b="1" i="1" dirty="0">
                <a:solidFill>
                  <a:srgbClr val="0D47A1"/>
                </a:solidFill>
                <a:latin typeface="Georgia" panose="02040502050405020303" pitchFamily="18" charset="0"/>
              </a:rPr>
              <a:t>Highest Cost Claims By Provider </a:t>
            </a:r>
            <a:r>
              <a:rPr lang="en-IN" sz="1600" b="1" i="1" dirty="0">
                <a:solidFill>
                  <a:schemeClr val="tx1"/>
                </a:solidFill>
                <a:latin typeface="Georgia" panose="02040502050405020303" pitchFamily="18" charset="0"/>
              </a:rPr>
              <a:t>(</a:t>
            </a:r>
            <a:r>
              <a:rPr lang="en-IN" sz="1600" i="1" dirty="0">
                <a:solidFill>
                  <a:srgbClr val="0D47A1"/>
                </a:solidFill>
                <a:latin typeface="Georgia" panose="02040502050405020303" pitchFamily="18" charset="0"/>
              </a:rPr>
              <a:t>inpatient</a:t>
            </a:r>
            <a:r>
              <a:rPr lang="en-IN" sz="1600" b="1" i="1" dirty="0">
                <a:solidFill>
                  <a:schemeClr val="tx1"/>
                </a:solidFill>
                <a:latin typeface="Georgia" panose="02040502050405020303" pitchFamily="18" charset="0"/>
              </a:rPr>
              <a:t>)</a:t>
            </a:r>
          </a:p>
        </p:txBody>
      </p:sp>
      <p:pic>
        <p:nvPicPr>
          <p:cNvPr id="8" name="Picture 7">
            <a:extLst>
              <a:ext uri="{FF2B5EF4-FFF2-40B4-BE49-F238E27FC236}">
                <a16:creationId xmlns:a16="http://schemas.microsoft.com/office/drawing/2014/main" id="{D7271816-7691-983E-7664-E81CC12AAC89}"/>
              </a:ext>
            </a:extLst>
          </p:cNvPr>
          <p:cNvPicPr>
            <a:picLocks noChangeAspect="1"/>
          </p:cNvPicPr>
          <p:nvPr/>
        </p:nvPicPr>
        <p:blipFill>
          <a:blip r:embed="rId3"/>
          <a:stretch>
            <a:fillRect/>
          </a:stretch>
        </p:blipFill>
        <p:spPr>
          <a:xfrm>
            <a:off x="405310" y="607686"/>
            <a:ext cx="8333379" cy="3928128"/>
          </a:xfrm>
          <a:prstGeom prst="rect">
            <a:avLst/>
          </a:prstGeom>
          <a:ln>
            <a:solidFill>
              <a:schemeClr val="tx1"/>
            </a:solidFill>
          </a:ln>
        </p:spPr>
      </p:pic>
    </p:spTree>
    <p:extLst>
      <p:ext uri="{BB962C8B-B14F-4D97-AF65-F5344CB8AC3E}">
        <p14:creationId xmlns:p14="http://schemas.microsoft.com/office/powerpoint/2010/main" val="4161223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D0EB4299-A972-9A03-B3DA-CA36034C22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0A6ADC-E288-357A-4CB9-4F173BE9A1E0}"/>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0739A04C-9778-6C38-EF88-149AAD7D0298}"/>
              </a:ext>
            </a:extLst>
          </p:cNvPr>
          <p:cNvPicPr>
            <a:picLocks noChangeAspect="1"/>
          </p:cNvPicPr>
          <p:nvPr/>
        </p:nvPicPr>
        <p:blipFill>
          <a:blip r:embed="rId3"/>
          <a:stretch>
            <a:fillRect/>
          </a:stretch>
        </p:blipFill>
        <p:spPr>
          <a:xfrm>
            <a:off x="166687" y="823460"/>
            <a:ext cx="6316409" cy="3025659"/>
          </a:xfrm>
          <a:prstGeom prst="rect">
            <a:avLst/>
          </a:prstGeom>
        </p:spPr>
      </p:pic>
      <p:sp>
        <p:nvSpPr>
          <p:cNvPr id="5" name="TextBox 4">
            <a:extLst>
              <a:ext uri="{FF2B5EF4-FFF2-40B4-BE49-F238E27FC236}">
                <a16:creationId xmlns:a16="http://schemas.microsoft.com/office/drawing/2014/main" id="{5AB60FAF-05E0-4153-B2CA-728F8D0BB19F}"/>
              </a:ext>
            </a:extLst>
          </p:cNvPr>
          <p:cNvSpPr txBox="1"/>
          <p:nvPr/>
        </p:nvSpPr>
        <p:spPr>
          <a:xfrm>
            <a:off x="166687" y="3996874"/>
            <a:ext cx="6032945" cy="584775"/>
          </a:xfrm>
          <a:prstGeom prst="rect">
            <a:avLst/>
          </a:prstGeom>
          <a:noFill/>
        </p:spPr>
        <p:txBody>
          <a:bodyPr wrap="square" rtlCol="0">
            <a:spAutoFit/>
          </a:bodyPr>
          <a:lstStyle/>
          <a:p>
            <a:pPr algn="ctr"/>
            <a:r>
              <a:rPr lang="en-US" sz="1600" dirty="0">
                <a:latin typeface="Georgia" panose="02040502050405020303" pitchFamily="18" charset="0"/>
              </a:rPr>
              <a:t>Provider with the highest claimed cost for a specific inpatient procedure.</a:t>
            </a:r>
            <a:endParaRPr lang="en-IN" sz="1200" dirty="0">
              <a:latin typeface="Georgia" panose="02040502050405020303" pitchFamily="18" charset="0"/>
            </a:endParaRPr>
          </a:p>
        </p:txBody>
      </p:sp>
      <p:sp>
        <p:nvSpPr>
          <p:cNvPr id="6" name="TextBox 5">
            <a:extLst>
              <a:ext uri="{FF2B5EF4-FFF2-40B4-BE49-F238E27FC236}">
                <a16:creationId xmlns:a16="http://schemas.microsoft.com/office/drawing/2014/main" id="{3CCB4E75-991E-2A69-0DE9-1EC673A5A322}"/>
              </a:ext>
            </a:extLst>
          </p:cNvPr>
          <p:cNvSpPr txBox="1"/>
          <p:nvPr/>
        </p:nvSpPr>
        <p:spPr>
          <a:xfrm>
            <a:off x="166687" y="153583"/>
            <a:ext cx="4917377" cy="338554"/>
          </a:xfrm>
          <a:prstGeom prst="rect">
            <a:avLst/>
          </a:prstGeom>
          <a:noFill/>
        </p:spPr>
        <p:txBody>
          <a:bodyPr wrap="square" rtlCol="0">
            <a:spAutoFit/>
          </a:bodyPr>
          <a:lstStyle/>
          <a:p>
            <a:pPr algn="ctr"/>
            <a:r>
              <a:rPr lang="en-IN" sz="1600" b="1" i="1" dirty="0">
                <a:solidFill>
                  <a:srgbClr val="0D47A1"/>
                </a:solidFill>
                <a:latin typeface="Georgia" panose="02040502050405020303" pitchFamily="18" charset="0"/>
              </a:rPr>
              <a:t>Highest Cost Claims By Provider </a:t>
            </a:r>
            <a:r>
              <a:rPr lang="en-IN" sz="1600" b="1" i="1" dirty="0">
                <a:solidFill>
                  <a:schemeClr val="tx1"/>
                </a:solidFill>
                <a:latin typeface="Georgia" panose="02040502050405020303" pitchFamily="18" charset="0"/>
              </a:rPr>
              <a:t>(</a:t>
            </a:r>
            <a:r>
              <a:rPr lang="en-IN" sz="1600" i="1" dirty="0">
                <a:solidFill>
                  <a:srgbClr val="0D47A1"/>
                </a:solidFill>
                <a:latin typeface="Georgia" panose="02040502050405020303" pitchFamily="18" charset="0"/>
              </a:rPr>
              <a:t>inpatient</a:t>
            </a:r>
            <a:r>
              <a:rPr lang="en-IN" sz="1600" b="1" i="1" dirty="0">
                <a:solidFill>
                  <a:schemeClr val="tx1"/>
                </a:solidFill>
                <a:latin typeface="Georgia" panose="02040502050405020303" pitchFamily="18" charset="0"/>
              </a:rPr>
              <a:t>)</a:t>
            </a:r>
          </a:p>
        </p:txBody>
      </p:sp>
      <p:sp>
        <p:nvSpPr>
          <p:cNvPr id="7" name="TextBox 6">
            <a:extLst>
              <a:ext uri="{FF2B5EF4-FFF2-40B4-BE49-F238E27FC236}">
                <a16:creationId xmlns:a16="http://schemas.microsoft.com/office/drawing/2014/main" id="{445AA5DD-F35D-2EF9-7314-FFF8F5A1A236}"/>
              </a:ext>
            </a:extLst>
          </p:cNvPr>
          <p:cNvSpPr txBox="1"/>
          <p:nvPr/>
        </p:nvSpPr>
        <p:spPr>
          <a:xfrm>
            <a:off x="6611112" y="1151349"/>
            <a:ext cx="2430209" cy="2369880"/>
          </a:xfrm>
          <a:prstGeom prst="rect">
            <a:avLst/>
          </a:prstGeom>
          <a:noFill/>
        </p:spPr>
        <p:txBody>
          <a:bodyPr wrap="square">
            <a:spAutoFit/>
          </a:bodyPr>
          <a:lstStyle/>
          <a:p>
            <a:pPr>
              <a:spcAft>
                <a:spcPts val="600"/>
              </a:spcAft>
            </a:pPr>
            <a:r>
              <a:rPr lang="en-US" sz="1600" b="1" dirty="0">
                <a:solidFill>
                  <a:schemeClr val="tx1"/>
                </a:solidFill>
                <a:latin typeface="Georgia" panose="02040502050405020303" pitchFamily="18" charset="0"/>
              </a:rPr>
              <a:t>Process:</a:t>
            </a:r>
          </a:p>
          <a:p>
            <a:pPr>
              <a:spcAft>
                <a:spcPts val="600"/>
              </a:spcAft>
              <a:buFont typeface="+mj-lt"/>
              <a:buAutoNum type="arabicPeriod"/>
            </a:pPr>
            <a:r>
              <a:rPr lang="en-US" dirty="0">
                <a:latin typeface="Georgia" panose="02040502050405020303" pitchFamily="18" charset="0"/>
              </a:rPr>
              <a:t>Groups data by </a:t>
            </a:r>
            <a:r>
              <a:rPr lang="en-US" b="1" dirty="0">
                <a:latin typeface="Georgia" panose="02040502050405020303" pitchFamily="18" charset="0"/>
              </a:rPr>
              <a:t>Procedure</a:t>
            </a:r>
            <a:r>
              <a:rPr lang="en-US" dirty="0">
                <a:latin typeface="Georgia" panose="02040502050405020303" pitchFamily="18" charset="0"/>
              </a:rPr>
              <a:t>.</a:t>
            </a:r>
          </a:p>
          <a:p>
            <a:pPr>
              <a:spcAft>
                <a:spcPts val="600"/>
              </a:spcAft>
              <a:buFont typeface="+mj-lt"/>
              <a:buAutoNum type="arabicPeriod"/>
            </a:pPr>
            <a:r>
              <a:rPr lang="en-US" dirty="0">
                <a:latin typeface="Georgia" panose="02040502050405020303" pitchFamily="18" charset="0"/>
              </a:rPr>
              <a:t>Computes </a:t>
            </a:r>
            <a:r>
              <a:rPr lang="en-US" b="1" dirty="0">
                <a:latin typeface="Georgia" panose="02040502050405020303" pitchFamily="18" charset="0"/>
              </a:rPr>
              <a:t>Maximum</a:t>
            </a:r>
            <a:r>
              <a:rPr lang="en-US" dirty="0">
                <a:latin typeface="Georgia" panose="02040502050405020303" pitchFamily="18" charset="0"/>
              </a:rPr>
              <a:t> covered charges.</a:t>
            </a:r>
          </a:p>
          <a:p>
            <a:pPr>
              <a:spcAft>
                <a:spcPts val="600"/>
              </a:spcAft>
              <a:buFont typeface="+mj-lt"/>
              <a:buAutoNum type="arabicPeriod"/>
            </a:pPr>
            <a:r>
              <a:rPr lang="en-US" dirty="0">
                <a:latin typeface="Georgia" panose="02040502050405020303" pitchFamily="18" charset="0"/>
              </a:rPr>
              <a:t>Merges back and filters rows where </a:t>
            </a:r>
            <a:r>
              <a:rPr lang="en-US" b="1" dirty="0">
                <a:latin typeface="Georgia" panose="02040502050405020303" pitchFamily="18" charset="0"/>
              </a:rPr>
              <a:t>Max = Avg</a:t>
            </a:r>
            <a:r>
              <a:rPr lang="en-US" dirty="0">
                <a:latin typeface="Georgia" panose="02040502050405020303" pitchFamily="18" charset="0"/>
              </a:rPr>
              <a:t>.</a:t>
            </a:r>
          </a:p>
          <a:p>
            <a:pPr>
              <a:spcAft>
                <a:spcPts val="600"/>
              </a:spcAft>
              <a:buFont typeface="+mj-lt"/>
              <a:buAutoNum type="arabicPeriod"/>
            </a:pPr>
            <a:r>
              <a:rPr lang="en-US" dirty="0">
                <a:latin typeface="Georgia" panose="02040502050405020303" pitchFamily="18" charset="0"/>
              </a:rPr>
              <a:t>Extracts the </a:t>
            </a:r>
            <a:r>
              <a:rPr lang="en-US" b="1" dirty="0">
                <a:latin typeface="Georgia" panose="02040502050405020303" pitchFamily="18" charset="0"/>
              </a:rPr>
              <a:t>Provider</a:t>
            </a:r>
            <a:r>
              <a:rPr lang="en-US" dirty="0">
                <a:latin typeface="Georgia" panose="02040502050405020303" pitchFamily="18" charset="0"/>
              </a:rPr>
              <a:t> charging the max amount.</a:t>
            </a:r>
          </a:p>
        </p:txBody>
      </p:sp>
    </p:spTree>
    <p:extLst>
      <p:ext uri="{BB962C8B-B14F-4D97-AF65-F5344CB8AC3E}">
        <p14:creationId xmlns:p14="http://schemas.microsoft.com/office/powerpoint/2010/main" val="939703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25B4E61E-7506-C344-6FB4-E5708C5C93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9367CE5-BA2E-A89E-66AD-4FCB1F40F94B}"/>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C7CFF9EF-8E11-05E3-251B-D74FB8E0D7E6}"/>
              </a:ext>
            </a:extLst>
          </p:cNvPr>
          <p:cNvPicPr>
            <a:picLocks noChangeAspect="1"/>
          </p:cNvPicPr>
          <p:nvPr/>
        </p:nvPicPr>
        <p:blipFill>
          <a:blip r:embed="rId3"/>
          <a:stretch>
            <a:fillRect/>
          </a:stretch>
        </p:blipFill>
        <p:spPr>
          <a:xfrm>
            <a:off x="664476" y="672054"/>
            <a:ext cx="7815047" cy="3799391"/>
          </a:xfrm>
          <a:prstGeom prst="rect">
            <a:avLst/>
          </a:prstGeom>
          <a:ln>
            <a:solidFill>
              <a:schemeClr val="tx1"/>
            </a:solidFill>
          </a:ln>
        </p:spPr>
      </p:pic>
      <p:sp>
        <p:nvSpPr>
          <p:cNvPr id="5" name="TextBox 4">
            <a:extLst>
              <a:ext uri="{FF2B5EF4-FFF2-40B4-BE49-F238E27FC236}">
                <a16:creationId xmlns:a16="http://schemas.microsoft.com/office/drawing/2014/main" id="{5E84D749-AD43-2028-4ACE-C94E7DA98C8D}"/>
              </a:ext>
            </a:extLst>
          </p:cNvPr>
          <p:cNvSpPr txBox="1"/>
          <p:nvPr/>
        </p:nvSpPr>
        <p:spPr>
          <a:xfrm>
            <a:off x="166687" y="153583"/>
            <a:ext cx="4917377" cy="338554"/>
          </a:xfrm>
          <a:prstGeom prst="rect">
            <a:avLst/>
          </a:prstGeom>
          <a:noFill/>
        </p:spPr>
        <p:txBody>
          <a:bodyPr wrap="square" rtlCol="0">
            <a:spAutoFit/>
          </a:bodyPr>
          <a:lstStyle/>
          <a:p>
            <a:pPr algn="ctr"/>
            <a:r>
              <a:rPr lang="en-IN" sz="1600" b="1" i="1" dirty="0">
                <a:solidFill>
                  <a:srgbClr val="0D47A1"/>
                </a:solidFill>
                <a:latin typeface="Georgia" panose="02040502050405020303" pitchFamily="18" charset="0"/>
              </a:rPr>
              <a:t>Highest Cost Claims By Provider </a:t>
            </a:r>
            <a:r>
              <a:rPr lang="en-IN" sz="1600" b="1" i="1" dirty="0">
                <a:solidFill>
                  <a:schemeClr val="tx1"/>
                </a:solidFill>
                <a:latin typeface="Georgia" panose="02040502050405020303" pitchFamily="18" charset="0"/>
              </a:rPr>
              <a:t>(</a:t>
            </a:r>
            <a:r>
              <a:rPr lang="en-IN" sz="1600" i="1" dirty="0">
                <a:solidFill>
                  <a:srgbClr val="0D47A1"/>
                </a:solidFill>
                <a:latin typeface="Georgia" panose="02040502050405020303" pitchFamily="18" charset="0"/>
              </a:rPr>
              <a:t>outpatient</a:t>
            </a:r>
            <a:r>
              <a:rPr lang="en-IN" sz="1600" b="1" i="1" dirty="0">
                <a:solidFill>
                  <a:schemeClr val="tx1"/>
                </a:solidFill>
                <a:latin typeface="Georgia" panose="02040502050405020303" pitchFamily="18" charset="0"/>
              </a:rPr>
              <a:t>)</a:t>
            </a:r>
          </a:p>
        </p:txBody>
      </p:sp>
    </p:spTree>
    <p:extLst>
      <p:ext uri="{BB962C8B-B14F-4D97-AF65-F5344CB8AC3E}">
        <p14:creationId xmlns:p14="http://schemas.microsoft.com/office/powerpoint/2010/main" val="1600573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8B9781FF-3020-92F9-F32F-93FF5863EF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6D8557-B698-6B87-6E29-479FB8C80821}"/>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0BD9F606-C524-DD49-DA56-D39D670ECD12}"/>
              </a:ext>
            </a:extLst>
          </p:cNvPr>
          <p:cNvSpPr txBox="1"/>
          <p:nvPr/>
        </p:nvSpPr>
        <p:spPr>
          <a:xfrm>
            <a:off x="166687" y="153583"/>
            <a:ext cx="4917377" cy="338554"/>
          </a:xfrm>
          <a:prstGeom prst="rect">
            <a:avLst/>
          </a:prstGeom>
          <a:noFill/>
        </p:spPr>
        <p:txBody>
          <a:bodyPr wrap="square" rtlCol="0">
            <a:spAutoFit/>
          </a:bodyPr>
          <a:lstStyle/>
          <a:p>
            <a:pPr algn="ctr"/>
            <a:r>
              <a:rPr lang="en-IN" sz="1600" b="1" i="1" dirty="0">
                <a:solidFill>
                  <a:srgbClr val="0D47A1"/>
                </a:solidFill>
                <a:latin typeface="Georgia" panose="02040502050405020303" pitchFamily="18" charset="0"/>
              </a:rPr>
              <a:t>Highest Cost Claims By Provider </a:t>
            </a:r>
            <a:r>
              <a:rPr lang="en-IN" sz="1600" b="1" i="1" dirty="0">
                <a:solidFill>
                  <a:schemeClr val="tx1"/>
                </a:solidFill>
                <a:latin typeface="Georgia" panose="02040502050405020303" pitchFamily="18" charset="0"/>
              </a:rPr>
              <a:t>(</a:t>
            </a:r>
            <a:r>
              <a:rPr lang="en-IN" sz="1600" i="1" dirty="0">
                <a:solidFill>
                  <a:srgbClr val="0D47A1"/>
                </a:solidFill>
                <a:latin typeface="Georgia" panose="02040502050405020303" pitchFamily="18" charset="0"/>
              </a:rPr>
              <a:t>outpatient</a:t>
            </a:r>
            <a:r>
              <a:rPr lang="en-IN" sz="1600" b="1" i="1" dirty="0">
                <a:solidFill>
                  <a:schemeClr val="tx1"/>
                </a:solidFill>
                <a:latin typeface="Georgia" panose="02040502050405020303" pitchFamily="18" charset="0"/>
              </a:rPr>
              <a:t>)</a:t>
            </a:r>
          </a:p>
        </p:txBody>
      </p:sp>
      <p:pic>
        <p:nvPicPr>
          <p:cNvPr id="6" name="Picture 5">
            <a:extLst>
              <a:ext uri="{FF2B5EF4-FFF2-40B4-BE49-F238E27FC236}">
                <a16:creationId xmlns:a16="http://schemas.microsoft.com/office/drawing/2014/main" id="{F0EE125B-6489-4510-7102-23D7E25C3D5A}"/>
              </a:ext>
            </a:extLst>
          </p:cNvPr>
          <p:cNvPicPr>
            <a:picLocks noChangeAspect="1"/>
          </p:cNvPicPr>
          <p:nvPr/>
        </p:nvPicPr>
        <p:blipFill>
          <a:blip r:embed="rId3"/>
          <a:stretch>
            <a:fillRect/>
          </a:stretch>
        </p:blipFill>
        <p:spPr>
          <a:xfrm>
            <a:off x="297180" y="758952"/>
            <a:ext cx="5326380" cy="2786031"/>
          </a:xfrm>
          <a:prstGeom prst="rect">
            <a:avLst/>
          </a:prstGeom>
        </p:spPr>
      </p:pic>
      <p:sp>
        <p:nvSpPr>
          <p:cNvPr id="8" name="TextBox 7">
            <a:extLst>
              <a:ext uri="{FF2B5EF4-FFF2-40B4-BE49-F238E27FC236}">
                <a16:creationId xmlns:a16="http://schemas.microsoft.com/office/drawing/2014/main" id="{6B4C1903-8C45-83BE-EFD4-0D7374CAFAAE}"/>
              </a:ext>
            </a:extLst>
          </p:cNvPr>
          <p:cNvSpPr txBox="1"/>
          <p:nvPr/>
        </p:nvSpPr>
        <p:spPr>
          <a:xfrm>
            <a:off x="297180" y="3799773"/>
            <a:ext cx="5326380" cy="584775"/>
          </a:xfrm>
          <a:prstGeom prst="rect">
            <a:avLst/>
          </a:prstGeom>
          <a:noFill/>
        </p:spPr>
        <p:txBody>
          <a:bodyPr wrap="square">
            <a:spAutoFit/>
          </a:bodyPr>
          <a:lstStyle/>
          <a:p>
            <a:pPr algn="ctr"/>
            <a:r>
              <a:rPr lang="en-US" sz="1600" dirty="0">
                <a:latin typeface="Georgia" panose="02040502050405020303" pitchFamily="18" charset="0"/>
              </a:rPr>
              <a:t>Provider with the highest claimed cost for a specific outpatient procedure.</a:t>
            </a:r>
            <a:endParaRPr lang="en-IN" sz="1600" dirty="0">
              <a:latin typeface="Georgia" panose="02040502050405020303" pitchFamily="18" charset="0"/>
            </a:endParaRPr>
          </a:p>
        </p:txBody>
      </p:sp>
      <p:sp>
        <p:nvSpPr>
          <p:cNvPr id="9" name="TextBox 8">
            <a:extLst>
              <a:ext uri="{FF2B5EF4-FFF2-40B4-BE49-F238E27FC236}">
                <a16:creationId xmlns:a16="http://schemas.microsoft.com/office/drawing/2014/main" id="{211B64BE-584F-6CAC-696A-57BAB49DEB63}"/>
              </a:ext>
            </a:extLst>
          </p:cNvPr>
          <p:cNvSpPr txBox="1"/>
          <p:nvPr/>
        </p:nvSpPr>
        <p:spPr>
          <a:xfrm>
            <a:off x="5824728" y="1136304"/>
            <a:ext cx="3118104" cy="2446824"/>
          </a:xfrm>
          <a:prstGeom prst="rect">
            <a:avLst/>
          </a:prstGeom>
          <a:noFill/>
        </p:spPr>
        <p:txBody>
          <a:bodyPr wrap="square" rtlCol="0">
            <a:spAutoFit/>
          </a:bodyPr>
          <a:lstStyle/>
          <a:p>
            <a:pPr>
              <a:spcAft>
                <a:spcPts val="600"/>
              </a:spcAft>
            </a:pPr>
            <a:r>
              <a:rPr lang="en-US" sz="1600" b="1" dirty="0">
                <a:solidFill>
                  <a:schemeClr val="tx1"/>
                </a:solidFill>
                <a:latin typeface="Georgia" panose="02040502050405020303" pitchFamily="18" charset="0"/>
              </a:rPr>
              <a:t>Process:</a:t>
            </a:r>
          </a:p>
          <a:p>
            <a:pPr>
              <a:spcAft>
                <a:spcPts val="600"/>
              </a:spcAft>
              <a:buFont typeface="+mj-lt"/>
              <a:buAutoNum type="arabicPeriod"/>
            </a:pPr>
            <a:r>
              <a:rPr lang="en-US" dirty="0">
                <a:latin typeface="Georgia" panose="02040502050405020303" pitchFamily="18" charset="0"/>
              </a:rPr>
              <a:t>Groups data by </a:t>
            </a:r>
            <a:r>
              <a:rPr lang="en-US" b="1" dirty="0">
                <a:latin typeface="Georgia" panose="02040502050405020303" pitchFamily="18" charset="0"/>
              </a:rPr>
              <a:t>Procedure</a:t>
            </a:r>
            <a:r>
              <a:rPr lang="en-US" dirty="0">
                <a:latin typeface="Georgia" panose="02040502050405020303" pitchFamily="18" charset="0"/>
              </a:rPr>
              <a:t>.</a:t>
            </a:r>
          </a:p>
          <a:p>
            <a:pPr>
              <a:spcAft>
                <a:spcPts val="600"/>
              </a:spcAft>
              <a:buFont typeface="+mj-lt"/>
              <a:buAutoNum type="arabicPeriod"/>
            </a:pPr>
            <a:r>
              <a:rPr lang="en-US" dirty="0">
                <a:latin typeface="Georgia" panose="02040502050405020303" pitchFamily="18" charset="0"/>
              </a:rPr>
              <a:t>Computes </a:t>
            </a:r>
            <a:r>
              <a:rPr lang="en-US" b="1" dirty="0">
                <a:latin typeface="Georgia" panose="02040502050405020303" pitchFamily="18" charset="0"/>
              </a:rPr>
              <a:t>Maximum</a:t>
            </a:r>
            <a:r>
              <a:rPr lang="en-US" dirty="0">
                <a:latin typeface="Georgia" panose="02040502050405020303" pitchFamily="18" charset="0"/>
              </a:rPr>
              <a:t> covered charges.</a:t>
            </a:r>
          </a:p>
          <a:p>
            <a:pPr>
              <a:spcAft>
                <a:spcPts val="600"/>
              </a:spcAft>
              <a:buFont typeface="+mj-lt"/>
              <a:buAutoNum type="arabicPeriod"/>
            </a:pPr>
            <a:r>
              <a:rPr lang="en-US" dirty="0">
                <a:latin typeface="Georgia" panose="02040502050405020303" pitchFamily="18" charset="0"/>
              </a:rPr>
              <a:t>Merges back and filters rows where </a:t>
            </a:r>
            <a:r>
              <a:rPr lang="en-US" b="1" dirty="0">
                <a:latin typeface="Georgia" panose="02040502050405020303" pitchFamily="18" charset="0"/>
              </a:rPr>
              <a:t>Max = Avg</a:t>
            </a:r>
            <a:r>
              <a:rPr lang="en-US" dirty="0">
                <a:latin typeface="Georgia" panose="02040502050405020303" pitchFamily="18" charset="0"/>
              </a:rPr>
              <a:t>.</a:t>
            </a:r>
          </a:p>
          <a:p>
            <a:pPr>
              <a:spcAft>
                <a:spcPts val="600"/>
              </a:spcAft>
              <a:buFont typeface="+mj-lt"/>
              <a:buAutoNum type="arabicPeriod"/>
            </a:pPr>
            <a:r>
              <a:rPr lang="en-US" dirty="0">
                <a:latin typeface="Georgia" panose="02040502050405020303" pitchFamily="18" charset="0"/>
              </a:rPr>
              <a:t>Extracts the </a:t>
            </a:r>
            <a:r>
              <a:rPr lang="en-US" b="1" dirty="0">
                <a:latin typeface="Georgia" panose="02040502050405020303" pitchFamily="18" charset="0"/>
              </a:rPr>
              <a:t>Provider</a:t>
            </a:r>
            <a:r>
              <a:rPr lang="en-US" dirty="0">
                <a:latin typeface="Georgia" panose="02040502050405020303" pitchFamily="18" charset="0"/>
              </a:rPr>
              <a:t> charging the max amount.</a:t>
            </a:r>
          </a:p>
          <a:p>
            <a:pPr>
              <a:spcAft>
                <a:spcPts val="600"/>
              </a:spcAft>
            </a:pPr>
            <a:endParaRPr lang="en-IN" dirty="0">
              <a:latin typeface="Georgia" panose="02040502050405020303" pitchFamily="18" charset="0"/>
            </a:endParaRPr>
          </a:p>
        </p:txBody>
      </p:sp>
    </p:spTree>
    <p:extLst>
      <p:ext uri="{BB962C8B-B14F-4D97-AF65-F5344CB8AC3E}">
        <p14:creationId xmlns:p14="http://schemas.microsoft.com/office/powerpoint/2010/main" val="22433687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9758AF47-1196-72E3-C202-9D6D6C9832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48D136-4A0D-73E0-867E-7BC733A75D40}"/>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2F023251-FAB6-FC8A-8AAA-0AABB52B434E}"/>
              </a:ext>
            </a:extLst>
          </p:cNvPr>
          <p:cNvPicPr>
            <a:picLocks noChangeAspect="1"/>
          </p:cNvPicPr>
          <p:nvPr/>
        </p:nvPicPr>
        <p:blipFill>
          <a:blip r:embed="rId3"/>
          <a:stretch>
            <a:fillRect/>
          </a:stretch>
        </p:blipFill>
        <p:spPr>
          <a:xfrm>
            <a:off x="54863" y="582690"/>
            <a:ext cx="9034272" cy="2761457"/>
          </a:xfrm>
          <a:prstGeom prst="rect">
            <a:avLst/>
          </a:prstGeom>
          <a:ln>
            <a:solidFill>
              <a:schemeClr val="tx1"/>
            </a:solidFill>
          </a:ln>
        </p:spPr>
      </p:pic>
      <p:sp>
        <p:nvSpPr>
          <p:cNvPr id="5" name="TextBox 4">
            <a:extLst>
              <a:ext uri="{FF2B5EF4-FFF2-40B4-BE49-F238E27FC236}">
                <a16:creationId xmlns:a16="http://schemas.microsoft.com/office/drawing/2014/main" id="{7DE9C00A-80C0-2FD8-A4B6-838CE1F81418}"/>
              </a:ext>
            </a:extLst>
          </p:cNvPr>
          <p:cNvSpPr txBox="1"/>
          <p:nvPr/>
        </p:nvSpPr>
        <p:spPr>
          <a:xfrm>
            <a:off x="166687" y="153583"/>
            <a:ext cx="4917377" cy="338554"/>
          </a:xfrm>
          <a:prstGeom prst="rect">
            <a:avLst/>
          </a:prstGeom>
          <a:noFill/>
        </p:spPr>
        <p:txBody>
          <a:bodyPr wrap="square" rtlCol="0">
            <a:spAutoFit/>
          </a:bodyPr>
          <a:lstStyle/>
          <a:p>
            <a:pPr algn="ctr"/>
            <a:r>
              <a:rPr lang="en-IN" sz="1600" b="1" i="1" dirty="0">
                <a:solidFill>
                  <a:srgbClr val="0D47A1"/>
                </a:solidFill>
                <a:latin typeface="Georgia" panose="02040502050405020303" pitchFamily="18" charset="0"/>
              </a:rPr>
              <a:t>Highest Cost Claims By Region </a:t>
            </a:r>
            <a:r>
              <a:rPr lang="en-IN" sz="1600" b="1" i="1" dirty="0">
                <a:solidFill>
                  <a:schemeClr val="tx1"/>
                </a:solidFill>
                <a:latin typeface="Georgia" panose="02040502050405020303" pitchFamily="18" charset="0"/>
              </a:rPr>
              <a:t>(</a:t>
            </a:r>
            <a:r>
              <a:rPr lang="en-IN" sz="1600" i="1" dirty="0">
                <a:solidFill>
                  <a:srgbClr val="0D47A1"/>
                </a:solidFill>
                <a:latin typeface="Georgia" panose="02040502050405020303" pitchFamily="18" charset="0"/>
              </a:rPr>
              <a:t>inpatient</a:t>
            </a:r>
            <a:r>
              <a:rPr lang="en-IN" sz="1600" b="1" i="1" dirty="0">
                <a:solidFill>
                  <a:schemeClr val="tx1"/>
                </a:solidFill>
                <a:latin typeface="Georgia" panose="02040502050405020303" pitchFamily="18" charset="0"/>
              </a:rPr>
              <a:t>)</a:t>
            </a:r>
          </a:p>
        </p:txBody>
      </p:sp>
      <p:sp>
        <p:nvSpPr>
          <p:cNvPr id="7" name="TextBox 6">
            <a:extLst>
              <a:ext uri="{FF2B5EF4-FFF2-40B4-BE49-F238E27FC236}">
                <a16:creationId xmlns:a16="http://schemas.microsoft.com/office/drawing/2014/main" id="{F91393D4-E3AA-0ABA-C02E-517BBD08BB77}"/>
              </a:ext>
            </a:extLst>
          </p:cNvPr>
          <p:cNvSpPr txBox="1"/>
          <p:nvPr/>
        </p:nvSpPr>
        <p:spPr>
          <a:xfrm>
            <a:off x="238266" y="3822906"/>
            <a:ext cx="8667465" cy="861774"/>
          </a:xfrm>
          <a:prstGeom prst="rect">
            <a:avLst/>
          </a:prstGeom>
          <a:noFill/>
          <a:ln>
            <a:solidFill>
              <a:schemeClr val="tx1">
                <a:lumMod val="95000"/>
                <a:lumOff val="5000"/>
              </a:schemeClr>
            </a:solidFill>
          </a:ln>
        </p:spPr>
        <p:txBody>
          <a:bodyPr wrap="square">
            <a:spAutoFit/>
          </a:bodyPr>
          <a:lstStyle/>
          <a:p>
            <a:pPr>
              <a:spcAft>
                <a:spcPts val="600"/>
              </a:spcAft>
            </a:pPr>
            <a:r>
              <a:rPr lang="en-US" b="1" dirty="0">
                <a:solidFill>
                  <a:schemeClr val="tx1"/>
                </a:solidFill>
                <a:latin typeface="Georgia" panose="02040502050405020303" pitchFamily="18" charset="0"/>
              </a:rPr>
              <a:t>Process:</a:t>
            </a:r>
          </a:p>
          <a:p>
            <a:pPr>
              <a:spcAft>
                <a:spcPts val="600"/>
              </a:spcAft>
              <a:buFont typeface="+mj-lt"/>
              <a:buAutoNum type="arabicPeriod"/>
            </a:pPr>
            <a:r>
              <a:rPr lang="en-US" sz="1200" dirty="0">
                <a:latin typeface="Georgia" panose="02040502050405020303" pitchFamily="18" charset="0"/>
              </a:rPr>
              <a:t>Groups data by </a:t>
            </a:r>
            <a:r>
              <a:rPr lang="en-US" sz="1200" b="1" dirty="0">
                <a:latin typeface="Georgia" panose="02040502050405020303" pitchFamily="18" charset="0"/>
              </a:rPr>
              <a:t>Procedure</a:t>
            </a:r>
            <a:r>
              <a:rPr lang="en-US" sz="1200" dirty="0">
                <a:latin typeface="Georgia" panose="02040502050405020303" pitchFamily="18" charset="0"/>
              </a:rPr>
              <a:t>.                            2.Computes </a:t>
            </a:r>
            <a:r>
              <a:rPr lang="en-US" sz="1200" b="1" dirty="0">
                <a:latin typeface="Georgia" panose="02040502050405020303" pitchFamily="18" charset="0"/>
              </a:rPr>
              <a:t>Maximum</a:t>
            </a:r>
            <a:r>
              <a:rPr lang="en-US" sz="1200" dirty="0">
                <a:latin typeface="Georgia" panose="02040502050405020303" pitchFamily="18" charset="0"/>
              </a:rPr>
              <a:t> covered charges</a:t>
            </a:r>
          </a:p>
          <a:p>
            <a:pPr>
              <a:spcAft>
                <a:spcPts val="600"/>
              </a:spcAft>
            </a:pPr>
            <a:r>
              <a:rPr lang="en-US" sz="1200" dirty="0">
                <a:latin typeface="Georgia" panose="02040502050405020303" pitchFamily="18" charset="0"/>
              </a:rPr>
              <a:t>3.Merges back and filters rows where </a:t>
            </a:r>
            <a:r>
              <a:rPr lang="en-US" sz="1200" b="1" dirty="0">
                <a:latin typeface="Georgia" panose="02040502050405020303" pitchFamily="18" charset="0"/>
              </a:rPr>
              <a:t>Max = Avg</a:t>
            </a:r>
            <a:r>
              <a:rPr lang="en-US" sz="1200" dirty="0">
                <a:latin typeface="Georgia" panose="02040502050405020303" pitchFamily="18" charset="0"/>
              </a:rPr>
              <a:t>.           4.Extracts the </a:t>
            </a:r>
            <a:r>
              <a:rPr lang="en-US" sz="1200" b="1" dirty="0">
                <a:latin typeface="Georgia" panose="02040502050405020303" pitchFamily="18" charset="0"/>
              </a:rPr>
              <a:t>Region</a:t>
            </a:r>
            <a:r>
              <a:rPr lang="en-US" sz="1200" dirty="0">
                <a:latin typeface="Georgia" panose="02040502050405020303" pitchFamily="18" charset="0"/>
              </a:rPr>
              <a:t> charging the max amount.</a:t>
            </a:r>
            <a:endParaRPr lang="en-IN" sz="1200" dirty="0">
              <a:latin typeface="Georgia" panose="02040502050405020303" pitchFamily="18" charset="0"/>
            </a:endParaRPr>
          </a:p>
        </p:txBody>
      </p:sp>
      <p:sp>
        <p:nvSpPr>
          <p:cNvPr id="8" name="TextBox 7">
            <a:extLst>
              <a:ext uri="{FF2B5EF4-FFF2-40B4-BE49-F238E27FC236}">
                <a16:creationId xmlns:a16="http://schemas.microsoft.com/office/drawing/2014/main" id="{A6A6F88A-6FAC-F21E-8679-90895775EE74}"/>
              </a:ext>
            </a:extLst>
          </p:cNvPr>
          <p:cNvSpPr txBox="1"/>
          <p:nvPr/>
        </p:nvSpPr>
        <p:spPr>
          <a:xfrm>
            <a:off x="17406" y="3385187"/>
            <a:ext cx="9126594" cy="338554"/>
          </a:xfrm>
          <a:prstGeom prst="rect">
            <a:avLst/>
          </a:prstGeom>
          <a:noFill/>
        </p:spPr>
        <p:txBody>
          <a:bodyPr wrap="square" rtlCol="0">
            <a:spAutoFit/>
          </a:bodyPr>
          <a:lstStyle/>
          <a:p>
            <a:pPr algn="ctr"/>
            <a:r>
              <a:rPr lang="en-US" sz="1600" dirty="0">
                <a:solidFill>
                  <a:schemeClr val="tx1"/>
                </a:solidFill>
                <a:latin typeface="Georgia" panose="02040502050405020303" pitchFamily="18" charset="0"/>
              </a:rPr>
              <a:t>Inpatient Procedure and region with the highest claimed amount.</a:t>
            </a:r>
            <a:endParaRPr lang="en-IN" sz="1600" dirty="0">
              <a:solidFill>
                <a:schemeClr val="tx1"/>
              </a:solidFill>
              <a:latin typeface="Georgia" panose="02040502050405020303" pitchFamily="18" charset="0"/>
            </a:endParaRPr>
          </a:p>
        </p:txBody>
      </p:sp>
    </p:spTree>
    <p:extLst>
      <p:ext uri="{BB962C8B-B14F-4D97-AF65-F5344CB8AC3E}">
        <p14:creationId xmlns:p14="http://schemas.microsoft.com/office/powerpoint/2010/main" val="800972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46E6509C-565D-C82D-DEF6-96B5DA7CCD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765916-19EF-2143-AF35-D30230A68358}"/>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F5388843-DFFD-41C4-88E7-FE783A969288}"/>
              </a:ext>
            </a:extLst>
          </p:cNvPr>
          <p:cNvPicPr>
            <a:picLocks noChangeAspect="1"/>
          </p:cNvPicPr>
          <p:nvPr/>
        </p:nvPicPr>
        <p:blipFill>
          <a:blip r:embed="rId3"/>
          <a:stretch>
            <a:fillRect/>
          </a:stretch>
        </p:blipFill>
        <p:spPr>
          <a:xfrm>
            <a:off x="45720" y="770195"/>
            <a:ext cx="9052560" cy="2798437"/>
          </a:xfrm>
          <a:prstGeom prst="rect">
            <a:avLst/>
          </a:prstGeom>
          <a:ln>
            <a:solidFill>
              <a:schemeClr val="tx1"/>
            </a:solidFill>
          </a:ln>
        </p:spPr>
      </p:pic>
      <p:sp>
        <p:nvSpPr>
          <p:cNvPr id="5" name="TextBox 4">
            <a:extLst>
              <a:ext uri="{FF2B5EF4-FFF2-40B4-BE49-F238E27FC236}">
                <a16:creationId xmlns:a16="http://schemas.microsoft.com/office/drawing/2014/main" id="{6887C856-7045-A7EF-0E16-858E8C68B9BD}"/>
              </a:ext>
            </a:extLst>
          </p:cNvPr>
          <p:cNvSpPr txBox="1"/>
          <p:nvPr/>
        </p:nvSpPr>
        <p:spPr>
          <a:xfrm>
            <a:off x="166687" y="153583"/>
            <a:ext cx="4917377" cy="338554"/>
          </a:xfrm>
          <a:prstGeom prst="rect">
            <a:avLst/>
          </a:prstGeom>
          <a:noFill/>
        </p:spPr>
        <p:txBody>
          <a:bodyPr wrap="square" rtlCol="0">
            <a:spAutoFit/>
          </a:bodyPr>
          <a:lstStyle/>
          <a:p>
            <a:pPr algn="ctr"/>
            <a:r>
              <a:rPr lang="en-IN" sz="1600" b="1" i="1" dirty="0">
                <a:solidFill>
                  <a:srgbClr val="0D47A1"/>
                </a:solidFill>
                <a:latin typeface="Georgia" panose="02040502050405020303" pitchFamily="18" charset="0"/>
              </a:rPr>
              <a:t>Highest Cost Claims By Region </a:t>
            </a:r>
            <a:r>
              <a:rPr lang="en-IN" sz="1600" b="1" i="1" dirty="0">
                <a:solidFill>
                  <a:schemeClr val="tx1"/>
                </a:solidFill>
                <a:latin typeface="Georgia" panose="02040502050405020303" pitchFamily="18" charset="0"/>
              </a:rPr>
              <a:t>(</a:t>
            </a:r>
            <a:r>
              <a:rPr lang="en-IN" sz="1600" i="1" dirty="0">
                <a:solidFill>
                  <a:srgbClr val="0D47A1"/>
                </a:solidFill>
                <a:latin typeface="Georgia" panose="02040502050405020303" pitchFamily="18" charset="0"/>
              </a:rPr>
              <a:t>outpatient</a:t>
            </a:r>
            <a:r>
              <a:rPr lang="en-IN" sz="1600" b="1" i="1" dirty="0">
                <a:solidFill>
                  <a:schemeClr val="tx1"/>
                </a:solidFill>
                <a:latin typeface="Georgia" panose="02040502050405020303" pitchFamily="18" charset="0"/>
              </a:rPr>
              <a:t>)</a:t>
            </a:r>
          </a:p>
        </p:txBody>
      </p:sp>
      <p:sp>
        <p:nvSpPr>
          <p:cNvPr id="6" name="TextBox 5">
            <a:extLst>
              <a:ext uri="{FF2B5EF4-FFF2-40B4-BE49-F238E27FC236}">
                <a16:creationId xmlns:a16="http://schemas.microsoft.com/office/drawing/2014/main" id="{6DDFCF90-86FE-9884-B4F4-4AC2710A2D56}"/>
              </a:ext>
            </a:extLst>
          </p:cNvPr>
          <p:cNvSpPr txBox="1"/>
          <p:nvPr/>
        </p:nvSpPr>
        <p:spPr>
          <a:xfrm>
            <a:off x="0" y="3858768"/>
            <a:ext cx="9126594" cy="338554"/>
          </a:xfrm>
          <a:prstGeom prst="rect">
            <a:avLst/>
          </a:prstGeom>
          <a:noFill/>
        </p:spPr>
        <p:txBody>
          <a:bodyPr wrap="square" rtlCol="0">
            <a:spAutoFit/>
          </a:bodyPr>
          <a:lstStyle/>
          <a:p>
            <a:pPr algn="ctr"/>
            <a:r>
              <a:rPr lang="en-US" sz="1600" dirty="0">
                <a:solidFill>
                  <a:schemeClr val="tx1"/>
                </a:solidFill>
                <a:latin typeface="Georgia" panose="02040502050405020303" pitchFamily="18" charset="0"/>
              </a:rPr>
              <a:t>Outpatient Procedure and region with the highest claimed amount.</a:t>
            </a:r>
            <a:endParaRPr lang="en-IN" sz="1600" dirty="0">
              <a:solidFill>
                <a:schemeClr val="tx1"/>
              </a:solidFill>
              <a:latin typeface="Georgia" panose="02040502050405020303" pitchFamily="18" charset="0"/>
            </a:endParaRPr>
          </a:p>
        </p:txBody>
      </p:sp>
    </p:spTree>
    <p:extLst>
      <p:ext uri="{BB962C8B-B14F-4D97-AF65-F5344CB8AC3E}">
        <p14:creationId xmlns:p14="http://schemas.microsoft.com/office/powerpoint/2010/main" val="2280646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2B5F78E2-9739-E207-6ADB-9BB134AAB3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E44F4A-9740-BD06-606B-AD4905306F80}"/>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pic>
        <p:nvPicPr>
          <p:cNvPr id="6" name="Picture 5">
            <a:extLst>
              <a:ext uri="{FF2B5EF4-FFF2-40B4-BE49-F238E27FC236}">
                <a16:creationId xmlns:a16="http://schemas.microsoft.com/office/drawing/2014/main" id="{BA91B065-7D86-D209-7EE6-EF887B543E56}"/>
              </a:ext>
            </a:extLst>
          </p:cNvPr>
          <p:cNvPicPr>
            <a:picLocks noChangeAspect="1"/>
          </p:cNvPicPr>
          <p:nvPr/>
        </p:nvPicPr>
        <p:blipFill>
          <a:blip r:embed="rId3"/>
          <a:stretch>
            <a:fillRect/>
          </a:stretch>
        </p:blipFill>
        <p:spPr>
          <a:xfrm>
            <a:off x="256033" y="877824"/>
            <a:ext cx="4114799" cy="2475506"/>
          </a:xfrm>
          <a:prstGeom prst="rect">
            <a:avLst/>
          </a:prstGeom>
          <a:ln>
            <a:solidFill>
              <a:schemeClr val="tx1"/>
            </a:solidFill>
          </a:ln>
        </p:spPr>
      </p:pic>
      <p:sp>
        <p:nvSpPr>
          <p:cNvPr id="11" name="TextBox 10">
            <a:extLst>
              <a:ext uri="{FF2B5EF4-FFF2-40B4-BE49-F238E27FC236}">
                <a16:creationId xmlns:a16="http://schemas.microsoft.com/office/drawing/2014/main" id="{C3FD4C47-5B8B-FE41-5471-0E8BBC98234A}"/>
              </a:ext>
            </a:extLst>
          </p:cNvPr>
          <p:cNvSpPr txBox="1"/>
          <p:nvPr/>
        </p:nvSpPr>
        <p:spPr>
          <a:xfrm>
            <a:off x="0" y="153583"/>
            <a:ext cx="9143999" cy="518091"/>
          </a:xfrm>
          <a:prstGeom prst="rect">
            <a:avLst/>
          </a:prstGeom>
          <a:noFill/>
        </p:spPr>
        <p:txBody>
          <a:bodyPr wrap="square" rtlCol="0">
            <a:spAutoFit/>
          </a:bodyPr>
          <a:lstStyle/>
          <a:p>
            <a:pPr algn="ctr">
              <a:lnSpc>
                <a:spcPts val="1425"/>
              </a:lnSpc>
            </a:pPr>
            <a:r>
              <a:rPr lang="en-US" sz="1600" b="1" i="1" dirty="0">
                <a:solidFill>
                  <a:srgbClr val="0D47A1"/>
                </a:solidFill>
                <a:effectLst/>
                <a:latin typeface="Georgia" panose="02040502050405020303" pitchFamily="18" charset="0"/>
              </a:rPr>
              <a:t>Highest Number of Procedures and Largest Differences between Claims and</a:t>
            </a:r>
          </a:p>
          <a:p>
            <a:pPr algn="ctr"/>
            <a:r>
              <a:rPr lang="en-US" sz="1600" b="1" i="1" dirty="0">
                <a:solidFill>
                  <a:srgbClr val="0D47A1"/>
                </a:solidFill>
                <a:effectLst/>
                <a:latin typeface="Georgia" panose="02040502050405020303" pitchFamily="18" charset="0"/>
              </a:rPr>
              <a:t> Reimbursements</a:t>
            </a:r>
          </a:p>
        </p:txBody>
      </p:sp>
      <p:sp>
        <p:nvSpPr>
          <p:cNvPr id="12" name="TextBox 11">
            <a:extLst>
              <a:ext uri="{FF2B5EF4-FFF2-40B4-BE49-F238E27FC236}">
                <a16:creationId xmlns:a16="http://schemas.microsoft.com/office/drawing/2014/main" id="{B710F95A-7C17-F9DB-B59E-55C03E93839C}"/>
              </a:ext>
            </a:extLst>
          </p:cNvPr>
          <p:cNvSpPr txBox="1"/>
          <p:nvPr/>
        </p:nvSpPr>
        <p:spPr>
          <a:xfrm>
            <a:off x="429769" y="3495472"/>
            <a:ext cx="7699247" cy="1200329"/>
          </a:xfrm>
          <a:prstGeom prst="rect">
            <a:avLst/>
          </a:prstGeom>
          <a:noFill/>
        </p:spPr>
        <p:txBody>
          <a:bodyPr wrap="square" rtlCol="0">
            <a:spAutoFit/>
          </a:bodyPr>
          <a:lstStyle/>
          <a:p>
            <a:pPr lvl="1"/>
            <a:r>
              <a:rPr lang="en-IN" b="1" dirty="0">
                <a:latin typeface="Georgia" panose="02040502050405020303" pitchFamily="18" charset="0"/>
              </a:rPr>
              <a:t>Process:</a:t>
            </a:r>
          </a:p>
          <a:p>
            <a:pPr marL="342900" lvl="2" indent="-342900" eaLnBrk="0" fontAlgn="base" hangingPunct="0">
              <a:spcBef>
                <a:spcPct val="0"/>
              </a:spcBef>
              <a:spcAft>
                <a:spcPct val="0"/>
              </a:spcAft>
              <a:buClrTx/>
              <a:buFont typeface="+mj-lt"/>
              <a:buAutoNum type="arabicPeriod"/>
            </a:pPr>
            <a:r>
              <a:rPr kumimoji="0" lang="en-US" altLang="en-US" i="0" u="none" strike="noStrike" cap="none" normalizeH="0" baseline="0" dirty="0">
                <a:ln>
                  <a:noFill/>
                </a:ln>
                <a:solidFill>
                  <a:srgbClr val="0D47A1"/>
                </a:solidFill>
                <a:effectLst/>
                <a:latin typeface="Georgia" panose="02040502050405020303" pitchFamily="18" charset="0"/>
              </a:rPr>
              <a:t>Find Claim Difference </a:t>
            </a:r>
            <a:r>
              <a:rPr kumimoji="0" lang="en-US" altLang="en-US" i="0" u="none" strike="noStrike" cap="none" normalizeH="0" baseline="0" dirty="0">
                <a:ln>
                  <a:noFill/>
                </a:ln>
                <a:solidFill>
                  <a:schemeClr val="tx1"/>
                </a:solidFill>
                <a:effectLst/>
                <a:latin typeface="Georgia" panose="02040502050405020303" pitchFamily="18" charset="0"/>
              </a:rPr>
              <a:t>– Compute max claim for each procedure.</a:t>
            </a:r>
          </a:p>
          <a:p>
            <a:pPr marL="342900" lvl="2" indent="-342900" eaLnBrk="0" fontAlgn="base" hangingPunct="0">
              <a:spcBef>
                <a:spcPct val="0"/>
              </a:spcBef>
              <a:spcAft>
                <a:spcPct val="0"/>
              </a:spcAft>
              <a:buClrTx/>
              <a:buFont typeface="+mj-lt"/>
              <a:buAutoNum type="arabicPeriod"/>
            </a:pPr>
            <a:r>
              <a:rPr kumimoji="0" lang="en-US" altLang="en-US" i="0" u="none" strike="noStrike" cap="none" normalizeH="0" baseline="0" dirty="0">
                <a:ln>
                  <a:noFill/>
                </a:ln>
                <a:solidFill>
                  <a:srgbClr val="0D47A1"/>
                </a:solidFill>
                <a:effectLst/>
                <a:latin typeface="Georgia" panose="02040502050405020303" pitchFamily="18" charset="0"/>
              </a:rPr>
              <a:t>Count Occurrences </a:t>
            </a:r>
            <a:r>
              <a:rPr kumimoji="0" lang="en-US" altLang="en-US" i="0" u="none" strike="noStrike" cap="none" normalizeH="0" baseline="0" dirty="0">
                <a:ln>
                  <a:noFill/>
                </a:ln>
                <a:solidFill>
                  <a:schemeClr val="tx1"/>
                </a:solidFill>
                <a:effectLst/>
                <a:latin typeface="Georgia" panose="02040502050405020303" pitchFamily="18" charset="0"/>
              </a:rPr>
              <a:t>– Get the frequency of each procedure.</a:t>
            </a:r>
          </a:p>
          <a:p>
            <a:pPr marL="342900" lvl="2" indent="-342900" eaLnBrk="0" fontAlgn="base" hangingPunct="0">
              <a:spcBef>
                <a:spcPct val="0"/>
              </a:spcBef>
              <a:spcAft>
                <a:spcPct val="0"/>
              </a:spcAft>
              <a:buClrTx/>
              <a:buFont typeface="+mj-lt"/>
              <a:buAutoNum type="arabicPeriod"/>
            </a:pPr>
            <a:r>
              <a:rPr kumimoji="0" lang="en-US" altLang="en-US" i="0" u="none" strike="noStrike" cap="none" normalizeH="0" baseline="0" dirty="0">
                <a:ln>
                  <a:noFill/>
                </a:ln>
                <a:solidFill>
                  <a:srgbClr val="0D47A1"/>
                </a:solidFill>
                <a:effectLst/>
                <a:latin typeface="Georgia" panose="02040502050405020303" pitchFamily="18" charset="0"/>
              </a:rPr>
              <a:t>Rank Procedures </a:t>
            </a:r>
            <a:r>
              <a:rPr kumimoji="0" lang="en-US" altLang="en-US" i="0" u="none" strike="noStrike" cap="none" normalizeH="0" baseline="0" dirty="0">
                <a:ln>
                  <a:noFill/>
                </a:ln>
                <a:solidFill>
                  <a:schemeClr val="tx1"/>
                </a:solidFill>
                <a:effectLst/>
                <a:latin typeface="Georgia" panose="02040502050405020303" pitchFamily="18" charset="0"/>
              </a:rPr>
              <a:t>– Rank by claim difference (highest first).</a:t>
            </a:r>
          </a:p>
          <a:p>
            <a:pPr marL="342900" lvl="2" indent="-342900" eaLnBrk="0" fontAlgn="base" hangingPunct="0">
              <a:spcBef>
                <a:spcPct val="0"/>
              </a:spcBef>
              <a:spcAft>
                <a:spcPct val="0"/>
              </a:spcAft>
              <a:buClrTx/>
              <a:buFont typeface="+mj-lt"/>
              <a:buAutoNum type="arabicPeriod"/>
            </a:pPr>
            <a:r>
              <a:rPr kumimoji="0" lang="en-US" altLang="en-US" i="0" u="none" strike="noStrike" cap="none" normalizeH="0" baseline="0" dirty="0">
                <a:ln>
                  <a:noFill/>
                </a:ln>
                <a:solidFill>
                  <a:srgbClr val="0D47A1"/>
                </a:solidFill>
                <a:effectLst/>
                <a:latin typeface="Georgia" panose="02040502050405020303" pitchFamily="18" charset="0"/>
              </a:rPr>
              <a:t>Sort &amp; Retrieve </a:t>
            </a:r>
            <a:r>
              <a:rPr kumimoji="0" lang="en-US" altLang="en-US" i="0" u="none" strike="noStrike" cap="none" normalizeH="0" baseline="0" dirty="0">
                <a:ln>
                  <a:noFill/>
                </a:ln>
                <a:solidFill>
                  <a:schemeClr val="tx1"/>
                </a:solidFill>
                <a:effectLst/>
                <a:latin typeface="Georgia" panose="02040502050405020303" pitchFamily="18" charset="0"/>
              </a:rPr>
              <a:t>– Order by rank and extract top procedures. </a:t>
            </a:r>
            <a:endParaRPr lang="en-IN" dirty="0">
              <a:latin typeface="Georgia" panose="02040502050405020303" pitchFamily="18" charset="0"/>
            </a:endParaRPr>
          </a:p>
        </p:txBody>
      </p:sp>
      <p:pic>
        <p:nvPicPr>
          <p:cNvPr id="17" name="Picture 16">
            <a:extLst>
              <a:ext uri="{FF2B5EF4-FFF2-40B4-BE49-F238E27FC236}">
                <a16:creationId xmlns:a16="http://schemas.microsoft.com/office/drawing/2014/main" id="{E0E2F830-487D-5027-1127-D5B5B8964CA3}"/>
              </a:ext>
            </a:extLst>
          </p:cNvPr>
          <p:cNvPicPr>
            <a:picLocks noChangeAspect="1"/>
          </p:cNvPicPr>
          <p:nvPr/>
        </p:nvPicPr>
        <p:blipFill>
          <a:blip r:embed="rId4"/>
          <a:stretch>
            <a:fillRect/>
          </a:stretch>
        </p:blipFill>
        <p:spPr>
          <a:xfrm>
            <a:off x="4571999" y="877824"/>
            <a:ext cx="4389121" cy="2475506"/>
          </a:xfrm>
          <a:prstGeom prst="rect">
            <a:avLst/>
          </a:prstGeom>
          <a:ln>
            <a:solidFill>
              <a:schemeClr val="tx1"/>
            </a:solidFill>
          </a:ln>
        </p:spPr>
      </p:pic>
    </p:spTree>
    <p:extLst>
      <p:ext uri="{BB962C8B-B14F-4D97-AF65-F5344CB8AC3E}">
        <p14:creationId xmlns:p14="http://schemas.microsoft.com/office/powerpoint/2010/main" val="16502586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24E881C7-C114-7041-A4D7-CB6A94A56B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C7BFC2B-7006-B8F8-8A3F-A9AB0CE00977}"/>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3" name="TextBox 2">
            <a:extLst>
              <a:ext uri="{FF2B5EF4-FFF2-40B4-BE49-F238E27FC236}">
                <a16:creationId xmlns:a16="http://schemas.microsoft.com/office/drawing/2014/main" id="{9A95A191-E5AC-BF86-2BC7-AEC194B75D8F}"/>
              </a:ext>
            </a:extLst>
          </p:cNvPr>
          <p:cNvSpPr txBox="1"/>
          <p:nvPr/>
        </p:nvSpPr>
        <p:spPr>
          <a:xfrm>
            <a:off x="1847088" y="2110085"/>
            <a:ext cx="6135624" cy="461665"/>
          </a:xfrm>
          <a:prstGeom prst="rect">
            <a:avLst/>
          </a:prstGeom>
          <a:noFill/>
        </p:spPr>
        <p:txBody>
          <a:bodyPr wrap="square" rtlCol="0">
            <a:spAutoFit/>
          </a:bodyPr>
          <a:lstStyle/>
          <a:p>
            <a:r>
              <a:rPr lang="en-IN" sz="2400" b="1" dirty="0">
                <a:solidFill>
                  <a:srgbClr val="0D47A1"/>
                </a:solidFill>
                <a:latin typeface="Georgia" panose="02040502050405020303" pitchFamily="18" charset="0"/>
              </a:rPr>
              <a:t>Least Similar Providers and Region</a:t>
            </a:r>
          </a:p>
        </p:txBody>
      </p:sp>
    </p:spTree>
    <p:extLst>
      <p:ext uri="{BB962C8B-B14F-4D97-AF65-F5344CB8AC3E}">
        <p14:creationId xmlns:p14="http://schemas.microsoft.com/office/powerpoint/2010/main" val="3478018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F929EC29-A152-01D1-2396-EC9C38BCEF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6D7CAB-3563-ADB3-2B30-0E0BBB0EFF6B}"/>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5" name="Rectangle 1">
            <a:extLst>
              <a:ext uri="{FF2B5EF4-FFF2-40B4-BE49-F238E27FC236}">
                <a16:creationId xmlns:a16="http://schemas.microsoft.com/office/drawing/2014/main" id="{19947FC0-3570-F88D-A267-EB9C446868A4}"/>
              </a:ext>
            </a:extLst>
          </p:cNvPr>
          <p:cNvSpPr>
            <a:spLocks noChangeArrowheads="1"/>
          </p:cNvSpPr>
          <p:nvPr/>
        </p:nvSpPr>
        <p:spPr bwMode="auto">
          <a:xfrm>
            <a:off x="841248" y="719901"/>
            <a:ext cx="5431536" cy="235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en-US" altLang="en-US" b="1" i="0" u="none" strike="noStrike" cap="none" normalizeH="0" baseline="0" dirty="0">
                <a:ln>
                  <a:noFill/>
                </a:ln>
                <a:solidFill>
                  <a:schemeClr val="tx1"/>
                </a:solidFill>
                <a:effectLst/>
                <a:latin typeface="Georgia" panose="02040502050405020303" pitchFamily="18" charset="0"/>
              </a:rPr>
              <a:t>Step-by-Step Process</a:t>
            </a:r>
          </a:p>
          <a:p>
            <a:pPr marL="285750" lvl="4" indent="-285750" eaLnBrk="0" fontAlgn="base" hangingPunct="0">
              <a:spcBef>
                <a:spcPct val="0"/>
              </a:spcBef>
              <a:spcAft>
                <a:spcPts val="600"/>
              </a:spcAft>
              <a:buClrTx/>
              <a:buFont typeface="Arial" panose="020B0604020202020204" pitchFamily="34" charset="0"/>
              <a:buChar char="•"/>
            </a:pPr>
            <a:r>
              <a:rPr kumimoji="0" lang="en-US" altLang="en-US" b="1" i="0" u="none" strike="noStrike" cap="none" normalizeH="0" baseline="0" dirty="0">
                <a:ln>
                  <a:noFill/>
                </a:ln>
                <a:solidFill>
                  <a:schemeClr val="tx1"/>
                </a:solidFill>
                <a:effectLst/>
                <a:latin typeface="Georgia" panose="02040502050405020303" pitchFamily="18" charset="0"/>
              </a:rPr>
              <a:t>Step 1: </a:t>
            </a:r>
            <a:r>
              <a:rPr kumimoji="0" lang="en-US" altLang="en-US" i="0" u="none" strike="noStrike" cap="none" normalizeH="0" baseline="0" dirty="0">
                <a:ln>
                  <a:noFill/>
                </a:ln>
                <a:solidFill>
                  <a:schemeClr val="tx1"/>
                </a:solidFill>
                <a:effectLst/>
                <a:latin typeface="Georgia" panose="02040502050405020303" pitchFamily="18" charset="0"/>
              </a:rPr>
              <a:t>Select Key Features</a:t>
            </a:r>
          </a:p>
          <a:p>
            <a:pPr marL="285750" lvl="4" indent="-285750" eaLnBrk="0" fontAlgn="base" hangingPunct="0">
              <a:spcBef>
                <a:spcPct val="0"/>
              </a:spcBef>
              <a:spcAft>
                <a:spcPts val="600"/>
              </a:spcAft>
              <a:buClrTx/>
              <a:buFont typeface="Arial" panose="020B0604020202020204" pitchFamily="34" charset="0"/>
              <a:buChar char="•"/>
            </a:pPr>
            <a:r>
              <a:rPr kumimoji="0" lang="en-US" altLang="en-US" b="1" i="0" u="none" strike="noStrike" cap="none" normalizeH="0" baseline="0" dirty="0">
                <a:ln>
                  <a:noFill/>
                </a:ln>
                <a:solidFill>
                  <a:schemeClr val="tx1"/>
                </a:solidFill>
                <a:effectLst/>
                <a:latin typeface="Georgia" panose="02040502050405020303" pitchFamily="18" charset="0"/>
              </a:rPr>
              <a:t>Step 2: </a:t>
            </a:r>
            <a:r>
              <a:rPr kumimoji="0" lang="en-US" altLang="en-US" i="0" u="none" strike="noStrike" cap="none" normalizeH="0" baseline="0" dirty="0">
                <a:ln>
                  <a:noFill/>
                </a:ln>
                <a:solidFill>
                  <a:schemeClr val="tx1"/>
                </a:solidFill>
                <a:effectLst/>
                <a:latin typeface="Georgia" panose="02040502050405020303" pitchFamily="18" charset="0"/>
              </a:rPr>
              <a:t>Handle Missing Data</a:t>
            </a:r>
          </a:p>
          <a:p>
            <a:pPr marL="285750" lvl="4" indent="-285750" eaLnBrk="0" fontAlgn="base" hangingPunct="0">
              <a:spcBef>
                <a:spcPct val="0"/>
              </a:spcBef>
              <a:spcAft>
                <a:spcPts val="600"/>
              </a:spcAft>
              <a:buClrTx/>
              <a:buFont typeface="Arial" panose="020B0604020202020204" pitchFamily="34" charset="0"/>
              <a:buChar char="•"/>
            </a:pPr>
            <a:r>
              <a:rPr kumimoji="0" lang="en-US" altLang="en-US" b="1" i="0" u="none" strike="noStrike" cap="none" normalizeH="0" baseline="0" dirty="0">
                <a:ln>
                  <a:noFill/>
                </a:ln>
                <a:solidFill>
                  <a:schemeClr val="tx1"/>
                </a:solidFill>
                <a:effectLst/>
                <a:latin typeface="Georgia" panose="02040502050405020303" pitchFamily="18" charset="0"/>
              </a:rPr>
              <a:t>Step 3: </a:t>
            </a:r>
            <a:r>
              <a:rPr kumimoji="0" lang="en-US" altLang="en-US" i="0" u="none" strike="noStrike" cap="none" normalizeH="0" baseline="0" dirty="0">
                <a:ln>
                  <a:noFill/>
                </a:ln>
                <a:solidFill>
                  <a:schemeClr val="tx1"/>
                </a:solidFill>
                <a:effectLst/>
                <a:latin typeface="Georgia" panose="02040502050405020303" pitchFamily="18" charset="0"/>
              </a:rPr>
              <a:t>Standardize the Data</a:t>
            </a:r>
          </a:p>
          <a:p>
            <a:pPr marL="285750" lvl="4" indent="-285750" eaLnBrk="0" fontAlgn="base" hangingPunct="0">
              <a:spcBef>
                <a:spcPct val="0"/>
              </a:spcBef>
              <a:spcAft>
                <a:spcPts val="600"/>
              </a:spcAft>
              <a:buClrTx/>
              <a:buFont typeface="Arial" panose="020B0604020202020204" pitchFamily="34" charset="0"/>
              <a:buChar char="•"/>
            </a:pPr>
            <a:r>
              <a:rPr kumimoji="0" lang="en-US" altLang="en-US" b="1" i="0" u="none" strike="noStrike" cap="none" normalizeH="0" baseline="0" dirty="0">
                <a:ln>
                  <a:noFill/>
                </a:ln>
                <a:solidFill>
                  <a:schemeClr val="tx1"/>
                </a:solidFill>
                <a:effectLst/>
                <a:latin typeface="Georgia" panose="02040502050405020303" pitchFamily="18" charset="0"/>
              </a:rPr>
              <a:t>Step 4: </a:t>
            </a:r>
            <a:r>
              <a:rPr kumimoji="0" lang="en-US" altLang="en-US" i="0" u="none" strike="noStrike" cap="none" normalizeH="0" baseline="0" dirty="0">
                <a:ln>
                  <a:noFill/>
                </a:ln>
                <a:solidFill>
                  <a:schemeClr val="tx1"/>
                </a:solidFill>
                <a:effectLst/>
                <a:latin typeface="Georgia" panose="02040502050405020303" pitchFamily="18" charset="0"/>
              </a:rPr>
              <a:t>Apply PCA (Dimensionality Reduction)</a:t>
            </a:r>
          </a:p>
          <a:p>
            <a:pPr marL="285750" lvl="4" indent="-285750" eaLnBrk="0" fontAlgn="base" hangingPunct="0">
              <a:spcBef>
                <a:spcPct val="0"/>
              </a:spcBef>
              <a:spcAft>
                <a:spcPts val="600"/>
              </a:spcAft>
              <a:buClrTx/>
              <a:buFont typeface="Arial" panose="020B0604020202020204" pitchFamily="34" charset="0"/>
              <a:buChar char="•"/>
            </a:pPr>
            <a:r>
              <a:rPr kumimoji="0" lang="en-US" altLang="en-US" b="1" i="0" u="none" strike="noStrike" cap="none" normalizeH="0" baseline="0" dirty="0">
                <a:ln>
                  <a:noFill/>
                </a:ln>
                <a:solidFill>
                  <a:schemeClr val="tx1"/>
                </a:solidFill>
                <a:effectLst/>
                <a:latin typeface="Georgia" panose="02040502050405020303" pitchFamily="18" charset="0"/>
              </a:rPr>
              <a:t>Step 5: </a:t>
            </a:r>
            <a:r>
              <a:rPr kumimoji="0" lang="en-US" altLang="en-US" i="0" u="none" strike="noStrike" cap="none" normalizeH="0" baseline="0" dirty="0">
                <a:ln>
                  <a:noFill/>
                </a:ln>
                <a:solidFill>
                  <a:schemeClr val="tx1"/>
                </a:solidFill>
                <a:effectLst/>
                <a:latin typeface="Georgia" panose="02040502050405020303" pitchFamily="18" charset="0"/>
              </a:rPr>
              <a:t>Perform K-Means Clustering</a:t>
            </a:r>
          </a:p>
          <a:p>
            <a:pPr marL="285750" lvl="4" indent="-285750" eaLnBrk="0" fontAlgn="base" hangingPunct="0">
              <a:spcBef>
                <a:spcPct val="0"/>
              </a:spcBef>
              <a:spcAft>
                <a:spcPts val="600"/>
              </a:spcAft>
              <a:buClrTx/>
              <a:buFont typeface="Arial" panose="020B0604020202020204" pitchFamily="34" charset="0"/>
              <a:buChar char="•"/>
            </a:pPr>
            <a:r>
              <a:rPr kumimoji="0" lang="en-US" altLang="en-US" b="1" i="0" u="none" strike="noStrike" cap="none" normalizeH="0" baseline="0" dirty="0">
                <a:ln>
                  <a:noFill/>
                </a:ln>
                <a:solidFill>
                  <a:schemeClr val="tx1"/>
                </a:solidFill>
                <a:effectLst/>
                <a:latin typeface="Georgia" panose="02040502050405020303" pitchFamily="18" charset="0"/>
              </a:rPr>
              <a:t>Step 6: </a:t>
            </a:r>
            <a:r>
              <a:rPr kumimoji="0" lang="en-US" altLang="en-US" i="0" u="none" strike="noStrike" cap="none" normalizeH="0" baseline="0" dirty="0">
                <a:ln>
                  <a:noFill/>
                </a:ln>
                <a:solidFill>
                  <a:schemeClr val="tx1"/>
                </a:solidFill>
                <a:effectLst/>
                <a:latin typeface="Georgia" panose="02040502050405020303" pitchFamily="18" charset="0"/>
              </a:rPr>
              <a:t>Measure Distance from Cluster Centers</a:t>
            </a:r>
          </a:p>
          <a:p>
            <a:pPr marL="285750" lvl="4" indent="-285750" eaLnBrk="0" fontAlgn="base" hangingPunct="0">
              <a:spcBef>
                <a:spcPct val="0"/>
              </a:spcBef>
              <a:spcAft>
                <a:spcPts val="600"/>
              </a:spcAft>
              <a:buClrTx/>
              <a:buFont typeface="Arial" panose="020B0604020202020204" pitchFamily="34" charset="0"/>
              <a:buChar char="•"/>
            </a:pPr>
            <a:r>
              <a:rPr kumimoji="0" lang="en-US" altLang="en-US" b="1" i="0" u="none" strike="noStrike" cap="none" normalizeH="0" baseline="0" dirty="0">
                <a:ln>
                  <a:noFill/>
                </a:ln>
                <a:solidFill>
                  <a:schemeClr val="tx1"/>
                </a:solidFill>
                <a:effectLst/>
                <a:latin typeface="Georgia" panose="02040502050405020303" pitchFamily="18" charset="0"/>
              </a:rPr>
              <a:t>Step 7: </a:t>
            </a:r>
            <a:r>
              <a:rPr kumimoji="0" lang="en-US" altLang="en-US" i="0" u="none" strike="noStrike" cap="none" normalizeH="0" baseline="0" dirty="0">
                <a:ln>
                  <a:noFill/>
                </a:ln>
                <a:solidFill>
                  <a:schemeClr val="tx1"/>
                </a:solidFill>
                <a:effectLst/>
                <a:latin typeface="Georgia" panose="02040502050405020303" pitchFamily="18" charset="0"/>
              </a:rPr>
              <a:t>Identify Least Similar Providers</a:t>
            </a:r>
          </a:p>
        </p:txBody>
      </p:sp>
      <p:sp>
        <p:nvSpPr>
          <p:cNvPr id="7" name="Rectangle 3">
            <a:extLst>
              <a:ext uri="{FF2B5EF4-FFF2-40B4-BE49-F238E27FC236}">
                <a16:creationId xmlns:a16="http://schemas.microsoft.com/office/drawing/2014/main" id="{50251ADF-3ABA-7F14-BEF8-483A75B917C9}"/>
              </a:ext>
            </a:extLst>
          </p:cNvPr>
          <p:cNvSpPr>
            <a:spLocks noChangeArrowheads="1"/>
          </p:cNvSpPr>
          <p:nvPr/>
        </p:nvSpPr>
        <p:spPr bwMode="auto">
          <a:xfrm>
            <a:off x="841248" y="3320790"/>
            <a:ext cx="7827264" cy="1184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ts val="600"/>
              </a:spcAft>
              <a:buClrTx/>
              <a:buSzTx/>
              <a:tabLst/>
            </a:pPr>
            <a:r>
              <a:rPr kumimoji="0" lang="en-US" altLang="en-US" b="0" i="0" u="none" strike="noStrike" cap="none" normalizeH="0" baseline="0" dirty="0">
                <a:ln>
                  <a:noFill/>
                </a:ln>
                <a:solidFill>
                  <a:srgbClr val="0D47A1"/>
                </a:solidFill>
                <a:effectLst/>
                <a:latin typeface="Georgia" panose="02040502050405020303" pitchFamily="18" charset="0"/>
              </a:rPr>
              <a:t>The least similar providers may have:</a:t>
            </a: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en-US" altLang="en-US" i="0" u="none" strike="noStrike" cap="none" normalizeH="0" baseline="0" dirty="0">
                <a:ln>
                  <a:noFill/>
                </a:ln>
                <a:solidFill>
                  <a:schemeClr val="tx1"/>
                </a:solidFill>
                <a:effectLst/>
                <a:latin typeface="Georgia" panose="02040502050405020303" pitchFamily="18" charset="0"/>
              </a:rPr>
              <a:t>Unusual billing patterns</a:t>
            </a: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en-US" altLang="en-US" i="0" u="none" strike="noStrike" cap="none" normalizeH="0" baseline="0" dirty="0">
                <a:ln>
                  <a:noFill/>
                </a:ln>
                <a:solidFill>
                  <a:schemeClr val="tx1"/>
                </a:solidFill>
                <a:effectLst/>
                <a:latin typeface="Georgia" panose="02040502050405020303" pitchFamily="18" charset="0"/>
              </a:rPr>
              <a:t>Specialized treatments or higher costs</a:t>
            </a: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en-US" altLang="en-US" i="0" u="none" strike="noStrike" cap="none" normalizeH="0" baseline="0" dirty="0">
                <a:ln>
                  <a:noFill/>
                </a:ln>
                <a:solidFill>
                  <a:schemeClr val="tx1"/>
                </a:solidFill>
                <a:effectLst/>
                <a:latin typeface="Georgia" panose="02040502050405020303" pitchFamily="18" charset="0"/>
              </a:rPr>
              <a:t>Potential data anomalies or fraud</a:t>
            </a:r>
          </a:p>
        </p:txBody>
      </p:sp>
      <p:sp>
        <p:nvSpPr>
          <p:cNvPr id="8" name="TextBox 7">
            <a:extLst>
              <a:ext uri="{FF2B5EF4-FFF2-40B4-BE49-F238E27FC236}">
                <a16:creationId xmlns:a16="http://schemas.microsoft.com/office/drawing/2014/main" id="{375801B9-2507-3417-60B0-611C841F7A68}"/>
              </a:ext>
            </a:extLst>
          </p:cNvPr>
          <p:cNvSpPr txBox="1"/>
          <p:nvPr/>
        </p:nvSpPr>
        <p:spPr>
          <a:xfrm>
            <a:off x="0" y="199004"/>
            <a:ext cx="9143999" cy="274499"/>
          </a:xfrm>
          <a:prstGeom prst="rect">
            <a:avLst/>
          </a:prstGeom>
          <a:noFill/>
        </p:spPr>
        <p:txBody>
          <a:bodyPr wrap="square" rtlCol="0">
            <a:spAutoFit/>
          </a:bodyPr>
          <a:lstStyle/>
          <a:p>
            <a:pPr algn="ctr">
              <a:lnSpc>
                <a:spcPts val="1425"/>
              </a:lnSpc>
            </a:pPr>
            <a:r>
              <a:rPr lang="en-US" sz="1600" b="1" i="1" dirty="0">
                <a:solidFill>
                  <a:srgbClr val="0D47A1"/>
                </a:solidFill>
                <a:effectLst/>
                <a:latin typeface="Georgia" panose="02040502050405020303" pitchFamily="18" charset="0"/>
              </a:rPr>
              <a:t>Least Similar Providers</a:t>
            </a:r>
          </a:p>
        </p:txBody>
      </p:sp>
    </p:spTree>
    <p:extLst>
      <p:ext uri="{BB962C8B-B14F-4D97-AF65-F5344CB8AC3E}">
        <p14:creationId xmlns:p14="http://schemas.microsoft.com/office/powerpoint/2010/main" val="4388689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0D3B1337-ED07-2360-F1C7-7AC483ED09C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4297FB1-79EA-AFCF-D7AE-6AE38C59DE79}"/>
              </a:ext>
            </a:extLst>
          </p:cNvPr>
          <p:cNvPicPr>
            <a:picLocks noChangeAspect="1"/>
          </p:cNvPicPr>
          <p:nvPr/>
        </p:nvPicPr>
        <p:blipFill>
          <a:blip r:embed="rId2"/>
          <a:stretch>
            <a:fillRect/>
          </a:stretch>
        </p:blipFill>
        <p:spPr>
          <a:xfrm>
            <a:off x="5260300" y="645457"/>
            <a:ext cx="3739655" cy="1121200"/>
          </a:xfrm>
          <a:prstGeom prst="rect">
            <a:avLst/>
          </a:prstGeom>
        </p:spPr>
      </p:pic>
      <p:pic>
        <p:nvPicPr>
          <p:cNvPr id="6" name="Picture 5">
            <a:extLst>
              <a:ext uri="{FF2B5EF4-FFF2-40B4-BE49-F238E27FC236}">
                <a16:creationId xmlns:a16="http://schemas.microsoft.com/office/drawing/2014/main" id="{4584B054-BC0B-7B51-EF47-861D7BFD10E0}"/>
              </a:ext>
            </a:extLst>
          </p:cNvPr>
          <p:cNvPicPr>
            <a:picLocks noChangeAspect="1"/>
          </p:cNvPicPr>
          <p:nvPr/>
        </p:nvPicPr>
        <p:blipFill>
          <a:blip r:embed="rId3"/>
          <a:stretch>
            <a:fillRect/>
          </a:stretch>
        </p:blipFill>
        <p:spPr>
          <a:xfrm>
            <a:off x="144045" y="645457"/>
            <a:ext cx="4841315" cy="3880823"/>
          </a:xfrm>
          <a:prstGeom prst="rect">
            <a:avLst/>
          </a:prstGeom>
          <a:ln>
            <a:solidFill>
              <a:schemeClr val="tx1"/>
            </a:solidFill>
          </a:ln>
        </p:spPr>
      </p:pic>
      <p:sp>
        <p:nvSpPr>
          <p:cNvPr id="7" name="TextBox 6">
            <a:extLst>
              <a:ext uri="{FF2B5EF4-FFF2-40B4-BE49-F238E27FC236}">
                <a16:creationId xmlns:a16="http://schemas.microsoft.com/office/drawing/2014/main" id="{A8BC1577-44A2-E349-293B-AA285A578284}"/>
              </a:ext>
            </a:extLst>
          </p:cNvPr>
          <p:cNvSpPr txBox="1"/>
          <p:nvPr/>
        </p:nvSpPr>
        <p:spPr>
          <a:xfrm>
            <a:off x="0" y="199004"/>
            <a:ext cx="9143999" cy="280398"/>
          </a:xfrm>
          <a:prstGeom prst="rect">
            <a:avLst/>
          </a:prstGeom>
          <a:noFill/>
        </p:spPr>
        <p:txBody>
          <a:bodyPr wrap="square" rtlCol="0">
            <a:spAutoFit/>
          </a:bodyPr>
          <a:lstStyle/>
          <a:p>
            <a:pPr algn="ctr">
              <a:lnSpc>
                <a:spcPts val="1425"/>
              </a:lnSpc>
            </a:pPr>
            <a:r>
              <a:rPr lang="en-US" sz="1800" b="1" i="1" dirty="0">
                <a:solidFill>
                  <a:srgbClr val="0D47A1"/>
                </a:solidFill>
                <a:effectLst/>
                <a:latin typeface="Georgia" panose="02040502050405020303" pitchFamily="18" charset="0"/>
              </a:rPr>
              <a:t>Least Similar Providers</a:t>
            </a:r>
          </a:p>
        </p:txBody>
      </p:sp>
      <p:sp>
        <p:nvSpPr>
          <p:cNvPr id="8" name="TextBox 7">
            <a:extLst>
              <a:ext uri="{FF2B5EF4-FFF2-40B4-BE49-F238E27FC236}">
                <a16:creationId xmlns:a16="http://schemas.microsoft.com/office/drawing/2014/main" id="{1DFB435E-DF5F-0F12-8D7C-727B873A7B8B}"/>
              </a:ext>
            </a:extLst>
          </p:cNvPr>
          <p:cNvSpPr txBox="1"/>
          <p:nvPr/>
        </p:nvSpPr>
        <p:spPr>
          <a:xfrm>
            <a:off x="5188277" y="2057400"/>
            <a:ext cx="3883699" cy="2400657"/>
          </a:xfrm>
          <a:prstGeom prst="rect">
            <a:avLst/>
          </a:prstGeom>
          <a:noFill/>
        </p:spPr>
        <p:txBody>
          <a:bodyPr wrap="square" rtlCol="0">
            <a:spAutoFit/>
          </a:bodyPr>
          <a:lstStyle/>
          <a:p>
            <a:pPr>
              <a:spcAft>
                <a:spcPts val="600"/>
              </a:spcAft>
            </a:pPr>
            <a:r>
              <a:rPr lang="en-US" sz="1200" b="1" dirty="0">
                <a:solidFill>
                  <a:srgbClr val="0D47A1"/>
                </a:solidFill>
                <a:latin typeface="Georgia" panose="02040502050405020303" pitchFamily="18" charset="0"/>
              </a:rPr>
              <a:t>Insights:</a:t>
            </a:r>
          </a:p>
          <a:p>
            <a:pPr marL="171450" indent="-171450">
              <a:spcAft>
                <a:spcPts val="600"/>
              </a:spcAft>
              <a:buFont typeface="Arial" panose="020B0604020202020204" pitchFamily="34" charset="0"/>
              <a:buChar char="•"/>
            </a:pPr>
            <a:r>
              <a:rPr lang="en-US" sz="1200" dirty="0">
                <a:latin typeface="Georgia" panose="02040502050405020303" pitchFamily="18" charset="0"/>
              </a:rPr>
              <a:t>Three hospitals (Hospital for Special Surgery, Stanford Hospital, Washington Hospital) are </a:t>
            </a:r>
            <a:r>
              <a:rPr lang="en-US" sz="1200" b="1" dirty="0">
                <a:latin typeface="Georgia" panose="02040502050405020303" pitchFamily="18" charset="0"/>
              </a:rPr>
              <a:t>outliers</a:t>
            </a:r>
            <a:r>
              <a:rPr lang="en-US" sz="1200" dirty="0">
                <a:latin typeface="Georgia" panose="02040502050405020303" pitchFamily="18" charset="0"/>
              </a:rPr>
              <a:t> with high DistanceToCenter values.</a:t>
            </a:r>
          </a:p>
          <a:p>
            <a:pPr marL="171450" indent="-171450">
              <a:spcAft>
                <a:spcPts val="600"/>
              </a:spcAft>
              <a:buFont typeface="Arial" panose="020B0604020202020204" pitchFamily="34" charset="0"/>
              <a:buChar char="•"/>
            </a:pPr>
            <a:r>
              <a:rPr lang="en-US" sz="1200" dirty="0">
                <a:latin typeface="Georgia" panose="02040502050405020303" pitchFamily="18" charset="0"/>
              </a:rPr>
              <a:t>Most providers follow similar cost patterns, while these outliers have distinct pricing structures.</a:t>
            </a:r>
          </a:p>
          <a:p>
            <a:pPr>
              <a:spcAft>
                <a:spcPts val="600"/>
              </a:spcAft>
            </a:pPr>
            <a:endParaRPr lang="en-US" sz="1200" dirty="0">
              <a:latin typeface="Georgia" panose="02040502050405020303" pitchFamily="18" charset="0"/>
            </a:endParaRPr>
          </a:p>
          <a:p>
            <a:pPr>
              <a:spcAft>
                <a:spcPts val="600"/>
              </a:spcAft>
            </a:pPr>
            <a:r>
              <a:rPr lang="en-IN" sz="1200" b="1" dirty="0">
                <a:solidFill>
                  <a:srgbClr val="0D47A1"/>
                </a:solidFill>
                <a:latin typeface="Georgia" panose="02040502050405020303" pitchFamily="18" charset="0"/>
              </a:rPr>
              <a:t>Recommendations:</a:t>
            </a:r>
          </a:p>
          <a:p>
            <a:pPr marL="171450" indent="-171450">
              <a:spcAft>
                <a:spcPts val="600"/>
              </a:spcAft>
              <a:buFont typeface="Arial" panose="020B0604020202020204" pitchFamily="34" charset="0"/>
              <a:buChar char="•"/>
            </a:pPr>
            <a:r>
              <a:rPr lang="en-IN" sz="1200" dirty="0">
                <a:latin typeface="Georgia" panose="02040502050405020303" pitchFamily="18" charset="0"/>
              </a:rPr>
              <a:t>Analyse cost structures to understand deviations.</a:t>
            </a:r>
          </a:p>
          <a:p>
            <a:pPr marL="171450" indent="-171450">
              <a:spcAft>
                <a:spcPts val="600"/>
              </a:spcAft>
              <a:buFont typeface="Arial" panose="020B0604020202020204" pitchFamily="34" charset="0"/>
              <a:buChar char="•"/>
            </a:pPr>
            <a:r>
              <a:rPr lang="en-IN" sz="1200" dirty="0">
                <a:latin typeface="Georgia" panose="02040502050405020303" pitchFamily="18" charset="0"/>
              </a:rPr>
              <a:t>Optimize costs if inefficiencies are found.</a:t>
            </a:r>
          </a:p>
        </p:txBody>
      </p:sp>
    </p:spTree>
    <p:extLst>
      <p:ext uri="{BB962C8B-B14F-4D97-AF65-F5344CB8AC3E}">
        <p14:creationId xmlns:p14="http://schemas.microsoft.com/office/powerpoint/2010/main" val="18467615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25CA1A47-EF35-B3EA-A02F-033859EE14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3C75E7-36FF-4243-5513-EA6AB29A27E6}"/>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8" name="TextBox 7">
            <a:extLst>
              <a:ext uri="{FF2B5EF4-FFF2-40B4-BE49-F238E27FC236}">
                <a16:creationId xmlns:a16="http://schemas.microsoft.com/office/drawing/2014/main" id="{52D2E1AF-0A33-E252-9EA4-B928A4CA2317}"/>
              </a:ext>
            </a:extLst>
          </p:cNvPr>
          <p:cNvSpPr txBox="1"/>
          <p:nvPr/>
        </p:nvSpPr>
        <p:spPr>
          <a:xfrm>
            <a:off x="0" y="248636"/>
            <a:ext cx="9143999" cy="274499"/>
          </a:xfrm>
          <a:prstGeom prst="rect">
            <a:avLst/>
          </a:prstGeom>
          <a:noFill/>
        </p:spPr>
        <p:txBody>
          <a:bodyPr wrap="square" rtlCol="0">
            <a:spAutoFit/>
          </a:bodyPr>
          <a:lstStyle/>
          <a:p>
            <a:pPr algn="ctr">
              <a:lnSpc>
                <a:spcPts val="1425"/>
              </a:lnSpc>
            </a:pPr>
            <a:r>
              <a:rPr lang="en-US" sz="1600" b="1" i="1" dirty="0">
                <a:solidFill>
                  <a:srgbClr val="0D47A1"/>
                </a:solidFill>
                <a:effectLst/>
                <a:latin typeface="Georgia" panose="02040502050405020303" pitchFamily="18" charset="0"/>
              </a:rPr>
              <a:t>Least Similar Providers</a:t>
            </a:r>
          </a:p>
        </p:txBody>
      </p:sp>
      <p:sp>
        <p:nvSpPr>
          <p:cNvPr id="6" name="Rectangle 3">
            <a:extLst>
              <a:ext uri="{FF2B5EF4-FFF2-40B4-BE49-F238E27FC236}">
                <a16:creationId xmlns:a16="http://schemas.microsoft.com/office/drawing/2014/main" id="{3251FE83-4E24-DD2F-A501-DAB02B45AFFC}"/>
              </a:ext>
            </a:extLst>
          </p:cNvPr>
          <p:cNvSpPr>
            <a:spLocks noChangeArrowheads="1"/>
          </p:cNvSpPr>
          <p:nvPr/>
        </p:nvSpPr>
        <p:spPr bwMode="auto">
          <a:xfrm>
            <a:off x="581893" y="3134391"/>
            <a:ext cx="5073825" cy="1184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en-US" altLang="en-US" b="0" i="0" u="none" strike="noStrike" cap="none" normalizeH="0" baseline="0" dirty="0">
                <a:ln>
                  <a:noFill/>
                </a:ln>
                <a:solidFill>
                  <a:srgbClr val="0D47A1"/>
                </a:solidFill>
                <a:effectLst/>
                <a:latin typeface="Georgia" panose="02040502050405020303" pitchFamily="18" charset="0"/>
              </a:rPr>
              <a:t>The least similar regions may have:</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Georgia" panose="02040502050405020303" pitchFamily="18" charset="0"/>
              </a:rPr>
              <a:t>Higher or lower-than-average costs</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Georgia" panose="02040502050405020303" pitchFamily="18" charset="0"/>
              </a:rPr>
              <a:t>Differences in healthcare policies or patient demographics</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Georgia" panose="02040502050405020303" pitchFamily="18" charset="0"/>
              </a:rPr>
              <a:t>Outlier hospitals with unique billing practices</a:t>
            </a:r>
          </a:p>
        </p:txBody>
      </p:sp>
      <p:sp>
        <p:nvSpPr>
          <p:cNvPr id="10" name="TextBox 9">
            <a:extLst>
              <a:ext uri="{FF2B5EF4-FFF2-40B4-BE49-F238E27FC236}">
                <a16:creationId xmlns:a16="http://schemas.microsoft.com/office/drawing/2014/main" id="{F36622FC-0DE2-53FF-9701-31ED7BC2701B}"/>
              </a:ext>
            </a:extLst>
          </p:cNvPr>
          <p:cNvSpPr txBox="1"/>
          <p:nvPr/>
        </p:nvSpPr>
        <p:spPr>
          <a:xfrm>
            <a:off x="581893" y="683322"/>
            <a:ext cx="7291091" cy="206210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en-US" altLang="en-US" b="1" i="0" u="none" strike="noStrike" cap="none" normalizeH="0" baseline="0" dirty="0">
                <a:ln>
                  <a:noFill/>
                </a:ln>
                <a:solidFill>
                  <a:schemeClr val="tx1"/>
                </a:solidFill>
                <a:effectLst/>
                <a:latin typeface="Georgia" panose="02040502050405020303" pitchFamily="18" charset="0"/>
              </a:rPr>
              <a:t>Step-by-Step Process</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Georgia" panose="02040502050405020303" pitchFamily="18" charset="0"/>
              </a:rPr>
              <a:t>Step 1: </a:t>
            </a:r>
            <a:r>
              <a:rPr kumimoji="0" lang="en-US" altLang="en-US" i="0" u="none" strike="noStrike" cap="none" normalizeH="0" baseline="0" dirty="0">
                <a:ln>
                  <a:noFill/>
                </a:ln>
                <a:solidFill>
                  <a:schemeClr val="tx1"/>
                </a:solidFill>
                <a:effectLst/>
                <a:latin typeface="Georgia" panose="02040502050405020303" pitchFamily="18" charset="0"/>
              </a:rPr>
              <a:t>Group Data by Region</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Georgia" panose="02040502050405020303" pitchFamily="18" charset="0"/>
              </a:rPr>
              <a:t>Step 2: </a:t>
            </a:r>
            <a:r>
              <a:rPr kumimoji="0" lang="en-US" altLang="en-US" i="0" u="none" strike="noStrike" cap="none" normalizeH="0" baseline="0" dirty="0">
                <a:ln>
                  <a:noFill/>
                </a:ln>
                <a:solidFill>
                  <a:schemeClr val="tx1"/>
                </a:solidFill>
                <a:effectLst/>
                <a:latin typeface="Georgia" panose="02040502050405020303" pitchFamily="18" charset="0"/>
              </a:rPr>
              <a:t>Standardize the Data</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Georgia" panose="02040502050405020303" pitchFamily="18" charset="0"/>
              </a:rPr>
              <a:t>Step 3: </a:t>
            </a:r>
            <a:r>
              <a:rPr kumimoji="0" lang="en-US" altLang="en-US" i="0" u="none" strike="noStrike" cap="none" normalizeH="0" baseline="0" dirty="0">
                <a:ln>
                  <a:noFill/>
                </a:ln>
                <a:solidFill>
                  <a:schemeClr val="tx1"/>
                </a:solidFill>
                <a:effectLst/>
                <a:latin typeface="Georgia" panose="02040502050405020303" pitchFamily="18" charset="0"/>
              </a:rPr>
              <a:t>Apply PCA for Dimensionality Reduction</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Georgia" panose="02040502050405020303" pitchFamily="18" charset="0"/>
              </a:rPr>
              <a:t>Step 4: </a:t>
            </a:r>
            <a:r>
              <a:rPr kumimoji="0" lang="en-US" altLang="en-US" i="0" u="none" strike="noStrike" cap="none" normalizeH="0" baseline="0" dirty="0">
                <a:ln>
                  <a:noFill/>
                </a:ln>
                <a:solidFill>
                  <a:schemeClr val="tx1"/>
                </a:solidFill>
                <a:effectLst/>
                <a:latin typeface="Georgia" panose="02040502050405020303" pitchFamily="18" charset="0"/>
              </a:rPr>
              <a:t>Perform K-Means Clustering</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Georgia" panose="02040502050405020303" pitchFamily="18" charset="0"/>
              </a:rPr>
              <a:t>Step 5: </a:t>
            </a:r>
            <a:r>
              <a:rPr kumimoji="0" lang="en-US" altLang="en-US" i="0" u="none" strike="noStrike" cap="none" normalizeH="0" baseline="0" dirty="0">
                <a:ln>
                  <a:noFill/>
                </a:ln>
                <a:solidFill>
                  <a:schemeClr val="tx1"/>
                </a:solidFill>
                <a:effectLst/>
                <a:latin typeface="Georgia" panose="02040502050405020303" pitchFamily="18" charset="0"/>
              </a:rPr>
              <a:t>Measure Distance from Cluster Centers</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Georgia" panose="02040502050405020303" pitchFamily="18" charset="0"/>
              </a:rPr>
              <a:t>Step 6: </a:t>
            </a:r>
            <a:r>
              <a:rPr kumimoji="0" lang="en-US" altLang="en-US" i="0" u="none" strike="noStrike" cap="none" normalizeH="0" baseline="0" dirty="0">
                <a:ln>
                  <a:noFill/>
                </a:ln>
                <a:solidFill>
                  <a:schemeClr val="tx1"/>
                </a:solidFill>
                <a:effectLst/>
                <a:latin typeface="Georgia" panose="02040502050405020303" pitchFamily="18" charset="0"/>
              </a:rPr>
              <a:t>Identify Least Similar Regions</a:t>
            </a:r>
          </a:p>
        </p:txBody>
      </p:sp>
    </p:spTree>
    <p:extLst>
      <p:ext uri="{BB962C8B-B14F-4D97-AF65-F5344CB8AC3E}">
        <p14:creationId xmlns:p14="http://schemas.microsoft.com/office/powerpoint/2010/main" val="27173908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A775F55C-0E74-901A-143C-B305E18CF5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F7EC8E-7602-4637-8B6E-9F3C6923F1CC}"/>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3" name="TextBox 2">
            <a:extLst>
              <a:ext uri="{FF2B5EF4-FFF2-40B4-BE49-F238E27FC236}">
                <a16:creationId xmlns:a16="http://schemas.microsoft.com/office/drawing/2014/main" id="{FC6DA399-8AAF-107A-6438-A38FDB7F0753}"/>
              </a:ext>
            </a:extLst>
          </p:cNvPr>
          <p:cNvSpPr txBox="1"/>
          <p:nvPr/>
        </p:nvSpPr>
        <p:spPr>
          <a:xfrm>
            <a:off x="0" y="199004"/>
            <a:ext cx="9143999" cy="274499"/>
          </a:xfrm>
          <a:prstGeom prst="rect">
            <a:avLst/>
          </a:prstGeom>
          <a:noFill/>
        </p:spPr>
        <p:txBody>
          <a:bodyPr wrap="square" rtlCol="0">
            <a:spAutoFit/>
          </a:bodyPr>
          <a:lstStyle/>
          <a:p>
            <a:pPr algn="ctr">
              <a:lnSpc>
                <a:spcPts val="1425"/>
              </a:lnSpc>
            </a:pPr>
            <a:r>
              <a:rPr lang="en-US" sz="1600" b="1" i="1" dirty="0">
                <a:solidFill>
                  <a:srgbClr val="0D47A1"/>
                </a:solidFill>
                <a:effectLst/>
                <a:latin typeface="Georgia" panose="02040502050405020303" pitchFamily="18" charset="0"/>
              </a:rPr>
              <a:t>Least Similar Region</a:t>
            </a:r>
          </a:p>
        </p:txBody>
      </p:sp>
      <p:pic>
        <p:nvPicPr>
          <p:cNvPr id="5" name="Picture 4">
            <a:extLst>
              <a:ext uri="{FF2B5EF4-FFF2-40B4-BE49-F238E27FC236}">
                <a16:creationId xmlns:a16="http://schemas.microsoft.com/office/drawing/2014/main" id="{638B08CA-C7B4-D46C-2C52-3058D6E0E259}"/>
              </a:ext>
            </a:extLst>
          </p:cNvPr>
          <p:cNvPicPr>
            <a:picLocks noChangeAspect="1"/>
          </p:cNvPicPr>
          <p:nvPr/>
        </p:nvPicPr>
        <p:blipFill>
          <a:blip r:embed="rId3"/>
          <a:stretch>
            <a:fillRect/>
          </a:stretch>
        </p:blipFill>
        <p:spPr>
          <a:xfrm>
            <a:off x="4696230" y="669440"/>
            <a:ext cx="4274866" cy="1049632"/>
          </a:xfrm>
          <a:prstGeom prst="rect">
            <a:avLst/>
          </a:prstGeom>
        </p:spPr>
      </p:pic>
      <p:pic>
        <p:nvPicPr>
          <p:cNvPr id="7" name="Picture 6">
            <a:extLst>
              <a:ext uri="{FF2B5EF4-FFF2-40B4-BE49-F238E27FC236}">
                <a16:creationId xmlns:a16="http://schemas.microsoft.com/office/drawing/2014/main" id="{E68AF22D-EF25-7CB8-44EA-7B96C96E43C7}"/>
              </a:ext>
            </a:extLst>
          </p:cNvPr>
          <p:cNvPicPr>
            <a:picLocks noChangeAspect="1"/>
          </p:cNvPicPr>
          <p:nvPr/>
        </p:nvPicPr>
        <p:blipFill>
          <a:blip r:embed="rId4"/>
          <a:stretch>
            <a:fillRect/>
          </a:stretch>
        </p:blipFill>
        <p:spPr>
          <a:xfrm>
            <a:off x="153290" y="669440"/>
            <a:ext cx="4418710" cy="3861974"/>
          </a:xfrm>
          <a:prstGeom prst="rect">
            <a:avLst/>
          </a:prstGeom>
          <a:ln>
            <a:solidFill>
              <a:schemeClr val="tx1"/>
            </a:solidFill>
          </a:ln>
        </p:spPr>
      </p:pic>
      <p:sp>
        <p:nvSpPr>
          <p:cNvPr id="9" name="TextBox 8">
            <a:extLst>
              <a:ext uri="{FF2B5EF4-FFF2-40B4-BE49-F238E27FC236}">
                <a16:creationId xmlns:a16="http://schemas.microsoft.com/office/drawing/2014/main" id="{19D49564-1FF4-6C82-A97B-FE5122962347}"/>
              </a:ext>
            </a:extLst>
          </p:cNvPr>
          <p:cNvSpPr txBox="1"/>
          <p:nvPr/>
        </p:nvSpPr>
        <p:spPr>
          <a:xfrm>
            <a:off x="4696230" y="1915009"/>
            <a:ext cx="4294480" cy="2585323"/>
          </a:xfrm>
          <a:prstGeom prst="rect">
            <a:avLst/>
          </a:prstGeom>
          <a:noFill/>
        </p:spPr>
        <p:txBody>
          <a:bodyPr wrap="square">
            <a:spAutoFit/>
          </a:bodyPr>
          <a:lstStyle/>
          <a:p>
            <a:pPr>
              <a:spcAft>
                <a:spcPts val="600"/>
              </a:spcAft>
            </a:pPr>
            <a:r>
              <a:rPr lang="en-US" sz="1200" b="1" dirty="0">
                <a:solidFill>
                  <a:srgbClr val="0D47A1"/>
                </a:solidFill>
                <a:latin typeface="Georgia" panose="02040502050405020303" pitchFamily="18" charset="0"/>
              </a:rPr>
              <a:t>Insights:</a:t>
            </a:r>
            <a:endParaRPr lang="en-US" sz="1200" dirty="0">
              <a:solidFill>
                <a:srgbClr val="0D47A1"/>
              </a:solidFill>
              <a:latin typeface="Georgia" panose="02040502050405020303" pitchFamily="18" charset="0"/>
            </a:endParaRPr>
          </a:p>
          <a:p>
            <a:pPr marL="171450" indent="-171450">
              <a:spcAft>
                <a:spcPts val="600"/>
              </a:spcAft>
              <a:buFont typeface="Arial" panose="020B0604020202020204" pitchFamily="34" charset="0"/>
              <a:buChar char="•"/>
            </a:pPr>
            <a:r>
              <a:rPr lang="en-US" sz="1200" dirty="0">
                <a:latin typeface="Georgia" panose="02040502050405020303" pitchFamily="18" charset="0"/>
              </a:rPr>
              <a:t>San Mateo County (CA), Bronx (NY), and Manhattan (NY) are the least similar hospital referral regions.</a:t>
            </a:r>
          </a:p>
          <a:p>
            <a:pPr marL="171450" indent="-171450">
              <a:spcAft>
                <a:spcPts val="1200"/>
              </a:spcAft>
              <a:buFont typeface="Arial" panose="020B0604020202020204" pitchFamily="34" charset="0"/>
              <a:buChar char="•"/>
            </a:pPr>
            <a:r>
              <a:rPr lang="en-US" sz="1200" dirty="0">
                <a:latin typeface="Georgia" panose="02040502050405020303" pitchFamily="18" charset="0"/>
              </a:rPr>
              <a:t>Outliers suggest </a:t>
            </a:r>
            <a:r>
              <a:rPr lang="en-US" sz="1200" b="1" dirty="0">
                <a:latin typeface="Georgia" panose="02040502050405020303" pitchFamily="18" charset="0"/>
              </a:rPr>
              <a:t>unique healthcare ecosystems</a:t>
            </a:r>
            <a:r>
              <a:rPr lang="en-US" sz="1200" dirty="0">
                <a:latin typeface="Georgia" panose="02040502050405020303" pitchFamily="18" charset="0"/>
              </a:rPr>
              <a:t>, possibly influenced by regional policies, income levels, or provider specialization.</a:t>
            </a:r>
          </a:p>
          <a:p>
            <a:pPr>
              <a:spcAft>
                <a:spcPts val="600"/>
              </a:spcAft>
            </a:pPr>
            <a:r>
              <a:rPr lang="en-US" sz="1200" b="1" dirty="0">
                <a:solidFill>
                  <a:srgbClr val="0D47A1"/>
                </a:solidFill>
                <a:latin typeface="Georgia" panose="02040502050405020303" pitchFamily="18" charset="0"/>
              </a:rPr>
              <a:t>Recommendations:</a:t>
            </a:r>
          </a:p>
          <a:p>
            <a:pPr marL="171450" indent="-171450">
              <a:spcAft>
                <a:spcPts val="600"/>
              </a:spcAft>
              <a:buFont typeface="Arial" panose="020B0604020202020204" pitchFamily="34" charset="0"/>
              <a:buChar char="•"/>
            </a:pPr>
            <a:r>
              <a:rPr lang="en-US" sz="1200" dirty="0">
                <a:latin typeface="Georgia" panose="02040502050405020303" pitchFamily="18" charset="0"/>
              </a:rPr>
              <a:t>Analyze regional healthcare policies &amp; costs to identify factors driving divergence.</a:t>
            </a:r>
          </a:p>
          <a:p>
            <a:pPr marL="171450" indent="-171450">
              <a:spcAft>
                <a:spcPts val="600"/>
              </a:spcAft>
              <a:buFont typeface="Arial" panose="020B0604020202020204" pitchFamily="34" charset="0"/>
              <a:buChar char="•"/>
            </a:pPr>
            <a:r>
              <a:rPr lang="en-US" sz="1200" dirty="0">
                <a:latin typeface="Georgia" panose="02040502050405020303" pitchFamily="18" charset="0"/>
              </a:rPr>
              <a:t>Investigate reimbursement rates &amp; hospital pricing to optimize cost efficiency.</a:t>
            </a:r>
          </a:p>
        </p:txBody>
      </p:sp>
    </p:spTree>
    <p:extLst>
      <p:ext uri="{BB962C8B-B14F-4D97-AF65-F5344CB8AC3E}">
        <p14:creationId xmlns:p14="http://schemas.microsoft.com/office/powerpoint/2010/main" val="3421324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57EE7503-12F5-85FB-43BA-4450136608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9445A7-6A1C-1EED-64EA-21130144D522}"/>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3" name="TextBox 2">
            <a:extLst>
              <a:ext uri="{FF2B5EF4-FFF2-40B4-BE49-F238E27FC236}">
                <a16:creationId xmlns:a16="http://schemas.microsoft.com/office/drawing/2014/main" id="{EE3ED7EB-FCDC-CF07-1939-5D510585F1D6}"/>
              </a:ext>
            </a:extLst>
          </p:cNvPr>
          <p:cNvSpPr txBox="1"/>
          <p:nvPr/>
        </p:nvSpPr>
        <p:spPr>
          <a:xfrm>
            <a:off x="91440" y="1863864"/>
            <a:ext cx="8961119" cy="741357"/>
          </a:xfrm>
          <a:prstGeom prst="rect">
            <a:avLst/>
          </a:prstGeom>
          <a:noFill/>
        </p:spPr>
        <p:txBody>
          <a:bodyPr wrap="square" rtlCol="0">
            <a:spAutoFit/>
          </a:bodyPr>
          <a:lstStyle/>
          <a:p>
            <a:pPr algn="ctr">
              <a:lnSpc>
                <a:spcPct val="150000"/>
              </a:lnSpc>
            </a:pPr>
            <a:r>
              <a:rPr lang="en-US" sz="3200" dirty="0">
                <a:solidFill>
                  <a:srgbClr val="0D47A1"/>
                </a:solidFill>
                <a:latin typeface="Georgia" panose="02040502050405020303" pitchFamily="18" charset="0"/>
              </a:rPr>
              <a:t>Anomalous Patient Detection</a:t>
            </a:r>
            <a:endParaRPr lang="en-IN" sz="3200" dirty="0">
              <a:solidFill>
                <a:srgbClr val="0D47A1"/>
              </a:solidFill>
              <a:latin typeface="Georgia" panose="02040502050405020303" pitchFamily="18" charset="0"/>
            </a:endParaRPr>
          </a:p>
        </p:txBody>
      </p:sp>
    </p:spTree>
    <p:extLst>
      <p:ext uri="{BB962C8B-B14F-4D97-AF65-F5344CB8AC3E}">
        <p14:creationId xmlns:p14="http://schemas.microsoft.com/office/powerpoint/2010/main" val="14884677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B6909172-98CF-B3D4-1EB0-603D625C29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47B192-CF54-F2B4-8720-17EF6AC4698E}"/>
              </a:ext>
            </a:extLst>
          </p:cNvPr>
          <p:cNvSpPr txBox="1"/>
          <p:nvPr/>
        </p:nvSpPr>
        <p:spPr>
          <a:xfrm>
            <a:off x="1" y="269508"/>
            <a:ext cx="9144000" cy="400110"/>
          </a:xfrm>
          <a:prstGeom prst="rect">
            <a:avLst/>
          </a:prstGeom>
          <a:noFill/>
        </p:spPr>
        <p:txBody>
          <a:bodyPr wrap="square" rtlCol="0">
            <a:spAutoFit/>
          </a:bodyPr>
          <a:lstStyle/>
          <a:p>
            <a:pPr algn="ctr"/>
            <a:r>
              <a:rPr lang="en-IN" sz="2000" b="1" i="1" dirty="0">
                <a:solidFill>
                  <a:srgbClr val="0D47A1"/>
                </a:solidFill>
                <a:latin typeface="Georgia" panose="02040502050405020303" pitchFamily="18" charset="0"/>
              </a:rPr>
              <a:t>Identifying Anomalous Medicare Patients</a:t>
            </a:r>
          </a:p>
        </p:txBody>
      </p:sp>
      <p:sp>
        <p:nvSpPr>
          <p:cNvPr id="4" name="TextBox 3">
            <a:extLst>
              <a:ext uri="{FF2B5EF4-FFF2-40B4-BE49-F238E27FC236}">
                <a16:creationId xmlns:a16="http://schemas.microsoft.com/office/drawing/2014/main" id="{29E18420-22A4-6FE7-9821-5177ECC7238B}"/>
              </a:ext>
            </a:extLst>
          </p:cNvPr>
          <p:cNvSpPr txBox="1"/>
          <p:nvPr/>
        </p:nvSpPr>
        <p:spPr>
          <a:xfrm>
            <a:off x="334143" y="866274"/>
            <a:ext cx="8475713" cy="1477328"/>
          </a:xfrm>
          <a:prstGeom prst="rect">
            <a:avLst/>
          </a:prstGeom>
          <a:noFill/>
        </p:spPr>
        <p:txBody>
          <a:bodyPr wrap="square" rtlCol="0">
            <a:spAutoFit/>
          </a:bodyPr>
          <a:lstStyle/>
          <a:p>
            <a:pPr>
              <a:spcAft>
                <a:spcPts val="600"/>
              </a:spcAft>
            </a:pPr>
            <a:r>
              <a:rPr lang="en-IN" sz="1600" b="1" dirty="0">
                <a:latin typeface="Georgia" panose="02040502050405020303" pitchFamily="18" charset="0"/>
              </a:rPr>
              <a:t>Anomaly:</a:t>
            </a:r>
            <a:endParaRPr kumimoji="0" lang="en-US" altLang="en-US" sz="1600" b="1" i="0" u="none" strike="noStrike" cap="none" normalizeH="0" baseline="0" dirty="0">
              <a:ln>
                <a:noFill/>
              </a:ln>
              <a:solidFill>
                <a:schemeClr val="tx1"/>
              </a:solidFill>
              <a:effectLst/>
              <a:latin typeface="Georgia" panose="02040502050405020303" pitchFamily="18" charset="0"/>
            </a:endParaRP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Georgia" panose="02040502050405020303" pitchFamily="18" charset="0"/>
              </a:rPr>
              <a:t>Anomalies are unusual patterns in the dataset that significantly differ from normal records.</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Georgia" panose="02040502050405020303" pitchFamily="18" charset="0"/>
              </a:rPr>
              <a:t>These could be patients with abnormally high medical costs, unusual procedures, or unexpected billing patterns. </a:t>
            </a:r>
            <a:endParaRPr lang="en-IN" sz="1600" dirty="0">
              <a:latin typeface="Georgia" panose="02040502050405020303" pitchFamily="18" charset="0"/>
            </a:endParaRPr>
          </a:p>
        </p:txBody>
      </p:sp>
      <p:sp>
        <p:nvSpPr>
          <p:cNvPr id="6" name="TextBox 5">
            <a:extLst>
              <a:ext uri="{FF2B5EF4-FFF2-40B4-BE49-F238E27FC236}">
                <a16:creationId xmlns:a16="http://schemas.microsoft.com/office/drawing/2014/main" id="{0F2339F5-98C0-1240-37C6-AFEF3ABB49B9}"/>
              </a:ext>
            </a:extLst>
          </p:cNvPr>
          <p:cNvSpPr txBox="1"/>
          <p:nvPr/>
        </p:nvSpPr>
        <p:spPr>
          <a:xfrm>
            <a:off x="334143" y="2780228"/>
            <a:ext cx="7781157" cy="1800493"/>
          </a:xfrm>
          <a:prstGeom prst="rect">
            <a:avLst/>
          </a:prstGeom>
          <a:noFill/>
        </p:spPr>
        <p:txBody>
          <a:bodyPr wrap="square" rtlCol="0">
            <a:spAutoFit/>
          </a:bodyPr>
          <a:lstStyle/>
          <a:p>
            <a:r>
              <a:rPr lang="en-US" sz="1600" b="1" dirty="0">
                <a:latin typeface="Georgia" panose="02040502050405020303" pitchFamily="18" charset="0"/>
              </a:rPr>
              <a:t>Approach Used</a:t>
            </a:r>
            <a:r>
              <a:rPr lang="en-US" sz="1600" b="1" dirty="0">
                <a:solidFill>
                  <a:srgbClr val="0D47A1"/>
                </a:solidFill>
                <a:latin typeface="Georgia" panose="02040502050405020303" pitchFamily="18" charset="0"/>
              </a:rPr>
              <a:t>: Isolation Forest</a:t>
            </a:r>
          </a:p>
          <a:p>
            <a:endParaRPr lang="en-US" sz="1600" dirty="0">
              <a:latin typeface="Georgia" panose="02040502050405020303" pitchFamily="18" charset="0"/>
            </a:endParaRPr>
          </a:p>
          <a:p>
            <a:pPr marL="285750" indent="-285750">
              <a:spcAft>
                <a:spcPts val="600"/>
              </a:spcAft>
              <a:buFont typeface="Arial" panose="020B0604020202020204" pitchFamily="34" charset="0"/>
              <a:buChar char="•"/>
            </a:pPr>
            <a:r>
              <a:rPr lang="en-US" sz="1600" dirty="0">
                <a:latin typeface="Georgia" panose="02040502050405020303" pitchFamily="18" charset="0"/>
              </a:rPr>
              <a:t>Used the Isolation Forest algorithm to detect anomalous patients.</a:t>
            </a:r>
          </a:p>
          <a:p>
            <a:pPr marL="285750" indent="-285750">
              <a:spcAft>
                <a:spcPts val="600"/>
              </a:spcAft>
              <a:buFont typeface="Arial" panose="020B0604020202020204" pitchFamily="34" charset="0"/>
              <a:buChar char="•"/>
            </a:pPr>
            <a:r>
              <a:rPr lang="en-US" sz="1600" dirty="0">
                <a:latin typeface="Georgia" panose="02040502050405020303" pitchFamily="18" charset="0"/>
              </a:rPr>
              <a:t>It assigns an Anomaly Score to each patient, where:</a:t>
            </a:r>
          </a:p>
          <a:p>
            <a:pPr marL="742950" lvl="1" indent="-285750">
              <a:spcAft>
                <a:spcPts val="600"/>
              </a:spcAft>
              <a:buFont typeface="Arial" panose="020B0604020202020204" pitchFamily="34" charset="0"/>
              <a:buChar char="•"/>
            </a:pPr>
            <a:r>
              <a:rPr lang="en-US" sz="1600" dirty="0">
                <a:latin typeface="Georgia" panose="02040502050405020303" pitchFamily="18" charset="0"/>
              </a:rPr>
              <a:t>-1 → Anomalous Patient</a:t>
            </a:r>
          </a:p>
          <a:p>
            <a:pPr marL="742950" lvl="1" indent="-285750">
              <a:spcAft>
                <a:spcPts val="600"/>
              </a:spcAft>
              <a:buFont typeface="Arial" panose="020B0604020202020204" pitchFamily="34" charset="0"/>
              <a:buChar char="•"/>
            </a:pPr>
            <a:r>
              <a:rPr lang="en-US" sz="1600" dirty="0">
                <a:latin typeface="Georgia" panose="02040502050405020303" pitchFamily="18" charset="0"/>
              </a:rPr>
              <a:t>1 → Normal Patient</a:t>
            </a:r>
            <a:endParaRPr lang="en-IN" sz="1600" dirty="0">
              <a:latin typeface="Georgia" panose="02040502050405020303" pitchFamily="18" charset="0"/>
            </a:endParaRPr>
          </a:p>
        </p:txBody>
      </p:sp>
    </p:spTree>
    <p:extLst>
      <p:ext uri="{BB962C8B-B14F-4D97-AF65-F5344CB8AC3E}">
        <p14:creationId xmlns:p14="http://schemas.microsoft.com/office/powerpoint/2010/main" val="4541441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8D2BD514-303C-730B-B366-58ED6EC3B3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C9F8D0-79E5-5A57-DF8B-73531851635D}"/>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3" name="TextBox 2">
            <a:extLst>
              <a:ext uri="{FF2B5EF4-FFF2-40B4-BE49-F238E27FC236}">
                <a16:creationId xmlns:a16="http://schemas.microsoft.com/office/drawing/2014/main" id="{AD8DA925-4AE5-C719-14EF-D5C2773038EB}"/>
              </a:ext>
            </a:extLst>
          </p:cNvPr>
          <p:cNvSpPr txBox="1"/>
          <p:nvPr/>
        </p:nvSpPr>
        <p:spPr>
          <a:xfrm>
            <a:off x="0" y="146397"/>
            <a:ext cx="9144000" cy="400110"/>
          </a:xfrm>
          <a:prstGeom prst="rect">
            <a:avLst/>
          </a:prstGeom>
          <a:noFill/>
        </p:spPr>
        <p:txBody>
          <a:bodyPr wrap="square" rtlCol="0">
            <a:spAutoFit/>
          </a:bodyPr>
          <a:lstStyle/>
          <a:p>
            <a:pPr algn="ctr"/>
            <a:r>
              <a:rPr lang="en-US" sz="2000" b="1" i="1" dirty="0">
                <a:solidFill>
                  <a:srgbClr val="0D47A1"/>
                </a:solidFill>
                <a:latin typeface="Georgia" panose="02040502050405020303" pitchFamily="18" charset="0"/>
              </a:rPr>
              <a:t>Key Findings from Anomaly Detection</a:t>
            </a:r>
            <a:endParaRPr lang="en-IN" sz="2000" b="1" i="1" dirty="0">
              <a:solidFill>
                <a:srgbClr val="0D47A1"/>
              </a:solidFill>
              <a:latin typeface="Georgia" panose="02040502050405020303" pitchFamily="18" charset="0"/>
            </a:endParaRPr>
          </a:p>
        </p:txBody>
      </p:sp>
      <p:grpSp>
        <p:nvGrpSpPr>
          <p:cNvPr id="19" name="Group 18">
            <a:extLst>
              <a:ext uri="{FF2B5EF4-FFF2-40B4-BE49-F238E27FC236}">
                <a16:creationId xmlns:a16="http://schemas.microsoft.com/office/drawing/2014/main" id="{8E15F493-3DD5-8CF5-6B79-6243DB8C8415}"/>
              </a:ext>
            </a:extLst>
          </p:cNvPr>
          <p:cNvGrpSpPr/>
          <p:nvPr/>
        </p:nvGrpSpPr>
        <p:grpSpPr>
          <a:xfrm>
            <a:off x="352573" y="792277"/>
            <a:ext cx="8438853" cy="2999806"/>
            <a:chOff x="285548" y="840403"/>
            <a:chExt cx="8234219" cy="2999806"/>
          </a:xfrm>
        </p:grpSpPr>
        <p:pic>
          <p:nvPicPr>
            <p:cNvPr id="14" name="Picture 13">
              <a:extLst>
                <a:ext uri="{FF2B5EF4-FFF2-40B4-BE49-F238E27FC236}">
                  <a16:creationId xmlns:a16="http://schemas.microsoft.com/office/drawing/2014/main" id="{ED557453-466D-990E-2817-2C6FEEAD591E}"/>
                </a:ext>
              </a:extLst>
            </p:cNvPr>
            <p:cNvPicPr>
              <a:picLocks noChangeAspect="1"/>
            </p:cNvPicPr>
            <p:nvPr/>
          </p:nvPicPr>
          <p:blipFill>
            <a:blip r:embed="rId3"/>
            <a:stretch>
              <a:fillRect/>
            </a:stretch>
          </p:blipFill>
          <p:spPr>
            <a:xfrm>
              <a:off x="285548" y="840404"/>
              <a:ext cx="4550862" cy="2999805"/>
            </a:xfrm>
            <a:prstGeom prst="rect">
              <a:avLst/>
            </a:prstGeom>
            <a:ln>
              <a:solidFill>
                <a:schemeClr val="bg2"/>
              </a:solidFill>
            </a:ln>
          </p:spPr>
        </p:pic>
        <p:pic>
          <p:nvPicPr>
            <p:cNvPr id="18" name="Picture 17">
              <a:extLst>
                <a:ext uri="{FF2B5EF4-FFF2-40B4-BE49-F238E27FC236}">
                  <a16:creationId xmlns:a16="http://schemas.microsoft.com/office/drawing/2014/main" id="{0863C736-AC1E-FB47-17FB-E665C98F134F}"/>
                </a:ext>
              </a:extLst>
            </p:cNvPr>
            <p:cNvPicPr>
              <a:picLocks noChangeAspect="1"/>
            </p:cNvPicPr>
            <p:nvPr/>
          </p:nvPicPr>
          <p:blipFill>
            <a:blip r:embed="rId4"/>
            <a:stretch>
              <a:fillRect/>
            </a:stretch>
          </p:blipFill>
          <p:spPr>
            <a:xfrm>
              <a:off x="5272482" y="840403"/>
              <a:ext cx="3247285" cy="2999805"/>
            </a:xfrm>
            <a:prstGeom prst="rect">
              <a:avLst/>
            </a:prstGeom>
            <a:ln>
              <a:solidFill>
                <a:schemeClr val="bg2"/>
              </a:solidFill>
            </a:ln>
          </p:spPr>
        </p:pic>
      </p:grpSp>
      <p:sp>
        <p:nvSpPr>
          <p:cNvPr id="20" name="TextBox 19">
            <a:extLst>
              <a:ext uri="{FF2B5EF4-FFF2-40B4-BE49-F238E27FC236}">
                <a16:creationId xmlns:a16="http://schemas.microsoft.com/office/drawing/2014/main" id="{3D4E1B25-F7A9-21C3-252F-2A5DCE309913}"/>
              </a:ext>
            </a:extLst>
          </p:cNvPr>
          <p:cNvSpPr txBox="1"/>
          <p:nvPr/>
        </p:nvSpPr>
        <p:spPr>
          <a:xfrm>
            <a:off x="957714" y="4037852"/>
            <a:ext cx="7228572" cy="584775"/>
          </a:xfrm>
          <a:prstGeom prst="rect">
            <a:avLst/>
          </a:prstGeom>
          <a:noFill/>
        </p:spPr>
        <p:txBody>
          <a:bodyPr wrap="square" rtlCol="0">
            <a:spAutoFit/>
          </a:bodyPr>
          <a:lstStyle/>
          <a:p>
            <a:pPr algn="ctr"/>
            <a:r>
              <a:rPr lang="en-US" sz="1600" dirty="0">
                <a:latin typeface="Georgia" panose="02040502050405020303" pitchFamily="18" charset="0"/>
              </a:rPr>
              <a:t>Most anomalies are found in the 65-75 age group, with a slightly higher occurrence in Female</a:t>
            </a:r>
            <a:endParaRPr lang="en-IN" sz="1600" dirty="0">
              <a:latin typeface="Georgia" panose="02040502050405020303" pitchFamily="18" charset="0"/>
            </a:endParaRPr>
          </a:p>
        </p:txBody>
      </p:sp>
    </p:spTree>
    <p:extLst>
      <p:ext uri="{BB962C8B-B14F-4D97-AF65-F5344CB8AC3E}">
        <p14:creationId xmlns:p14="http://schemas.microsoft.com/office/powerpoint/2010/main" val="4224802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D73E6847-0B19-BB20-EF91-B316708248D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D8ECAC-8E42-1D3A-30DE-0D3714F4D1E7}"/>
              </a:ext>
            </a:extLst>
          </p:cNvPr>
          <p:cNvPicPr>
            <a:picLocks noChangeAspect="1"/>
          </p:cNvPicPr>
          <p:nvPr/>
        </p:nvPicPr>
        <p:blipFill>
          <a:blip r:embed="rId2"/>
          <a:stretch>
            <a:fillRect/>
          </a:stretch>
        </p:blipFill>
        <p:spPr>
          <a:xfrm>
            <a:off x="217873" y="682169"/>
            <a:ext cx="6086676" cy="3972702"/>
          </a:xfrm>
          <a:prstGeom prst="rect">
            <a:avLst/>
          </a:prstGeom>
          <a:ln>
            <a:solidFill>
              <a:schemeClr val="bg2"/>
            </a:solidFill>
          </a:ln>
        </p:spPr>
      </p:pic>
      <p:sp>
        <p:nvSpPr>
          <p:cNvPr id="7" name="TextBox 6">
            <a:extLst>
              <a:ext uri="{FF2B5EF4-FFF2-40B4-BE49-F238E27FC236}">
                <a16:creationId xmlns:a16="http://schemas.microsoft.com/office/drawing/2014/main" id="{34A2A5B0-C454-0C81-39CD-90A131F436C6}"/>
              </a:ext>
            </a:extLst>
          </p:cNvPr>
          <p:cNvSpPr txBox="1"/>
          <p:nvPr/>
        </p:nvSpPr>
        <p:spPr>
          <a:xfrm>
            <a:off x="0" y="146397"/>
            <a:ext cx="9144000" cy="40011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1" u="none" strike="noStrike" cap="none" normalizeH="0" baseline="0" dirty="0">
                <a:ln>
                  <a:noFill/>
                </a:ln>
                <a:solidFill>
                  <a:srgbClr val="0D47A1"/>
                </a:solidFill>
                <a:effectLst/>
                <a:latin typeface="Georgia" panose="02040502050405020303" pitchFamily="18" charset="0"/>
              </a:rPr>
              <a:t>Heatmap of Anomalous Patients by Age Group &amp; Income Level</a:t>
            </a:r>
          </a:p>
        </p:txBody>
      </p:sp>
      <p:sp>
        <p:nvSpPr>
          <p:cNvPr id="8" name="TextBox 7">
            <a:extLst>
              <a:ext uri="{FF2B5EF4-FFF2-40B4-BE49-F238E27FC236}">
                <a16:creationId xmlns:a16="http://schemas.microsoft.com/office/drawing/2014/main" id="{45328E55-7DF8-52F7-311E-B15D169B2DE0}"/>
              </a:ext>
            </a:extLst>
          </p:cNvPr>
          <p:cNvSpPr txBox="1"/>
          <p:nvPr/>
        </p:nvSpPr>
        <p:spPr>
          <a:xfrm>
            <a:off x="6304549" y="1910030"/>
            <a:ext cx="2839451"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tx1"/>
                </a:solidFill>
                <a:latin typeface="Georgia" panose="02040502050405020303" pitchFamily="18" charset="0"/>
              </a:rPr>
              <a:t>Patients with mid-to-high income levels exhibit a higher rate of anomalies, suggesting possible fraudulent claims</a:t>
            </a:r>
            <a:endParaRPr lang="en-IN" sz="1600" dirty="0">
              <a:solidFill>
                <a:schemeClr val="tx1"/>
              </a:solidFill>
              <a:latin typeface="Georgia" panose="02040502050405020303" pitchFamily="18" charset="0"/>
            </a:endParaRPr>
          </a:p>
        </p:txBody>
      </p:sp>
    </p:spTree>
    <p:extLst>
      <p:ext uri="{BB962C8B-B14F-4D97-AF65-F5344CB8AC3E}">
        <p14:creationId xmlns:p14="http://schemas.microsoft.com/office/powerpoint/2010/main" val="5243032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7EAC9C73-FD97-BD35-DC22-72A23B4E9D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08587D-4402-FD79-6167-92E619FB49AA}"/>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11" name="TextBox 10">
            <a:extLst>
              <a:ext uri="{FF2B5EF4-FFF2-40B4-BE49-F238E27FC236}">
                <a16:creationId xmlns:a16="http://schemas.microsoft.com/office/drawing/2014/main" id="{43D14B85-8C25-6C24-7B06-CD5A49A6F14D}"/>
              </a:ext>
            </a:extLst>
          </p:cNvPr>
          <p:cNvSpPr txBox="1"/>
          <p:nvPr/>
        </p:nvSpPr>
        <p:spPr>
          <a:xfrm>
            <a:off x="6008490" y="1402199"/>
            <a:ext cx="3118104" cy="2339102"/>
          </a:xfrm>
          <a:prstGeom prst="rect">
            <a:avLst/>
          </a:prstGeom>
          <a:noFill/>
        </p:spPr>
        <p:txBody>
          <a:bodyPr wrap="square" rtlCol="0">
            <a:spAutoFit/>
          </a:bodyPr>
          <a:lstStyle/>
          <a:p>
            <a:pPr>
              <a:spcAft>
                <a:spcPts val="1200"/>
              </a:spcAft>
            </a:pPr>
            <a:r>
              <a:rPr lang="en-US" b="1" dirty="0">
                <a:latin typeface="Georgia" panose="02040502050405020303" pitchFamily="18" charset="0"/>
              </a:rPr>
              <a:t>Insights:</a:t>
            </a:r>
          </a:p>
          <a:p>
            <a:pPr marL="285750" indent="-285750">
              <a:spcAft>
                <a:spcPts val="1200"/>
              </a:spcAft>
              <a:buFont typeface="Arial" panose="020B0604020202020204" pitchFamily="34" charset="0"/>
              <a:buChar char="•"/>
            </a:pPr>
            <a:r>
              <a:rPr lang="en-US" dirty="0">
                <a:latin typeface="Georgia" panose="02040502050405020303" pitchFamily="18" charset="0"/>
              </a:rPr>
              <a:t>High-Cost Claims Are More Anomalous – Most outliers appear in the mid-to-high charge range ($60,000+).</a:t>
            </a:r>
          </a:p>
          <a:p>
            <a:pPr marL="285750" indent="-285750">
              <a:spcAft>
                <a:spcPts val="1200"/>
              </a:spcAft>
              <a:buFont typeface="Arial" panose="020B0604020202020204" pitchFamily="34" charset="0"/>
              <a:buChar char="•"/>
            </a:pPr>
            <a:r>
              <a:rPr lang="en-US" dirty="0">
                <a:latin typeface="Georgia" panose="02040502050405020303" pitchFamily="18" charset="0"/>
              </a:rPr>
              <a:t>Potential Billing Irregularities – Possible causes include fraud, billing errors, or rare high-cost procedures.</a:t>
            </a:r>
          </a:p>
        </p:txBody>
      </p:sp>
      <p:pic>
        <p:nvPicPr>
          <p:cNvPr id="13" name="Picture 12">
            <a:extLst>
              <a:ext uri="{FF2B5EF4-FFF2-40B4-BE49-F238E27FC236}">
                <a16:creationId xmlns:a16="http://schemas.microsoft.com/office/drawing/2014/main" id="{86D04FF0-3FD3-FDC2-CE57-7A36F275A8BA}"/>
              </a:ext>
            </a:extLst>
          </p:cNvPr>
          <p:cNvPicPr>
            <a:picLocks noChangeAspect="1"/>
          </p:cNvPicPr>
          <p:nvPr/>
        </p:nvPicPr>
        <p:blipFill>
          <a:blip r:embed="rId3"/>
          <a:stretch>
            <a:fillRect/>
          </a:stretch>
        </p:blipFill>
        <p:spPr>
          <a:xfrm>
            <a:off x="302562" y="751973"/>
            <a:ext cx="5665897" cy="3639554"/>
          </a:xfrm>
          <a:prstGeom prst="rect">
            <a:avLst/>
          </a:prstGeom>
          <a:ln>
            <a:solidFill>
              <a:schemeClr val="bg2"/>
            </a:solidFill>
          </a:ln>
        </p:spPr>
      </p:pic>
      <p:sp>
        <p:nvSpPr>
          <p:cNvPr id="16" name="TextBox 15">
            <a:extLst>
              <a:ext uri="{FF2B5EF4-FFF2-40B4-BE49-F238E27FC236}">
                <a16:creationId xmlns:a16="http://schemas.microsoft.com/office/drawing/2014/main" id="{2EA54125-D2B4-1D8E-F6CE-01D30FF03E74}"/>
              </a:ext>
            </a:extLst>
          </p:cNvPr>
          <p:cNvSpPr txBox="1"/>
          <p:nvPr/>
        </p:nvSpPr>
        <p:spPr>
          <a:xfrm>
            <a:off x="0" y="146397"/>
            <a:ext cx="9144000" cy="400110"/>
          </a:xfrm>
          <a:prstGeom prst="rect">
            <a:avLst/>
          </a:prstGeom>
          <a:noFill/>
        </p:spPr>
        <p:txBody>
          <a:bodyPr wrap="square" rtlCol="0">
            <a:spAutoFit/>
          </a:bodyPr>
          <a:lstStyle/>
          <a:p>
            <a:pPr algn="ctr"/>
            <a:r>
              <a:rPr lang="en-US" sz="2000" b="1" i="1" dirty="0">
                <a:solidFill>
                  <a:srgbClr val="0D47A1"/>
                </a:solidFill>
                <a:latin typeface="Georgia" panose="02040502050405020303" pitchFamily="18" charset="0"/>
              </a:rPr>
              <a:t>Identifying Anomalies in Medicare Claims</a:t>
            </a:r>
            <a:endParaRPr lang="en-IN" sz="2000" b="1" i="1" dirty="0">
              <a:solidFill>
                <a:srgbClr val="0D47A1"/>
              </a:solidFill>
              <a:latin typeface="Georgia" panose="02040502050405020303" pitchFamily="18" charset="0"/>
            </a:endParaRPr>
          </a:p>
        </p:txBody>
      </p:sp>
    </p:spTree>
    <p:extLst>
      <p:ext uri="{BB962C8B-B14F-4D97-AF65-F5344CB8AC3E}">
        <p14:creationId xmlns:p14="http://schemas.microsoft.com/office/powerpoint/2010/main" val="29390496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DB7EE54C-A5FA-BB02-A7AC-8C824DCDA4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9A2E3A-5B7E-B28C-C4E3-E60F8178F775}"/>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12" name="TextBox 11">
            <a:extLst>
              <a:ext uri="{FF2B5EF4-FFF2-40B4-BE49-F238E27FC236}">
                <a16:creationId xmlns:a16="http://schemas.microsoft.com/office/drawing/2014/main" id="{45BBCA64-0C5F-D89A-646A-00CFF52862BA}"/>
              </a:ext>
            </a:extLst>
          </p:cNvPr>
          <p:cNvSpPr txBox="1"/>
          <p:nvPr/>
        </p:nvSpPr>
        <p:spPr>
          <a:xfrm>
            <a:off x="0" y="173577"/>
            <a:ext cx="9144000" cy="400110"/>
          </a:xfrm>
          <a:prstGeom prst="rect">
            <a:avLst/>
          </a:prstGeom>
          <a:noFill/>
        </p:spPr>
        <p:txBody>
          <a:bodyPr wrap="square" rtlCol="0">
            <a:spAutoFit/>
          </a:bodyPr>
          <a:lstStyle/>
          <a:p>
            <a:pPr algn="ctr"/>
            <a:r>
              <a:rPr lang="en-US" sz="2000" b="1" i="1" dirty="0">
                <a:solidFill>
                  <a:srgbClr val="0D47A1"/>
                </a:solidFill>
                <a:latin typeface="Georgia" panose="02040502050405020303" pitchFamily="18" charset="0"/>
              </a:rPr>
              <a:t>Medical Procedures with High Anomaly Rate</a:t>
            </a:r>
            <a:endParaRPr lang="en-IN" sz="2000" b="1" i="1" dirty="0">
              <a:solidFill>
                <a:srgbClr val="0D47A1"/>
              </a:solidFill>
              <a:latin typeface="Georgia" panose="02040502050405020303" pitchFamily="18" charset="0"/>
            </a:endParaRPr>
          </a:p>
        </p:txBody>
      </p:sp>
      <p:pic>
        <p:nvPicPr>
          <p:cNvPr id="16" name="Picture 15">
            <a:extLst>
              <a:ext uri="{FF2B5EF4-FFF2-40B4-BE49-F238E27FC236}">
                <a16:creationId xmlns:a16="http://schemas.microsoft.com/office/drawing/2014/main" id="{70A4E8CF-BF4C-B6B3-5741-768A83F6177D}"/>
              </a:ext>
            </a:extLst>
          </p:cNvPr>
          <p:cNvPicPr>
            <a:picLocks noChangeAspect="1"/>
          </p:cNvPicPr>
          <p:nvPr/>
        </p:nvPicPr>
        <p:blipFill>
          <a:blip r:embed="rId3"/>
          <a:stretch>
            <a:fillRect/>
          </a:stretch>
        </p:blipFill>
        <p:spPr>
          <a:xfrm>
            <a:off x="388730" y="1021223"/>
            <a:ext cx="8212535" cy="3101053"/>
          </a:xfrm>
          <a:prstGeom prst="rect">
            <a:avLst/>
          </a:prstGeom>
          <a:ln>
            <a:solidFill>
              <a:schemeClr val="bg2"/>
            </a:solidFill>
          </a:ln>
        </p:spPr>
      </p:pic>
    </p:spTree>
    <p:extLst>
      <p:ext uri="{BB962C8B-B14F-4D97-AF65-F5344CB8AC3E}">
        <p14:creationId xmlns:p14="http://schemas.microsoft.com/office/powerpoint/2010/main" val="25136153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B92D784F-8611-AAAB-FFA6-C0255D7BA4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D7013A-9FA4-27B6-FB21-E578EC15DB95}"/>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8" name="TextBox 7">
            <a:extLst>
              <a:ext uri="{FF2B5EF4-FFF2-40B4-BE49-F238E27FC236}">
                <a16:creationId xmlns:a16="http://schemas.microsoft.com/office/drawing/2014/main" id="{3AD2779C-2949-F4BA-E468-F3BDCAFA41EF}"/>
              </a:ext>
            </a:extLst>
          </p:cNvPr>
          <p:cNvSpPr txBox="1"/>
          <p:nvPr/>
        </p:nvSpPr>
        <p:spPr>
          <a:xfrm>
            <a:off x="0" y="146397"/>
            <a:ext cx="9144000" cy="400110"/>
          </a:xfrm>
          <a:prstGeom prst="rect">
            <a:avLst/>
          </a:prstGeom>
          <a:noFill/>
        </p:spPr>
        <p:txBody>
          <a:bodyPr wrap="square" rtlCol="0">
            <a:spAutoFit/>
          </a:bodyPr>
          <a:lstStyle/>
          <a:p>
            <a:pPr algn="ctr"/>
            <a:r>
              <a:rPr lang="en-US" sz="2000" b="1" i="1" dirty="0">
                <a:solidFill>
                  <a:srgbClr val="0D47A1"/>
                </a:solidFill>
                <a:latin typeface="Georgia" panose="02040502050405020303" pitchFamily="18" charset="0"/>
              </a:rPr>
              <a:t>Summary of Anomalies &amp; Key Takeaways</a:t>
            </a:r>
            <a:endParaRPr lang="en-IN" sz="2000" b="1" i="1" dirty="0">
              <a:solidFill>
                <a:srgbClr val="0D47A1"/>
              </a:solidFill>
              <a:latin typeface="Georgia" panose="02040502050405020303" pitchFamily="18" charset="0"/>
            </a:endParaRPr>
          </a:p>
        </p:txBody>
      </p:sp>
      <p:sp>
        <p:nvSpPr>
          <p:cNvPr id="3" name="Rectangle 1">
            <a:extLst>
              <a:ext uri="{FF2B5EF4-FFF2-40B4-BE49-F238E27FC236}">
                <a16:creationId xmlns:a16="http://schemas.microsoft.com/office/drawing/2014/main" id="{936D1482-55CB-C4E7-EA97-5C54B324BA91}"/>
              </a:ext>
            </a:extLst>
          </p:cNvPr>
          <p:cNvSpPr>
            <a:spLocks noChangeArrowheads="1"/>
          </p:cNvSpPr>
          <p:nvPr/>
        </p:nvSpPr>
        <p:spPr bwMode="auto">
          <a:xfrm>
            <a:off x="444136" y="737289"/>
            <a:ext cx="8247017"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en-US" altLang="en-US" b="1" i="0" u="none" strike="noStrike" cap="none" normalizeH="0" baseline="0" dirty="0">
                <a:ln>
                  <a:noFill/>
                </a:ln>
                <a:solidFill>
                  <a:schemeClr val="tx1"/>
                </a:solidFill>
                <a:effectLst/>
                <a:latin typeface="Georgia" panose="02040502050405020303" pitchFamily="18" charset="0"/>
              </a:rPr>
              <a:t>Insights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solidFill>
                  <a:srgbClr val="0D47A1"/>
                </a:solidFill>
                <a:effectLst/>
                <a:latin typeface="Georgia" panose="02040502050405020303" pitchFamily="18" charset="0"/>
              </a:rPr>
              <a:t>Age &amp; Income Anomalies:</a:t>
            </a:r>
            <a:endParaRPr kumimoji="0" lang="en-US" altLang="en-US" sz="1200" b="0" i="0" u="none" strike="noStrike" cap="none" normalizeH="0" baseline="0" dirty="0">
              <a:ln>
                <a:noFill/>
              </a:ln>
              <a:solidFill>
                <a:srgbClr val="0D47A1"/>
              </a:solidFill>
              <a:effectLst/>
              <a:latin typeface="Georgia" panose="02040502050405020303" pitchFamily="18" charset="0"/>
            </a:endParaRPr>
          </a:p>
          <a:p>
            <a:pPr marL="742950" marR="0" lvl="1" indent="-285750" algn="l" defTabSz="914400" rtl="0" eaLnBrk="0" fontAlgn="base" latinLnBrk="0" hangingPunct="0">
              <a:lnSpc>
                <a:spcPct val="100000"/>
              </a:lnSpc>
              <a:spcBef>
                <a:spcPct val="0"/>
              </a:spcBef>
              <a:spcAft>
                <a:spcPts val="600"/>
              </a:spcAft>
              <a:buClrTx/>
              <a:buSzTx/>
              <a:buFont typeface="Courier New" panose="02070309020205020404" pitchFamily="49" charset="0"/>
              <a:buChar char="o"/>
              <a:tabLst/>
            </a:pPr>
            <a:r>
              <a:rPr kumimoji="0" lang="en-US" altLang="en-US" sz="1200" b="1" i="0" u="none" strike="noStrike" cap="none" normalizeH="0" baseline="0" dirty="0">
                <a:ln>
                  <a:noFill/>
                </a:ln>
                <a:solidFill>
                  <a:schemeClr val="tx1"/>
                </a:solidFill>
                <a:effectLst/>
                <a:latin typeface="Georgia" panose="02040502050405020303" pitchFamily="18" charset="0"/>
              </a:rPr>
              <a:t>65-74 age group</a:t>
            </a:r>
            <a:r>
              <a:rPr kumimoji="0" lang="en-US" altLang="en-US" sz="1200" b="0" i="0" u="none" strike="noStrike" cap="none" normalizeH="0" baseline="0" dirty="0">
                <a:ln>
                  <a:noFill/>
                </a:ln>
                <a:solidFill>
                  <a:schemeClr val="tx1"/>
                </a:solidFill>
                <a:effectLst/>
                <a:latin typeface="Georgia" panose="02040502050405020303" pitchFamily="18" charset="0"/>
              </a:rPr>
              <a:t> has the highest anomalies, with </a:t>
            </a:r>
            <a:r>
              <a:rPr kumimoji="0" lang="en-US" altLang="en-US" sz="1200" b="1" i="0" u="none" strike="noStrike" cap="none" normalizeH="0" baseline="0" dirty="0">
                <a:ln>
                  <a:noFill/>
                </a:ln>
                <a:solidFill>
                  <a:schemeClr val="tx1"/>
                </a:solidFill>
                <a:effectLst/>
                <a:latin typeface="Georgia" panose="02040502050405020303" pitchFamily="18" charset="0"/>
              </a:rPr>
              <a:t>females (55.2%)</a:t>
            </a:r>
            <a:r>
              <a:rPr kumimoji="0" lang="en-US" altLang="en-US" sz="1200" b="0" i="0" u="none" strike="noStrike" cap="none" normalizeH="0" baseline="0" dirty="0">
                <a:ln>
                  <a:noFill/>
                </a:ln>
                <a:solidFill>
                  <a:schemeClr val="tx1"/>
                </a:solidFill>
                <a:effectLst/>
                <a:latin typeface="Georgia" panose="02040502050405020303" pitchFamily="18" charset="0"/>
              </a:rPr>
              <a:t> slightly more affected. </a:t>
            </a:r>
          </a:p>
          <a:p>
            <a:pPr marL="742950" marR="0" lvl="1" indent="-285750" algn="l" defTabSz="914400" rtl="0" eaLnBrk="0" fontAlgn="base" latinLnBrk="0" hangingPunct="0">
              <a:lnSpc>
                <a:spcPct val="100000"/>
              </a:lnSpc>
              <a:spcBef>
                <a:spcPct val="0"/>
              </a:spcBef>
              <a:spcAft>
                <a:spcPts val="600"/>
              </a:spcAft>
              <a:buClrTx/>
              <a:buSzTx/>
              <a:buFont typeface="Courier New" panose="02070309020205020404" pitchFamily="49" charset="0"/>
              <a:buChar char="o"/>
              <a:tabLst/>
            </a:pPr>
            <a:r>
              <a:rPr kumimoji="0" lang="en-US" altLang="en-US" sz="1200" b="1" i="0" u="none" strike="noStrike" cap="none" normalizeH="0" baseline="0" dirty="0">
                <a:ln>
                  <a:noFill/>
                </a:ln>
                <a:solidFill>
                  <a:schemeClr val="tx1"/>
                </a:solidFill>
                <a:effectLst/>
                <a:latin typeface="Georgia" panose="02040502050405020303" pitchFamily="18" charset="0"/>
              </a:rPr>
              <a:t>Mid-to-high-income patients (₹24,000+)</a:t>
            </a:r>
            <a:r>
              <a:rPr kumimoji="0" lang="en-US" altLang="en-US" sz="1200" b="0" i="0" u="none" strike="noStrike" cap="none" normalizeH="0" baseline="0" dirty="0">
                <a:ln>
                  <a:noFill/>
                </a:ln>
                <a:solidFill>
                  <a:schemeClr val="tx1"/>
                </a:solidFill>
                <a:effectLst/>
                <a:latin typeface="Georgia" panose="02040502050405020303" pitchFamily="18" charset="0"/>
              </a:rPr>
              <a:t> show more anomalies, hinting at potential fraud.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solidFill>
                  <a:srgbClr val="0D47A1"/>
                </a:solidFill>
                <a:effectLst/>
                <a:latin typeface="Georgia" panose="02040502050405020303" pitchFamily="18" charset="0"/>
              </a:rPr>
              <a:t>Billing &amp; High-Cost Claims:</a:t>
            </a:r>
            <a:endParaRPr kumimoji="0" lang="en-US" altLang="en-US" sz="1200" b="0" i="0" u="none" strike="noStrike" cap="none" normalizeH="0" baseline="0" dirty="0">
              <a:ln>
                <a:noFill/>
              </a:ln>
              <a:solidFill>
                <a:srgbClr val="0D47A1"/>
              </a:solidFill>
              <a:effectLst/>
              <a:latin typeface="Georgia" panose="02040502050405020303" pitchFamily="18" charset="0"/>
            </a:endParaRPr>
          </a:p>
          <a:p>
            <a:pPr marL="742950" marR="0" lvl="1" indent="-285750" algn="l" defTabSz="914400" rtl="0" eaLnBrk="0" fontAlgn="base" latinLnBrk="0" hangingPunct="0">
              <a:lnSpc>
                <a:spcPct val="100000"/>
              </a:lnSpc>
              <a:spcBef>
                <a:spcPct val="0"/>
              </a:spcBef>
              <a:spcAft>
                <a:spcPts val="600"/>
              </a:spcAft>
              <a:buClrTx/>
              <a:buSzTx/>
              <a:buFont typeface="Courier New" panose="02070309020205020404" pitchFamily="49" charset="0"/>
              <a:buChar char="o"/>
              <a:tabLst/>
            </a:pPr>
            <a:r>
              <a:rPr kumimoji="0" lang="en-US" altLang="en-US" sz="1200" b="1" i="0" u="none" strike="noStrike" cap="none" normalizeH="0" baseline="0" dirty="0">
                <a:ln>
                  <a:noFill/>
                </a:ln>
                <a:solidFill>
                  <a:schemeClr val="tx1"/>
                </a:solidFill>
                <a:effectLst/>
                <a:latin typeface="Georgia" panose="02040502050405020303" pitchFamily="18" charset="0"/>
              </a:rPr>
              <a:t>High-cost claims ($60,000+)</a:t>
            </a:r>
            <a:r>
              <a:rPr kumimoji="0" lang="en-US" altLang="en-US" sz="1200" b="0" i="0" u="none" strike="noStrike" cap="none" normalizeH="0" baseline="0" dirty="0">
                <a:ln>
                  <a:noFill/>
                </a:ln>
                <a:solidFill>
                  <a:schemeClr val="tx1"/>
                </a:solidFill>
                <a:effectLst/>
                <a:latin typeface="Georgia" panose="02040502050405020303" pitchFamily="18" charset="0"/>
              </a:rPr>
              <a:t> are more prone to anomalies, possibly due to fraud or billing errors.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solidFill>
                  <a:srgbClr val="0D47A1"/>
                </a:solidFill>
                <a:effectLst/>
                <a:latin typeface="Georgia" panose="02040502050405020303" pitchFamily="18" charset="0"/>
              </a:rPr>
              <a:t>Medical Procedures with High Anomalies:</a:t>
            </a:r>
            <a:endParaRPr kumimoji="0" lang="en-US" altLang="en-US" sz="1200" b="0" i="0" u="none" strike="noStrike" cap="none" normalizeH="0" baseline="0" dirty="0">
              <a:ln>
                <a:noFill/>
              </a:ln>
              <a:solidFill>
                <a:srgbClr val="0D47A1"/>
              </a:solidFill>
              <a:effectLst/>
              <a:latin typeface="Georgia" panose="02040502050405020303" pitchFamily="18" charset="0"/>
            </a:endParaRPr>
          </a:p>
          <a:p>
            <a:pPr marL="742950" marR="0" lvl="1" indent="-285750" algn="l" defTabSz="914400" rtl="0" eaLnBrk="0" fontAlgn="base" latinLnBrk="0" hangingPunct="0">
              <a:lnSpc>
                <a:spcPct val="100000"/>
              </a:lnSpc>
              <a:spcBef>
                <a:spcPct val="0"/>
              </a:spcBef>
              <a:spcAft>
                <a:spcPts val="600"/>
              </a:spcAft>
              <a:buClrTx/>
              <a:buSzTx/>
              <a:buFont typeface="Courier New" panose="02070309020205020404" pitchFamily="49" charset="0"/>
              <a:buChar char="o"/>
              <a:tabLst/>
            </a:pPr>
            <a:r>
              <a:rPr kumimoji="0" lang="en-US" altLang="en-US" sz="1200" b="1" i="0" u="none" strike="noStrike" cap="none" normalizeH="0" baseline="0" dirty="0">
                <a:ln>
                  <a:noFill/>
                </a:ln>
                <a:solidFill>
                  <a:schemeClr val="tx1"/>
                </a:solidFill>
                <a:effectLst/>
                <a:latin typeface="Georgia" panose="02040502050405020303" pitchFamily="18" charset="0"/>
              </a:rPr>
              <a:t>Cardiovascular, respiratory, and neurological procedures</a:t>
            </a:r>
            <a:r>
              <a:rPr kumimoji="0" lang="en-US" altLang="en-US" sz="1200" b="0" i="0" u="none" strike="noStrike" cap="none" normalizeH="0" baseline="0" dirty="0">
                <a:ln>
                  <a:noFill/>
                </a:ln>
                <a:solidFill>
                  <a:schemeClr val="tx1"/>
                </a:solidFill>
                <a:effectLst/>
                <a:latin typeface="Georgia" panose="02040502050405020303" pitchFamily="18" charset="0"/>
              </a:rPr>
              <a:t> show the highest anomaly rates. </a:t>
            </a:r>
          </a:p>
          <a:p>
            <a:pPr marL="457200" marR="0" lvl="1" indent="0" algn="l" defTabSz="914400" rtl="0" eaLnBrk="0" fontAlgn="base" latinLnBrk="0" hangingPunct="0">
              <a:lnSpc>
                <a:spcPct val="100000"/>
              </a:lnSpc>
              <a:spcBef>
                <a:spcPct val="0"/>
              </a:spcBef>
              <a:spcAft>
                <a:spcPts val="600"/>
              </a:spcAft>
              <a:buClrTx/>
              <a:buSzTx/>
              <a:tabLst/>
            </a:pPr>
            <a:endParaRPr kumimoji="0" lang="en-US" altLang="en-US" sz="1200" b="0" i="0" u="none" strike="noStrike" cap="none" normalizeH="0" baseline="0" dirty="0">
              <a:ln>
                <a:noFill/>
              </a:ln>
              <a:solidFill>
                <a:schemeClr val="tx1"/>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ts val="600"/>
              </a:spcAft>
              <a:buClrTx/>
              <a:buSzTx/>
              <a:buFontTx/>
              <a:buNone/>
              <a:tabLst/>
            </a:pPr>
            <a:r>
              <a:rPr kumimoji="0" lang="en-US" altLang="en-US" b="1" i="0" u="none" strike="noStrike" cap="none" normalizeH="0" baseline="0" dirty="0">
                <a:ln>
                  <a:noFill/>
                </a:ln>
                <a:solidFill>
                  <a:schemeClr val="tx1"/>
                </a:solidFill>
                <a:effectLst/>
                <a:latin typeface="Georgia" panose="02040502050405020303" pitchFamily="18" charset="0"/>
              </a:rPr>
              <a:t>Recommendations:</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solidFill>
                  <a:srgbClr val="0D47A1"/>
                </a:solidFill>
                <a:effectLst/>
                <a:latin typeface="Georgia" panose="02040502050405020303" pitchFamily="18" charset="0"/>
              </a:rPr>
              <a:t>Stronger audits</a:t>
            </a:r>
            <a:r>
              <a:rPr kumimoji="0" lang="en-US" altLang="en-US" sz="1200" b="0" i="0" u="none" strike="noStrike" cap="none" normalizeH="0" baseline="0" dirty="0">
                <a:ln>
                  <a:noFill/>
                </a:ln>
                <a:solidFill>
                  <a:srgbClr val="0D47A1"/>
                </a:solidFill>
                <a:effectLst/>
                <a:latin typeface="Georgia" panose="02040502050405020303" pitchFamily="18" charset="0"/>
              </a:rPr>
              <a:t> </a:t>
            </a:r>
            <a:r>
              <a:rPr kumimoji="0" lang="en-US" altLang="en-US" sz="1200" b="0" i="0" u="none" strike="noStrike" cap="none" normalizeH="0" baseline="0" dirty="0">
                <a:ln>
                  <a:noFill/>
                </a:ln>
                <a:solidFill>
                  <a:schemeClr val="tx1"/>
                </a:solidFill>
                <a:effectLst/>
                <a:latin typeface="Georgia" panose="02040502050405020303" pitchFamily="18" charset="0"/>
              </a:rPr>
              <a:t>for the 65-74 age group and high-income patients.</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solidFill>
                  <a:srgbClr val="0D47A1"/>
                </a:solidFill>
                <a:effectLst/>
                <a:latin typeface="Georgia" panose="02040502050405020303" pitchFamily="18" charset="0"/>
              </a:rPr>
              <a:t>Review high-cost claims</a:t>
            </a:r>
            <a:r>
              <a:rPr kumimoji="0" lang="en-US" altLang="en-US" sz="1200" b="0" i="0" u="none" strike="noStrike" cap="none" normalizeH="0" baseline="0" dirty="0">
                <a:ln>
                  <a:noFill/>
                </a:ln>
                <a:solidFill>
                  <a:srgbClr val="0D47A1"/>
                </a:solidFill>
                <a:effectLst/>
                <a:latin typeface="Georgia" panose="02040502050405020303" pitchFamily="18" charset="0"/>
              </a:rPr>
              <a:t> </a:t>
            </a:r>
            <a:r>
              <a:rPr kumimoji="0" lang="en-US" altLang="en-US" sz="1200" b="0" i="0" u="none" strike="noStrike" cap="none" normalizeH="0" baseline="0" dirty="0">
                <a:ln>
                  <a:noFill/>
                </a:ln>
                <a:solidFill>
                  <a:schemeClr val="tx1"/>
                </a:solidFill>
                <a:effectLst/>
                <a:latin typeface="Georgia" panose="02040502050405020303" pitchFamily="18" charset="0"/>
              </a:rPr>
              <a:t>for potential fraud.</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solidFill>
                  <a:srgbClr val="0D47A1"/>
                </a:solidFill>
                <a:effectLst/>
                <a:latin typeface="Georgia" panose="02040502050405020303" pitchFamily="18" charset="0"/>
              </a:rPr>
              <a:t>Investigate high-risk procedures</a:t>
            </a:r>
            <a:r>
              <a:rPr kumimoji="0" lang="en-US" altLang="en-US" sz="1200" b="0" i="0" u="none" strike="noStrike" cap="none" normalizeH="0" baseline="0" dirty="0">
                <a:ln>
                  <a:noFill/>
                </a:ln>
                <a:solidFill>
                  <a:srgbClr val="0D47A1"/>
                </a:solidFill>
                <a:effectLst/>
                <a:latin typeface="Georgia" panose="02040502050405020303" pitchFamily="18" charset="0"/>
              </a:rPr>
              <a:t> </a:t>
            </a:r>
            <a:r>
              <a:rPr kumimoji="0" lang="en-US" altLang="en-US" sz="1200" b="0" i="0" u="none" strike="noStrike" cap="none" normalizeH="0" baseline="0" dirty="0">
                <a:ln>
                  <a:noFill/>
                </a:ln>
                <a:solidFill>
                  <a:schemeClr val="tx1"/>
                </a:solidFill>
                <a:effectLst/>
                <a:latin typeface="Georgia" panose="02040502050405020303" pitchFamily="18" charset="0"/>
              </a:rPr>
              <a:t>for billing irregularities.</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solidFill>
                  <a:srgbClr val="0D47A1"/>
                </a:solidFill>
                <a:effectLst/>
                <a:latin typeface="Georgia" panose="02040502050405020303" pitchFamily="18" charset="0"/>
              </a:rPr>
              <a:t>Use AI for real-time fraud detection</a:t>
            </a:r>
            <a:r>
              <a:rPr kumimoji="0" lang="en-US" altLang="en-US" sz="1200" b="0" i="0" u="none" strike="noStrike" cap="none" normalizeH="0" baseline="0" dirty="0">
                <a:ln>
                  <a:noFill/>
                </a:ln>
                <a:solidFill>
                  <a:srgbClr val="0D47A1"/>
                </a:solidFill>
                <a:effectLst/>
                <a:latin typeface="Georgia" panose="02040502050405020303" pitchFamily="18" charset="0"/>
              </a:rPr>
              <a:t> </a:t>
            </a:r>
            <a:r>
              <a:rPr kumimoji="0" lang="en-US" altLang="en-US" sz="1200" b="0" i="0" u="none" strike="noStrike" cap="none" normalizeH="0" baseline="0" dirty="0">
                <a:ln>
                  <a:noFill/>
                </a:ln>
                <a:solidFill>
                  <a:schemeClr val="tx1"/>
                </a:solidFill>
                <a:effectLst/>
                <a:latin typeface="Georgia" panose="02040502050405020303" pitchFamily="18" charset="0"/>
              </a:rPr>
              <a:t>to improve claim accuracy.</a:t>
            </a:r>
          </a:p>
        </p:txBody>
      </p:sp>
    </p:spTree>
    <p:extLst>
      <p:ext uri="{BB962C8B-B14F-4D97-AF65-F5344CB8AC3E}">
        <p14:creationId xmlns:p14="http://schemas.microsoft.com/office/powerpoint/2010/main" val="10738048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93A6DC6C-55DB-3CA4-F1F8-2640E19F79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BF08BB-2675-F9E8-57AA-C2E01BDBAB23}"/>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AD190F7A-CEAA-265B-79A9-D360053DCE71}"/>
              </a:ext>
            </a:extLst>
          </p:cNvPr>
          <p:cNvSpPr txBox="1"/>
          <p:nvPr/>
        </p:nvSpPr>
        <p:spPr>
          <a:xfrm>
            <a:off x="0" y="1533559"/>
            <a:ext cx="9126594" cy="1952907"/>
          </a:xfrm>
          <a:prstGeom prst="rect">
            <a:avLst/>
          </a:prstGeom>
          <a:noFill/>
        </p:spPr>
        <p:txBody>
          <a:bodyPr wrap="square">
            <a:spAutoFit/>
          </a:bodyPr>
          <a:lstStyle/>
          <a:p>
            <a:pPr algn="ctr">
              <a:lnSpc>
                <a:spcPct val="150000"/>
              </a:lnSpc>
            </a:pPr>
            <a:r>
              <a:rPr lang="en-US" sz="2800" b="1" dirty="0">
                <a:solidFill>
                  <a:srgbClr val="0D47A1"/>
                </a:solidFill>
                <a:latin typeface="Georgia" panose="02040502050405020303" pitchFamily="18" charset="0"/>
              </a:rPr>
              <a:t>Predictive Modeling </a:t>
            </a:r>
          </a:p>
          <a:p>
            <a:pPr algn="ctr">
              <a:lnSpc>
                <a:spcPct val="150000"/>
              </a:lnSpc>
            </a:pPr>
            <a:r>
              <a:rPr lang="en-US" sz="2800" b="1" dirty="0">
                <a:solidFill>
                  <a:srgbClr val="0D47A1"/>
                </a:solidFill>
                <a:latin typeface="Georgia" panose="02040502050405020303" pitchFamily="18" charset="0"/>
              </a:rPr>
              <a:t>for </a:t>
            </a:r>
          </a:p>
          <a:p>
            <a:pPr algn="ctr">
              <a:lnSpc>
                <a:spcPct val="150000"/>
              </a:lnSpc>
            </a:pPr>
            <a:r>
              <a:rPr lang="en-US" sz="2800" b="1" dirty="0">
                <a:solidFill>
                  <a:srgbClr val="0D47A1"/>
                </a:solidFill>
                <a:latin typeface="Georgia" panose="02040502050405020303" pitchFamily="18" charset="0"/>
              </a:rPr>
              <a:t>Best Provider Selection</a:t>
            </a:r>
            <a:endParaRPr lang="en-IN" sz="2000" b="1" dirty="0">
              <a:solidFill>
                <a:srgbClr val="0D47A1"/>
              </a:solidFill>
              <a:latin typeface="Georgia" panose="02040502050405020303" pitchFamily="18" charset="0"/>
            </a:endParaRPr>
          </a:p>
        </p:txBody>
      </p:sp>
    </p:spTree>
    <p:extLst>
      <p:ext uri="{BB962C8B-B14F-4D97-AF65-F5344CB8AC3E}">
        <p14:creationId xmlns:p14="http://schemas.microsoft.com/office/powerpoint/2010/main" val="16950830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852B3913-8F59-57D6-0B73-5891ABF5C0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20D9AF-2FC9-F522-7345-87EDC94A047A}"/>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3" name="TextBox 2">
            <a:extLst>
              <a:ext uri="{FF2B5EF4-FFF2-40B4-BE49-F238E27FC236}">
                <a16:creationId xmlns:a16="http://schemas.microsoft.com/office/drawing/2014/main" id="{080CD797-A069-7391-4E6A-CD51629E84D3}"/>
              </a:ext>
            </a:extLst>
          </p:cNvPr>
          <p:cNvSpPr txBox="1"/>
          <p:nvPr/>
        </p:nvSpPr>
        <p:spPr>
          <a:xfrm>
            <a:off x="432054" y="512064"/>
            <a:ext cx="8590788" cy="3754874"/>
          </a:xfrm>
          <a:prstGeom prst="rect">
            <a:avLst/>
          </a:prstGeom>
          <a:noFill/>
        </p:spPr>
        <p:txBody>
          <a:bodyPr wrap="square" rtlCol="0">
            <a:spAutoFit/>
          </a:bodyPr>
          <a:lstStyle/>
          <a:p>
            <a:pPr>
              <a:spcAft>
                <a:spcPts val="1200"/>
              </a:spcAft>
            </a:pPr>
            <a:r>
              <a:rPr lang="en-IN" sz="1600" b="1" dirty="0">
                <a:solidFill>
                  <a:srgbClr val="0D47A1"/>
                </a:solidFill>
                <a:latin typeface="Georgia" panose="02040502050405020303" pitchFamily="18" charset="0"/>
              </a:rPr>
              <a:t>Problem Statement:</a:t>
            </a:r>
            <a:endParaRPr kumimoji="0" lang="en-US" altLang="en-US" sz="1600" b="0" i="0" u="none" strike="noStrike" cap="none" normalizeH="0" baseline="0" dirty="0">
              <a:ln>
                <a:noFill/>
              </a:ln>
              <a:solidFill>
                <a:srgbClr val="0D47A1"/>
              </a:solidFill>
              <a:effectLst/>
              <a:latin typeface="Georgia" panose="02040502050405020303" pitchFamily="18" charset="0"/>
            </a:endParaRP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eorgia" panose="02040502050405020303" pitchFamily="18" charset="0"/>
              </a:rPr>
              <a:t>Patients struggle to find the best provider.</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eorgia" panose="02040502050405020303" pitchFamily="18" charset="0"/>
              </a:rPr>
              <a:t>Healthcare costs for the same procedure vary significantly across hospitals and states.</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eorgia" panose="02040502050405020303" pitchFamily="18" charset="0"/>
              </a:rPr>
              <a:t>Lack of transparency in hospital pricing and payment patterns leads to uninformed decision-making. </a:t>
            </a:r>
          </a:p>
          <a:p>
            <a:pPr marL="285750" indent="-285750">
              <a:buFont typeface="Arial" panose="020B0604020202020204" pitchFamily="34" charset="0"/>
              <a:buChar char="•"/>
            </a:pPr>
            <a:endParaRPr lang="en-IN" sz="1600" dirty="0">
              <a:solidFill>
                <a:srgbClr val="0D47A1"/>
              </a:solidFill>
              <a:latin typeface="Georgia" panose="02040502050405020303" pitchFamily="18" charset="0"/>
            </a:endParaRPr>
          </a:p>
          <a:p>
            <a:pPr>
              <a:spcAft>
                <a:spcPts val="1200"/>
              </a:spcAft>
            </a:pPr>
            <a:r>
              <a:rPr lang="en-US" sz="1600" b="1" dirty="0">
                <a:solidFill>
                  <a:srgbClr val="0D47A1"/>
                </a:solidFill>
                <a:latin typeface="Georgia" panose="02040502050405020303" pitchFamily="18" charset="0"/>
              </a:rPr>
              <a:t>Importance of Predicting the Best Provider</a:t>
            </a:r>
          </a:p>
          <a:p>
            <a:pPr marL="285750" indent="-285750">
              <a:spcAft>
                <a:spcPts val="600"/>
              </a:spcAft>
              <a:buFont typeface="Arial" panose="020B0604020202020204" pitchFamily="34" charset="0"/>
              <a:buChar char="•"/>
            </a:pPr>
            <a:r>
              <a:rPr lang="en-US" dirty="0">
                <a:latin typeface="Georgia" panose="02040502050405020303" pitchFamily="18" charset="0"/>
              </a:rPr>
              <a:t>Helps patients make cost-effective and well-informed healthcare choices.</a:t>
            </a:r>
          </a:p>
          <a:p>
            <a:pPr marL="285750" indent="-285750">
              <a:spcAft>
                <a:spcPts val="600"/>
              </a:spcAft>
              <a:buFont typeface="Arial" panose="020B0604020202020204" pitchFamily="34" charset="0"/>
              <a:buChar char="•"/>
            </a:pPr>
            <a:r>
              <a:rPr lang="en-US" dirty="0">
                <a:latin typeface="Georgia" panose="02040502050405020303" pitchFamily="18" charset="0"/>
              </a:rPr>
              <a:t>Reduces financial burden by identifying hospitals with lower charges and optimal care.</a:t>
            </a:r>
          </a:p>
          <a:p>
            <a:endParaRPr lang="en-IN" sz="1600" dirty="0">
              <a:latin typeface="Georgia" panose="02040502050405020303" pitchFamily="18" charset="0"/>
            </a:endParaRPr>
          </a:p>
          <a:p>
            <a:pPr>
              <a:spcAft>
                <a:spcPts val="1200"/>
              </a:spcAft>
            </a:pPr>
            <a:r>
              <a:rPr lang="en-US" sz="1600" b="1" dirty="0">
                <a:solidFill>
                  <a:srgbClr val="0D47A1"/>
                </a:solidFill>
                <a:latin typeface="Georgia" panose="02040502050405020303" pitchFamily="18" charset="0"/>
              </a:rPr>
              <a:t>Model Objective</a:t>
            </a:r>
          </a:p>
          <a:p>
            <a:pPr marL="285750" indent="-285750">
              <a:spcAft>
                <a:spcPts val="600"/>
              </a:spcAft>
              <a:buFont typeface="Arial" panose="020B0604020202020204" pitchFamily="34" charset="0"/>
              <a:buChar char="•"/>
            </a:pPr>
            <a:r>
              <a:rPr lang="en-US" dirty="0">
                <a:latin typeface="Georgia" panose="02040502050405020303" pitchFamily="18" charset="0"/>
              </a:rPr>
              <a:t>Predicts the best provider for a given procedure based on cost and payment patterns.</a:t>
            </a:r>
          </a:p>
          <a:p>
            <a:pPr marL="285750" indent="-285750">
              <a:spcAft>
                <a:spcPts val="600"/>
              </a:spcAft>
              <a:buFont typeface="Arial" panose="020B0604020202020204" pitchFamily="34" charset="0"/>
              <a:buChar char="•"/>
            </a:pPr>
            <a:r>
              <a:rPr lang="en-US" dirty="0">
                <a:latin typeface="Georgia" panose="02040502050405020303" pitchFamily="18" charset="0"/>
              </a:rPr>
              <a:t>Provides transparency in hospital pricing for better healthcare accessibility.</a:t>
            </a:r>
            <a:endParaRPr lang="en-IN" dirty="0">
              <a:latin typeface="Georgia" panose="02040502050405020303" pitchFamily="18" charset="0"/>
            </a:endParaRPr>
          </a:p>
        </p:txBody>
      </p:sp>
    </p:spTree>
    <p:extLst>
      <p:ext uri="{BB962C8B-B14F-4D97-AF65-F5344CB8AC3E}">
        <p14:creationId xmlns:p14="http://schemas.microsoft.com/office/powerpoint/2010/main" val="38254121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9F437B9B-D09E-6D85-8531-C504E55FE4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D03B41-208E-1896-3223-0DBFE388DAE6}"/>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4D28B141-BFF7-6AB5-FD6A-A693F85C4C30}"/>
              </a:ext>
            </a:extLst>
          </p:cNvPr>
          <p:cNvSpPr txBox="1"/>
          <p:nvPr/>
        </p:nvSpPr>
        <p:spPr>
          <a:xfrm>
            <a:off x="-17406" y="183917"/>
            <a:ext cx="9144000" cy="400110"/>
          </a:xfrm>
          <a:prstGeom prst="rect">
            <a:avLst/>
          </a:prstGeom>
          <a:noFill/>
        </p:spPr>
        <p:txBody>
          <a:bodyPr wrap="square">
            <a:spAutoFit/>
          </a:bodyPr>
          <a:lstStyle/>
          <a:p>
            <a:pPr algn="ctr"/>
            <a:r>
              <a:rPr lang="en-IN" sz="2000" b="1" i="1" dirty="0">
                <a:solidFill>
                  <a:srgbClr val="0D47A1"/>
                </a:solidFill>
                <a:latin typeface="Georgia" panose="02040502050405020303" pitchFamily="18" charset="0"/>
              </a:rPr>
              <a:t>Data Overview</a:t>
            </a:r>
          </a:p>
        </p:txBody>
      </p:sp>
      <p:sp>
        <p:nvSpPr>
          <p:cNvPr id="5" name="TextBox 4">
            <a:extLst>
              <a:ext uri="{FF2B5EF4-FFF2-40B4-BE49-F238E27FC236}">
                <a16:creationId xmlns:a16="http://schemas.microsoft.com/office/drawing/2014/main" id="{55423303-84DD-174C-BC55-04DE04093E85}"/>
              </a:ext>
            </a:extLst>
          </p:cNvPr>
          <p:cNvSpPr txBox="1"/>
          <p:nvPr/>
        </p:nvSpPr>
        <p:spPr>
          <a:xfrm>
            <a:off x="704088" y="902062"/>
            <a:ext cx="7031736" cy="3339376"/>
          </a:xfrm>
          <a:prstGeom prst="rect">
            <a:avLst/>
          </a:prstGeom>
          <a:noFill/>
        </p:spPr>
        <p:txBody>
          <a:bodyPr wrap="square" rtlCol="0">
            <a:spAutoFit/>
          </a:bodyPr>
          <a:lstStyle/>
          <a:p>
            <a:pPr>
              <a:spcAft>
                <a:spcPts val="1200"/>
              </a:spcAft>
            </a:pPr>
            <a:r>
              <a:rPr lang="en-US" sz="1600" b="1" dirty="0">
                <a:solidFill>
                  <a:srgbClr val="0D47A1"/>
                </a:solidFill>
                <a:latin typeface="Georgia" panose="02040502050405020303" pitchFamily="18" charset="0"/>
              </a:rPr>
              <a:t>Datasets Used</a:t>
            </a:r>
          </a:p>
          <a:p>
            <a:pPr marL="285750" indent="-285750">
              <a:spcAft>
                <a:spcPts val="600"/>
              </a:spcAft>
              <a:buFont typeface="Arial" panose="020B0604020202020204" pitchFamily="34" charset="0"/>
              <a:buChar char="•"/>
            </a:pPr>
            <a:r>
              <a:rPr lang="en-IN" b="0" i="1" dirty="0">
                <a:solidFill>
                  <a:schemeClr val="tx1"/>
                </a:solidFill>
                <a:effectLst/>
                <a:latin typeface="Georgia" panose="02040502050405020303" pitchFamily="18" charset="0"/>
              </a:rPr>
              <a:t>Medicare_Provider_Charge_Inpatient</a:t>
            </a:r>
          </a:p>
          <a:p>
            <a:pPr marL="285750" indent="-285750">
              <a:spcAft>
                <a:spcPts val="600"/>
              </a:spcAft>
              <a:buFont typeface="Arial" panose="020B0604020202020204" pitchFamily="34" charset="0"/>
              <a:buChar char="•"/>
            </a:pPr>
            <a:r>
              <a:rPr lang="en-IN" b="0" i="1" dirty="0">
                <a:solidFill>
                  <a:schemeClr val="tx1"/>
                </a:solidFill>
                <a:effectLst/>
                <a:latin typeface="Georgia" panose="02040502050405020303" pitchFamily="18" charset="0"/>
              </a:rPr>
              <a:t>Medicare_Provider_Charge_Outpatient</a:t>
            </a:r>
            <a:endParaRPr lang="en-US" i="1" dirty="0">
              <a:solidFill>
                <a:schemeClr val="tx1"/>
              </a:solidFill>
              <a:latin typeface="Georgia" panose="02040502050405020303" pitchFamily="18" charset="0"/>
            </a:endParaRPr>
          </a:p>
          <a:p>
            <a:pPr>
              <a:buFont typeface="Arial" panose="020B0604020202020204" pitchFamily="34" charset="0"/>
              <a:buChar char="•"/>
            </a:pPr>
            <a:endParaRPr lang="en-US" sz="1200" dirty="0">
              <a:solidFill>
                <a:srgbClr val="0D47A1"/>
              </a:solidFill>
              <a:latin typeface="Georgia" panose="02040502050405020303" pitchFamily="18" charset="0"/>
            </a:endParaRPr>
          </a:p>
          <a:p>
            <a:pPr>
              <a:spcAft>
                <a:spcPts val="1200"/>
              </a:spcAft>
            </a:pPr>
            <a:r>
              <a:rPr lang="en-US" sz="1600" b="1" dirty="0">
                <a:solidFill>
                  <a:srgbClr val="0D47A1"/>
                </a:solidFill>
                <a:latin typeface="Georgia" panose="02040502050405020303" pitchFamily="18" charset="0"/>
              </a:rPr>
              <a:t>Key Columns Used in Analysis</a:t>
            </a:r>
          </a:p>
          <a:p>
            <a:pPr marL="171450" indent="-171450">
              <a:spcAft>
                <a:spcPts val="600"/>
              </a:spcAft>
              <a:buFont typeface="Arial" panose="020B0604020202020204" pitchFamily="34" charset="0"/>
              <a:buChar char="•"/>
            </a:pPr>
            <a:r>
              <a:rPr lang="en-US" b="1" dirty="0">
                <a:latin typeface="Georgia" panose="02040502050405020303" pitchFamily="18" charset="0"/>
              </a:rPr>
              <a:t>DRG Definition /APC</a:t>
            </a:r>
            <a:r>
              <a:rPr lang="en-US" dirty="0">
                <a:latin typeface="Georgia" panose="02040502050405020303" pitchFamily="18" charset="0"/>
              </a:rPr>
              <a:t>– Diagnosis-related group (procedure category)</a:t>
            </a:r>
          </a:p>
          <a:p>
            <a:pPr marL="171450" indent="-171450">
              <a:spcAft>
                <a:spcPts val="600"/>
              </a:spcAft>
              <a:buFont typeface="Arial" panose="020B0604020202020204" pitchFamily="34" charset="0"/>
              <a:buChar char="•"/>
            </a:pPr>
            <a:r>
              <a:rPr lang="en-US" b="1" dirty="0">
                <a:latin typeface="Georgia" panose="02040502050405020303" pitchFamily="18" charset="0"/>
              </a:rPr>
              <a:t>Provider ID – </a:t>
            </a:r>
            <a:r>
              <a:rPr lang="en-US" dirty="0">
                <a:latin typeface="Georgia" panose="02040502050405020303" pitchFamily="18" charset="0"/>
              </a:rPr>
              <a:t>Unique id for Provider</a:t>
            </a:r>
          </a:p>
          <a:p>
            <a:pPr marL="171450" indent="-171450">
              <a:spcAft>
                <a:spcPts val="600"/>
              </a:spcAft>
              <a:buFont typeface="Arial" panose="020B0604020202020204" pitchFamily="34" charset="0"/>
              <a:buChar char="•"/>
            </a:pPr>
            <a:r>
              <a:rPr lang="en-US" b="1" dirty="0">
                <a:latin typeface="Georgia" panose="02040502050405020303" pitchFamily="18" charset="0"/>
              </a:rPr>
              <a:t>Provider State</a:t>
            </a:r>
            <a:r>
              <a:rPr lang="en-US" dirty="0">
                <a:latin typeface="Georgia" panose="02040502050405020303" pitchFamily="18" charset="0"/>
              </a:rPr>
              <a:t> – Location of the hospital</a:t>
            </a:r>
          </a:p>
          <a:p>
            <a:pPr marL="171450" indent="-171450">
              <a:spcAft>
                <a:spcPts val="600"/>
              </a:spcAft>
              <a:buFont typeface="Arial" panose="020B0604020202020204" pitchFamily="34" charset="0"/>
              <a:buChar char="•"/>
            </a:pPr>
            <a:r>
              <a:rPr lang="en-US" b="1" dirty="0">
                <a:latin typeface="Georgia" panose="02040502050405020303" pitchFamily="18" charset="0"/>
              </a:rPr>
              <a:t>Total Discharge – </a:t>
            </a:r>
            <a:r>
              <a:rPr lang="en-US" dirty="0">
                <a:latin typeface="Georgia" panose="02040502050405020303" pitchFamily="18" charset="0"/>
              </a:rPr>
              <a:t>Discharge for each procedure </a:t>
            </a:r>
          </a:p>
          <a:p>
            <a:pPr marL="171450" indent="-171450">
              <a:spcAft>
                <a:spcPts val="600"/>
              </a:spcAft>
              <a:buFont typeface="Arial" panose="020B0604020202020204" pitchFamily="34" charset="0"/>
              <a:buChar char="•"/>
            </a:pPr>
            <a:r>
              <a:rPr lang="en-US" b="1" dirty="0">
                <a:latin typeface="Georgia" panose="02040502050405020303" pitchFamily="18" charset="0"/>
              </a:rPr>
              <a:t>Average Covered Charges</a:t>
            </a:r>
            <a:r>
              <a:rPr lang="en-US" dirty="0">
                <a:latin typeface="Georgia" panose="02040502050405020303" pitchFamily="18" charset="0"/>
              </a:rPr>
              <a:t> – Amount billed by the hospital</a:t>
            </a:r>
          </a:p>
          <a:p>
            <a:pPr marL="171450" indent="-171450">
              <a:spcAft>
                <a:spcPts val="600"/>
              </a:spcAft>
              <a:buFont typeface="Arial" panose="020B0604020202020204" pitchFamily="34" charset="0"/>
              <a:buChar char="•"/>
            </a:pPr>
            <a:r>
              <a:rPr lang="en-US" b="1" dirty="0">
                <a:latin typeface="Georgia" panose="02040502050405020303" pitchFamily="18" charset="0"/>
              </a:rPr>
              <a:t>Average Total Payments</a:t>
            </a:r>
            <a:r>
              <a:rPr lang="en-US" dirty="0">
                <a:latin typeface="Georgia" panose="02040502050405020303" pitchFamily="18" charset="0"/>
              </a:rPr>
              <a:t> – Amount paid by Medicare/insurer</a:t>
            </a:r>
          </a:p>
        </p:txBody>
      </p:sp>
    </p:spTree>
    <p:extLst>
      <p:ext uri="{BB962C8B-B14F-4D97-AF65-F5344CB8AC3E}">
        <p14:creationId xmlns:p14="http://schemas.microsoft.com/office/powerpoint/2010/main" val="9629558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4099244C-DDC8-C776-0588-73595CBC62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587171-542D-C106-A1F0-95AD838F7131}"/>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B298FB8C-C048-FF32-6FCD-F6A05C197907}"/>
              </a:ext>
            </a:extLst>
          </p:cNvPr>
          <p:cNvSpPr txBox="1"/>
          <p:nvPr/>
        </p:nvSpPr>
        <p:spPr>
          <a:xfrm>
            <a:off x="0" y="126152"/>
            <a:ext cx="9144000" cy="400110"/>
          </a:xfrm>
          <a:prstGeom prst="rect">
            <a:avLst/>
          </a:prstGeom>
          <a:noFill/>
        </p:spPr>
        <p:txBody>
          <a:bodyPr wrap="square">
            <a:spAutoFit/>
          </a:bodyPr>
          <a:lstStyle/>
          <a:p>
            <a:pPr algn="ctr"/>
            <a:r>
              <a:rPr lang="en-IN" sz="2000" b="1" i="1" dirty="0">
                <a:solidFill>
                  <a:srgbClr val="0D47A1"/>
                </a:solidFill>
                <a:latin typeface="Georgia" panose="02040502050405020303" pitchFamily="18" charset="0"/>
              </a:rPr>
              <a:t>Data Processing &amp; Feature Engineering</a:t>
            </a:r>
          </a:p>
        </p:txBody>
      </p:sp>
      <p:sp>
        <p:nvSpPr>
          <p:cNvPr id="5" name="TextBox 4">
            <a:extLst>
              <a:ext uri="{FF2B5EF4-FFF2-40B4-BE49-F238E27FC236}">
                <a16:creationId xmlns:a16="http://schemas.microsoft.com/office/drawing/2014/main" id="{D0E275A0-4C0A-8D05-D408-4DE7A9183F60}"/>
              </a:ext>
            </a:extLst>
          </p:cNvPr>
          <p:cNvSpPr txBox="1"/>
          <p:nvPr/>
        </p:nvSpPr>
        <p:spPr>
          <a:xfrm>
            <a:off x="146304" y="694944"/>
            <a:ext cx="8531352" cy="2708434"/>
          </a:xfrm>
          <a:prstGeom prst="rect">
            <a:avLst/>
          </a:prstGeom>
          <a:noFill/>
        </p:spPr>
        <p:txBody>
          <a:bodyPr wrap="square" rtlCol="0">
            <a:spAutoFit/>
          </a:bodyPr>
          <a:lstStyle/>
          <a:p>
            <a:r>
              <a:rPr lang="en-IN" b="1" dirty="0">
                <a:latin typeface="Georgia" panose="02040502050405020303" pitchFamily="18" charset="0"/>
              </a:rPr>
              <a:t>Renaming columns:</a:t>
            </a:r>
          </a:p>
          <a:p>
            <a:pPr marL="285750" indent="-285750">
              <a:buFont typeface="Arial" panose="020B0604020202020204" pitchFamily="34" charset="0"/>
              <a:buChar char="•"/>
            </a:pPr>
            <a:r>
              <a:rPr lang="en-IN" dirty="0">
                <a:latin typeface="Georgia" panose="02040502050405020303" pitchFamily="18" charset="0"/>
              </a:rPr>
              <a:t> Inpatient data  -</a:t>
            </a:r>
            <a:r>
              <a:rPr lang="en-US" b="0" dirty="0">
                <a:solidFill>
                  <a:srgbClr val="0D47A1"/>
                </a:solidFill>
                <a:effectLst/>
                <a:latin typeface="Georgia" panose="02040502050405020303" pitchFamily="18" charset="0"/>
              </a:rPr>
              <a:t>"DRG_Definition":"Procedure","Total_Discharges":"Total_Discharge","Average_Covered_Charges":"Avg_covered_charges"</a:t>
            </a:r>
          </a:p>
          <a:p>
            <a:pPr marL="285750" indent="-285750">
              <a:buFont typeface="Arial" panose="020B0604020202020204" pitchFamily="34" charset="0"/>
              <a:buChar char="•"/>
            </a:pPr>
            <a:r>
              <a:rPr lang="en-IN" dirty="0">
                <a:latin typeface="Georgia" panose="02040502050405020303" pitchFamily="18" charset="0"/>
              </a:rPr>
              <a:t>Outpatient data  -</a:t>
            </a:r>
            <a:r>
              <a:rPr lang="en-US" b="0" dirty="0">
                <a:solidFill>
                  <a:srgbClr val="0D47A1"/>
                </a:solidFill>
                <a:effectLst/>
                <a:latin typeface="Georgia" panose="02040502050405020303" pitchFamily="18" charset="0"/>
              </a:rPr>
              <a:t>"APC":"Procedure","Outpatient_Services":"Total_Discharge","Average_Estimated_Submitted_Charges":"Avg_covered_charges“</a:t>
            </a:r>
          </a:p>
          <a:p>
            <a:pPr marL="285750" indent="-285750">
              <a:buFont typeface="Arial" panose="020B0604020202020204" pitchFamily="34" charset="0"/>
              <a:buChar char="•"/>
            </a:pPr>
            <a:endParaRPr lang="en-US" dirty="0">
              <a:solidFill>
                <a:srgbClr val="0D47A1"/>
              </a:solidFill>
              <a:latin typeface="Georgia" panose="02040502050405020303" pitchFamily="18" charset="0"/>
            </a:endParaRPr>
          </a:p>
          <a:p>
            <a:r>
              <a:rPr lang="en-US" b="1" dirty="0">
                <a:latin typeface="Georgia" panose="02040502050405020303" pitchFamily="18" charset="0"/>
              </a:rPr>
              <a:t>Encoding categorical data using Label Encoder</a:t>
            </a:r>
            <a:endParaRPr lang="en-US" b="1" dirty="0">
              <a:solidFill>
                <a:srgbClr val="0D47A1"/>
              </a:solidFill>
              <a:latin typeface="Georgia" panose="02040502050405020303" pitchFamily="18" charset="0"/>
            </a:endParaRPr>
          </a:p>
          <a:p>
            <a:pPr marL="285750" indent="-285750">
              <a:buFont typeface="Arial" panose="020B0604020202020204" pitchFamily="34" charset="0"/>
              <a:buChar char="•"/>
            </a:pPr>
            <a:r>
              <a:rPr lang="en-US" dirty="0">
                <a:solidFill>
                  <a:schemeClr val="tx1"/>
                </a:solidFill>
                <a:latin typeface="Georgia" panose="02040502050405020303" pitchFamily="18" charset="0"/>
              </a:rPr>
              <a:t>Categorical column like </a:t>
            </a:r>
            <a:r>
              <a:rPr lang="en-US" b="1" dirty="0">
                <a:solidFill>
                  <a:srgbClr val="0D47A1"/>
                </a:solidFill>
                <a:effectLst/>
                <a:latin typeface="Georgia" panose="02040502050405020303" pitchFamily="18" charset="0"/>
              </a:rPr>
              <a:t>Procedure</a:t>
            </a:r>
            <a:r>
              <a:rPr lang="en-US" dirty="0">
                <a:solidFill>
                  <a:schemeClr val="tx1"/>
                </a:solidFill>
                <a:latin typeface="Georgia" panose="02040502050405020303" pitchFamily="18" charset="0"/>
              </a:rPr>
              <a:t> and  </a:t>
            </a:r>
            <a:r>
              <a:rPr lang="en-US" b="1" dirty="0">
                <a:solidFill>
                  <a:srgbClr val="0D47A1"/>
                </a:solidFill>
                <a:latin typeface="Georgia" panose="02040502050405020303" pitchFamily="18" charset="0"/>
              </a:rPr>
              <a:t>Provider state </a:t>
            </a:r>
            <a:r>
              <a:rPr lang="en-US" dirty="0">
                <a:solidFill>
                  <a:schemeClr val="tx1"/>
                </a:solidFill>
                <a:latin typeface="Georgia" panose="02040502050405020303" pitchFamily="18" charset="0"/>
              </a:rPr>
              <a:t>are encoded</a:t>
            </a:r>
          </a:p>
          <a:p>
            <a:pPr marL="285750" indent="-285750">
              <a:buFont typeface="Arial" panose="020B0604020202020204" pitchFamily="34" charset="0"/>
              <a:buChar char="•"/>
            </a:pPr>
            <a:endParaRPr lang="en-US" dirty="0">
              <a:solidFill>
                <a:schemeClr val="tx1"/>
              </a:solidFill>
              <a:latin typeface="Georgia" panose="02040502050405020303" pitchFamily="18" charset="0"/>
            </a:endParaRPr>
          </a:p>
          <a:p>
            <a:r>
              <a:rPr lang="en-US" b="1" dirty="0">
                <a:latin typeface="Georgia" panose="02040502050405020303" pitchFamily="18" charset="0"/>
              </a:rPr>
              <a:t>Features used for training the model</a:t>
            </a:r>
            <a:endParaRPr lang="en-IN" b="1" dirty="0">
              <a:solidFill>
                <a:schemeClr val="tx1"/>
              </a:solidFill>
              <a:latin typeface="Georgia" panose="02040502050405020303" pitchFamily="18" charset="0"/>
            </a:endParaRPr>
          </a:p>
        </p:txBody>
      </p:sp>
      <p:pic>
        <p:nvPicPr>
          <p:cNvPr id="7" name="Picture 6">
            <a:extLst>
              <a:ext uri="{FF2B5EF4-FFF2-40B4-BE49-F238E27FC236}">
                <a16:creationId xmlns:a16="http://schemas.microsoft.com/office/drawing/2014/main" id="{0A9E9D4C-D91F-53BA-91CE-BE795BC361D5}"/>
              </a:ext>
            </a:extLst>
          </p:cNvPr>
          <p:cNvPicPr>
            <a:picLocks noChangeAspect="1"/>
          </p:cNvPicPr>
          <p:nvPr/>
        </p:nvPicPr>
        <p:blipFill>
          <a:blip r:embed="rId3"/>
          <a:stretch>
            <a:fillRect/>
          </a:stretch>
        </p:blipFill>
        <p:spPr>
          <a:xfrm>
            <a:off x="768096" y="3435451"/>
            <a:ext cx="7607808" cy="1249891"/>
          </a:xfrm>
          <a:prstGeom prst="rect">
            <a:avLst/>
          </a:prstGeom>
        </p:spPr>
      </p:pic>
    </p:spTree>
    <p:extLst>
      <p:ext uri="{BB962C8B-B14F-4D97-AF65-F5344CB8AC3E}">
        <p14:creationId xmlns:p14="http://schemas.microsoft.com/office/powerpoint/2010/main" val="3503150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BEB86682-E59B-A490-5758-494E74AAD6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06CD82-5BCA-7285-2BD3-C0A80E859F80}"/>
              </a:ext>
            </a:extLst>
          </p:cNvPr>
          <p:cNvSpPr txBox="1"/>
          <p:nvPr/>
        </p:nvSpPr>
        <p:spPr>
          <a:xfrm>
            <a:off x="8519767" y="5017348"/>
            <a:ext cx="606827" cy="153888"/>
          </a:xfrm>
          <a:prstGeom prst="rect">
            <a:avLst/>
          </a:prstGeom>
          <a:noFill/>
        </p:spPr>
        <p:txBody>
          <a:bodyPr wrap="square" lIns="0" tIns="0" rIns="0" bIns="0">
            <a:spAutoFit/>
          </a:bodyPr>
          <a:lstStyle/>
          <a:p>
            <a:r>
              <a:rPr lang="en-IN" sz="500" dirty="0">
                <a:latin typeface="Georgia" panose="02040502050405020303" pitchFamily="18" charset="0"/>
                <a:cs typeface="Calibri" panose="020F0502020204030204" pitchFamily="34" charset="0"/>
              </a:rPr>
              <a:t>Image source: </a:t>
            </a:r>
            <a:r>
              <a:rPr lang="en-IN" sz="500" dirty="0">
                <a:latin typeface="Georgia" panose="02040502050405020303" pitchFamily="18" charset="0"/>
                <a:cs typeface="Calibri" panose="020F0502020204030204" pitchFamily="34" charset="0"/>
                <a:hlinkClick r:id="rId2"/>
              </a:rPr>
              <a:t>icons8</a:t>
            </a:r>
            <a:r>
              <a:rPr lang="en-IN" sz="500" dirty="0">
                <a:latin typeface="Georgia" panose="02040502050405020303" pitchFamily="18" charset="0"/>
                <a:cs typeface="Calibri" panose="020F0502020204030204" pitchFamily="34" charset="0"/>
              </a:rPr>
              <a:t>`</a:t>
            </a:r>
          </a:p>
        </p:txBody>
      </p:sp>
      <p:sp>
        <p:nvSpPr>
          <p:cNvPr id="4" name="TextBox 3">
            <a:extLst>
              <a:ext uri="{FF2B5EF4-FFF2-40B4-BE49-F238E27FC236}">
                <a16:creationId xmlns:a16="http://schemas.microsoft.com/office/drawing/2014/main" id="{6A30C866-A682-E22D-7FFA-AB59C9CB58F8}"/>
              </a:ext>
            </a:extLst>
          </p:cNvPr>
          <p:cNvSpPr txBox="1"/>
          <p:nvPr/>
        </p:nvSpPr>
        <p:spPr>
          <a:xfrm>
            <a:off x="0" y="145034"/>
            <a:ext cx="9144000" cy="400110"/>
          </a:xfrm>
          <a:prstGeom prst="rect">
            <a:avLst/>
          </a:prstGeom>
          <a:noFill/>
        </p:spPr>
        <p:txBody>
          <a:bodyPr wrap="square">
            <a:spAutoFit/>
          </a:bodyPr>
          <a:lstStyle/>
          <a:p>
            <a:pPr algn="ctr"/>
            <a:r>
              <a:rPr lang="en-IN" sz="2000" b="1" i="1" dirty="0">
                <a:solidFill>
                  <a:srgbClr val="0D47A1"/>
                </a:solidFill>
                <a:latin typeface="Georgia" panose="02040502050405020303" pitchFamily="18" charset="0"/>
              </a:rPr>
              <a:t>Model Selection &amp; Training</a:t>
            </a:r>
          </a:p>
        </p:txBody>
      </p:sp>
      <p:sp>
        <p:nvSpPr>
          <p:cNvPr id="5" name="Rectangle 1">
            <a:extLst>
              <a:ext uri="{FF2B5EF4-FFF2-40B4-BE49-F238E27FC236}">
                <a16:creationId xmlns:a16="http://schemas.microsoft.com/office/drawing/2014/main" id="{0CEF4DDC-9C2C-315D-78D7-2F7154F344B5}"/>
              </a:ext>
            </a:extLst>
          </p:cNvPr>
          <p:cNvSpPr>
            <a:spLocks noChangeArrowheads="1"/>
          </p:cNvSpPr>
          <p:nvPr/>
        </p:nvSpPr>
        <p:spPr bwMode="auto">
          <a:xfrm>
            <a:off x="316992" y="545144"/>
            <a:ext cx="864108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600"/>
              </a:spcAft>
            </a:pPr>
            <a:r>
              <a:rPr lang="en-US" b="1" dirty="0">
                <a:solidFill>
                  <a:srgbClr val="0D47A1"/>
                </a:solidFill>
                <a:latin typeface="Georgia" panose="02040502050405020303" pitchFamily="18" charset="0"/>
              </a:rPr>
              <a:t>XGBoost Regressor</a:t>
            </a:r>
          </a:p>
          <a:p>
            <a:pPr lvl="1">
              <a:spcAft>
                <a:spcPts val="600"/>
              </a:spcAft>
            </a:pPr>
            <a:r>
              <a:rPr lang="en-US" dirty="0">
                <a:latin typeface="Georgia" panose="02040502050405020303" pitchFamily="18" charset="0"/>
              </a:rPr>
              <a:t>	</a:t>
            </a:r>
            <a:r>
              <a:rPr lang="en-US" sz="1200" dirty="0">
                <a:latin typeface="Georgia" panose="02040502050405020303" pitchFamily="18" charset="0"/>
              </a:rPr>
              <a:t>XGBoost (Extreme Gradient Boosting) is a powerful ensemble learning algorithm used for regression tasks. It utilizes boosting to iteratively improve weak models, resulting in high accuracy and efficiency.</a:t>
            </a:r>
          </a:p>
          <a:p>
            <a:endParaRPr lang="en-US" dirty="0">
              <a:latin typeface="Georgia" panose="02040502050405020303" pitchFamily="18" charset="0"/>
            </a:endParaRPr>
          </a:p>
          <a:p>
            <a:pPr>
              <a:spcAft>
                <a:spcPts val="600"/>
              </a:spcAft>
            </a:pPr>
            <a:r>
              <a:rPr lang="en-US" b="1" dirty="0">
                <a:solidFill>
                  <a:srgbClr val="0D47A1"/>
                </a:solidFill>
                <a:latin typeface="Georgia" panose="02040502050405020303" pitchFamily="18" charset="0"/>
              </a:rPr>
              <a:t>Why Use XGBoost Regressor?</a:t>
            </a:r>
          </a:p>
          <a:p>
            <a:pPr marL="285750" indent="-285750">
              <a:spcAft>
                <a:spcPts val="600"/>
              </a:spcAft>
              <a:buFont typeface="Arial" panose="020B0604020202020204" pitchFamily="34" charset="0"/>
              <a:buChar char="•"/>
            </a:pPr>
            <a:r>
              <a:rPr lang="en-US" sz="1200" b="1" dirty="0">
                <a:latin typeface="Georgia" panose="02040502050405020303" pitchFamily="18" charset="0"/>
              </a:rPr>
              <a:t>Handles Large Datasets Efficiently</a:t>
            </a:r>
            <a:r>
              <a:rPr lang="en-US" sz="1200" dirty="0">
                <a:latin typeface="Georgia" panose="02040502050405020303" pitchFamily="18" charset="0"/>
              </a:rPr>
              <a:t> – Optimized for speed and performance, even with high-dimensional data.</a:t>
            </a:r>
          </a:p>
          <a:p>
            <a:pPr marL="285750" indent="-285750">
              <a:spcAft>
                <a:spcPts val="600"/>
              </a:spcAft>
              <a:buFont typeface="Arial" panose="020B0604020202020204" pitchFamily="34" charset="0"/>
              <a:buChar char="•"/>
            </a:pPr>
            <a:r>
              <a:rPr lang="en-US" sz="1200" b="1" dirty="0">
                <a:latin typeface="Georgia" panose="02040502050405020303" pitchFamily="18" charset="0"/>
              </a:rPr>
              <a:t>Reduces Overfitting</a:t>
            </a:r>
            <a:r>
              <a:rPr lang="en-US" sz="1200" dirty="0">
                <a:latin typeface="Georgia" panose="02040502050405020303" pitchFamily="18" charset="0"/>
              </a:rPr>
              <a:t> – Uses regularization techniques like L1 and L2 to prevent overfitting.</a:t>
            </a:r>
          </a:p>
          <a:p>
            <a:pPr marL="285750" indent="-285750">
              <a:spcAft>
                <a:spcPts val="600"/>
              </a:spcAft>
              <a:buFont typeface="Arial" panose="020B0604020202020204" pitchFamily="34" charset="0"/>
              <a:buChar char="•"/>
            </a:pPr>
            <a:r>
              <a:rPr lang="en-US" sz="1200" b="1" dirty="0">
                <a:latin typeface="Georgia" panose="02040502050405020303" pitchFamily="18" charset="0"/>
              </a:rPr>
              <a:t>High Accuracy</a:t>
            </a:r>
            <a:r>
              <a:rPr lang="en-US" sz="1200" dirty="0">
                <a:latin typeface="Georgia" panose="02040502050405020303" pitchFamily="18" charset="0"/>
              </a:rPr>
              <a:t> – Boosting corrects errors from previous models, leading to better predictions</a:t>
            </a:r>
          </a:p>
          <a:p>
            <a:pPr marL="285750" indent="-285750">
              <a:spcAft>
                <a:spcPts val="600"/>
              </a:spcAft>
              <a:buFont typeface="Arial" panose="020B0604020202020204" pitchFamily="34" charset="0"/>
              <a:buChar char="•"/>
            </a:pPr>
            <a:r>
              <a:rPr lang="en-US" sz="1200" b="1" dirty="0">
                <a:latin typeface="Georgia" panose="02040502050405020303" pitchFamily="18" charset="0"/>
              </a:rPr>
              <a:t>Handles Missing Values &amp; Outliers</a:t>
            </a:r>
            <a:r>
              <a:rPr lang="en-US" sz="1200" dirty="0">
                <a:latin typeface="Georgia" panose="02040502050405020303" pitchFamily="18" charset="0"/>
              </a:rPr>
              <a:t> – Can effectively deal with noisy and incomplete data.</a:t>
            </a:r>
          </a:p>
          <a:p>
            <a:endParaRPr lang="en-US" dirty="0">
              <a:latin typeface="Georgia" panose="02040502050405020303" pitchFamily="18" charset="0"/>
            </a:endParaRPr>
          </a:p>
          <a:p>
            <a:pPr>
              <a:spcAft>
                <a:spcPts val="600"/>
              </a:spcAft>
            </a:pPr>
            <a:r>
              <a:rPr lang="en-US" b="1" dirty="0">
                <a:solidFill>
                  <a:srgbClr val="0D47A1"/>
                </a:solidFill>
                <a:latin typeface="Georgia" panose="02040502050405020303" pitchFamily="18" charset="0"/>
              </a:rPr>
              <a:t>Steps in Training the Model</a:t>
            </a:r>
          </a:p>
          <a:p>
            <a:pPr marL="342900" indent="-342900">
              <a:spcAft>
                <a:spcPts val="600"/>
              </a:spcAft>
              <a:buFont typeface="+mj-lt"/>
              <a:buAutoNum type="arabicPeriod"/>
            </a:pPr>
            <a:r>
              <a:rPr lang="en-US" sz="1200" b="1" dirty="0">
                <a:latin typeface="Georgia" panose="02040502050405020303" pitchFamily="18" charset="0"/>
              </a:rPr>
              <a:t>Splitting Data</a:t>
            </a:r>
            <a:r>
              <a:rPr lang="en-US" sz="1200" dirty="0">
                <a:latin typeface="Georgia" panose="02040502050405020303" pitchFamily="18" charset="0"/>
              </a:rPr>
              <a:t> – 80% for training, 20% for testing.</a:t>
            </a:r>
          </a:p>
          <a:p>
            <a:pPr marL="342900" indent="-342900">
              <a:spcAft>
                <a:spcPts val="600"/>
              </a:spcAft>
              <a:buFont typeface="+mj-lt"/>
              <a:buAutoNum type="arabicPeriod"/>
            </a:pPr>
            <a:r>
              <a:rPr lang="en-US" sz="1200" b="1" dirty="0">
                <a:latin typeface="Georgia" panose="02040502050405020303" pitchFamily="18" charset="0"/>
              </a:rPr>
              <a:t>Training the Model</a:t>
            </a:r>
            <a:r>
              <a:rPr lang="en-US" sz="1200" dirty="0">
                <a:latin typeface="Georgia" panose="02040502050405020303" pitchFamily="18" charset="0"/>
              </a:rPr>
              <a:t> – XGBoost is trained with optimal hyperparameters.</a:t>
            </a:r>
          </a:p>
          <a:p>
            <a:pPr marL="342900" indent="-342900">
              <a:spcAft>
                <a:spcPts val="600"/>
              </a:spcAft>
              <a:buFont typeface="+mj-lt"/>
              <a:buAutoNum type="arabicPeriod"/>
            </a:pPr>
            <a:r>
              <a:rPr lang="en-US" sz="1200" b="1" dirty="0">
                <a:latin typeface="Georgia" panose="02040502050405020303" pitchFamily="18" charset="0"/>
              </a:rPr>
              <a:t>Prediction</a:t>
            </a:r>
            <a:r>
              <a:rPr lang="en-US" sz="1200" dirty="0">
                <a:latin typeface="Georgia" panose="02040502050405020303" pitchFamily="18" charset="0"/>
              </a:rPr>
              <a:t> – The model predicts hospital costs for test data.</a:t>
            </a:r>
          </a:p>
          <a:p>
            <a:pPr marL="342900" indent="-342900">
              <a:spcAft>
                <a:spcPts val="600"/>
              </a:spcAft>
              <a:buFont typeface="+mj-lt"/>
              <a:buAutoNum type="arabicPeriod"/>
            </a:pPr>
            <a:r>
              <a:rPr lang="en-US" sz="1200" b="1" dirty="0">
                <a:latin typeface="Georgia" panose="02040502050405020303" pitchFamily="18" charset="0"/>
              </a:rPr>
              <a:t>Evaluation</a:t>
            </a:r>
            <a:r>
              <a:rPr lang="en-US" sz="1200" dirty="0">
                <a:latin typeface="Georgia" panose="02040502050405020303" pitchFamily="18" charset="0"/>
              </a:rPr>
              <a:t> – The model is evaluated using </a:t>
            </a:r>
            <a:r>
              <a:rPr lang="en-US" sz="1200" b="1" dirty="0">
                <a:latin typeface="Georgia" panose="02040502050405020303" pitchFamily="18" charset="0"/>
              </a:rPr>
              <a:t>R² score</a:t>
            </a:r>
            <a:r>
              <a:rPr lang="en-US" sz="1200" dirty="0">
                <a:latin typeface="Georgia" panose="02040502050405020303" pitchFamily="18" charset="0"/>
              </a:rPr>
              <a:t> (coefficient of determination) to assess its predictive power.</a:t>
            </a:r>
          </a:p>
          <a:p>
            <a:pPr marL="342900" indent="-342900">
              <a:spcAft>
                <a:spcPts val="600"/>
              </a:spcAft>
              <a:buFont typeface="+mj-lt"/>
              <a:buAutoNum type="arabicPeriod"/>
            </a:pPr>
            <a:r>
              <a:rPr lang="en-US" sz="1200" b="1" dirty="0">
                <a:latin typeface="Georgia" panose="02040502050405020303" pitchFamily="18" charset="0"/>
              </a:rPr>
              <a:t>Model Selection</a:t>
            </a:r>
            <a:r>
              <a:rPr lang="en-US" sz="1200" dirty="0">
                <a:latin typeface="Georgia" panose="02040502050405020303" pitchFamily="18" charset="0"/>
              </a:rPr>
              <a:t> – XGBoost was selected based on achieving the highest </a:t>
            </a:r>
            <a:r>
              <a:rPr lang="en-US" sz="1200" b="1" dirty="0">
                <a:latin typeface="Georgia" panose="02040502050405020303" pitchFamily="18" charset="0"/>
              </a:rPr>
              <a:t>R² score</a:t>
            </a:r>
            <a:r>
              <a:rPr lang="en-US" sz="1200" dirty="0">
                <a:latin typeface="Georgia" panose="02040502050405020303" pitchFamily="18" charset="0"/>
              </a:rPr>
              <a:t> compared to other models.</a:t>
            </a:r>
          </a:p>
        </p:txBody>
      </p:sp>
    </p:spTree>
    <p:extLst>
      <p:ext uri="{BB962C8B-B14F-4D97-AF65-F5344CB8AC3E}">
        <p14:creationId xmlns:p14="http://schemas.microsoft.com/office/powerpoint/2010/main" val="5216480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772B54AC-B44B-5F48-EE16-8D8D18BD8D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B16189-5E74-E934-7F19-3702D70F7D35}"/>
              </a:ext>
            </a:extLst>
          </p:cNvPr>
          <p:cNvSpPr txBox="1"/>
          <p:nvPr/>
        </p:nvSpPr>
        <p:spPr>
          <a:xfrm>
            <a:off x="8519767" y="5017348"/>
            <a:ext cx="606827" cy="76944"/>
          </a:xfrm>
          <a:prstGeom prst="rect">
            <a:avLst/>
          </a:prstGeom>
          <a:noFill/>
        </p:spPr>
        <p:txBody>
          <a:bodyPr wrap="square" lIns="0" tIns="0" rIns="0" bIns="0">
            <a:spAutoFit/>
          </a:bodyPr>
          <a:lstStyle/>
          <a:p>
            <a:r>
              <a:rPr lang="en-IN" sz="500" dirty="0">
                <a:latin typeface="Calibri" panose="020F0502020204030204" pitchFamily="34" charset="0"/>
                <a:cs typeface="Calibri" panose="020F0502020204030204" pitchFamily="34" charset="0"/>
              </a:rPr>
              <a:t>Image source: </a:t>
            </a:r>
            <a:r>
              <a:rPr lang="en-IN" sz="500" dirty="0">
                <a:latin typeface="Calibri" panose="020F0502020204030204" pitchFamily="34" charset="0"/>
                <a:cs typeface="Calibri" panose="020F0502020204030204" pitchFamily="34" charset="0"/>
                <a:hlinkClick r:id="rId2"/>
              </a:rPr>
              <a:t>icons8</a:t>
            </a:r>
            <a:r>
              <a:rPr lang="en-IN" sz="500" dirty="0">
                <a:latin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09D9ED75-FADB-407C-4447-3F6EF7DD5D9B}"/>
              </a:ext>
            </a:extLst>
          </p:cNvPr>
          <p:cNvSpPr txBox="1"/>
          <p:nvPr/>
        </p:nvSpPr>
        <p:spPr>
          <a:xfrm>
            <a:off x="0" y="161580"/>
            <a:ext cx="9126594" cy="461665"/>
          </a:xfrm>
          <a:prstGeom prst="rect">
            <a:avLst/>
          </a:prstGeom>
          <a:noFill/>
        </p:spPr>
        <p:txBody>
          <a:bodyPr wrap="square">
            <a:spAutoFit/>
          </a:bodyPr>
          <a:lstStyle/>
          <a:p>
            <a:pPr algn="ctr"/>
            <a:r>
              <a:rPr lang="en-IN" sz="2400" b="1" dirty="0">
                <a:solidFill>
                  <a:srgbClr val="0D47A1"/>
                </a:solidFill>
                <a:latin typeface="Georgia" panose="02040502050405020303" pitchFamily="18" charset="0"/>
              </a:rPr>
              <a:t>Prediction </a:t>
            </a:r>
          </a:p>
        </p:txBody>
      </p:sp>
      <p:sp>
        <p:nvSpPr>
          <p:cNvPr id="6" name="TextBox 5">
            <a:extLst>
              <a:ext uri="{FF2B5EF4-FFF2-40B4-BE49-F238E27FC236}">
                <a16:creationId xmlns:a16="http://schemas.microsoft.com/office/drawing/2014/main" id="{9794F76E-5A21-D722-8CFD-606D8E8A98B6}"/>
              </a:ext>
            </a:extLst>
          </p:cNvPr>
          <p:cNvSpPr txBox="1"/>
          <p:nvPr/>
        </p:nvSpPr>
        <p:spPr>
          <a:xfrm>
            <a:off x="815947" y="1163875"/>
            <a:ext cx="7703820" cy="2546082"/>
          </a:xfrm>
          <a:prstGeom prst="rect">
            <a:avLst/>
          </a:prstGeom>
          <a:noFill/>
        </p:spPr>
        <p:txBody>
          <a:bodyPr wrap="square">
            <a:spAutoFit/>
          </a:bodyPr>
          <a:lstStyle/>
          <a:p>
            <a:pPr>
              <a:lnSpc>
                <a:spcPct val="150000"/>
              </a:lnSpc>
              <a:spcAft>
                <a:spcPts val="600"/>
              </a:spcAft>
            </a:pPr>
            <a:r>
              <a:rPr lang="en-US" b="1" dirty="0">
                <a:latin typeface="Georgia" panose="02040502050405020303" pitchFamily="18" charset="0"/>
              </a:rPr>
              <a:t>How Predictions are Made</a:t>
            </a:r>
          </a:p>
          <a:p>
            <a:pPr marL="285750" lvl="1" indent="-285750">
              <a:lnSpc>
                <a:spcPct val="150000"/>
              </a:lnSpc>
              <a:spcAft>
                <a:spcPts val="600"/>
              </a:spcAft>
              <a:buFont typeface="Wingdings" panose="05000000000000000000" pitchFamily="2" charset="2"/>
              <a:buChar char="q"/>
            </a:pPr>
            <a:r>
              <a:rPr lang="en-US" dirty="0">
                <a:latin typeface="Georgia" panose="02040502050405020303" pitchFamily="18" charset="0"/>
              </a:rPr>
              <a:t> The trained XGBoost model predicts hospital charges based on input features (e.g., procedure type, location).</a:t>
            </a:r>
          </a:p>
          <a:p>
            <a:pPr marL="285750" lvl="1" indent="-285750">
              <a:lnSpc>
                <a:spcPct val="150000"/>
              </a:lnSpc>
              <a:spcAft>
                <a:spcPts val="600"/>
              </a:spcAft>
              <a:buFont typeface="Wingdings" panose="05000000000000000000" pitchFamily="2" charset="2"/>
              <a:buChar char="q"/>
            </a:pPr>
            <a:r>
              <a:rPr lang="en-US" dirty="0">
                <a:latin typeface="Georgia" panose="02040502050405020303" pitchFamily="18" charset="0"/>
              </a:rPr>
              <a:t>Given a patient's required procedure and state, the model estimates total payments across providers.</a:t>
            </a:r>
          </a:p>
          <a:p>
            <a:pPr marL="285750" lvl="1" indent="-285750">
              <a:lnSpc>
                <a:spcPct val="150000"/>
              </a:lnSpc>
              <a:spcAft>
                <a:spcPts val="600"/>
              </a:spcAft>
              <a:buFont typeface="Wingdings" panose="05000000000000000000" pitchFamily="2" charset="2"/>
              <a:buChar char="q"/>
            </a:pPr>
            <a:r>
              <a:rPr lang="en-US" dirty="0">
                <a:latin typeface="Georgia" panose="02040502050405020303" pitchFamily="18" charset="0"/>
              </a:rPr>
              <a:t>The Providers are ranked based on the </a:t>
            </a:r>
            <a:r>
              <a:rPr lang="en-US" b="1" dirty="0">
                <a:latin typeface="Georgia" panose="02040502050405020303" pitchFamily="18" charset="0"/>
              </a:rPr>
              <a:t>lowest predicted charges</a:t>
            </a:r>
            <a:r>
              <a:rPr lang="en-US" dirty="0">
                <a:latin typeface="Georgia" panose="02040502050405020303" pitchFamily="18" charset="0"/>
              </a:rPr>
              <a:t> to help patients make cost-effective decisions.</a:t>
            </a:r>
          </a:p>
        </p:txBody>
      </p:sp>
    </p:spTree>
    <p:extLst>
      <p:ext uri="{BB962C8B-B14F-4D97-AF65-F5344CB8AC3E}">
        <p14:creationId xmlns:p14="http://schemas.microsoft.com/office/powerpoint/2010/main" val="36083121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422E0411-2360-68CB-F75A-F520261EED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07FCED-0FD6-AD5D-D3A6-05A4CCF2EE08}"/>
              </a:ext>
            </a:extLst>
          </p:cNvPr>
          <p:cNvSpPr txBox="1"/>
          <p:nvPr/>
        </p:nvSpPr>
        <p:spPr>
          <a:xfrm>
            <a:off x="143436" y="307848"/>
            <a:ext cx="6135624" cy="400110"/>
          </a:xfrm>
          <a:prstGeom prst="rect">
            <a:avLst/>
          </a:prstGeom>
          <a:noFill/>
        </p:spPr>
        <p:txBody>
          <a:bodyPr wrap="square" rtlCol="0">
            <a:spAutoFit/>
          </a:bodyPr>
          <a:lstStyle/>
          <a:p>
            <a:r>
              <a:rPr lang="en-IN" sz="2000" b="1" dirty="0">
                <a:solidFill>
                  <a:srgbClr val="0D47A1"/>
                </a:solidFill>
                <a:latin typeface="Georgia" panose="02040502050405020303" pitchFamily="18" charset="0"/>
              </a:rPr>
              <a:t>Streamlit Web Application</a:t>
            </a:r>
          </a:p>
        </p:txBody>
      </p:sp>
      <p:pic>
        <p:nvPicPr>
          <p:cNvPr id="7" name="Picture 6">
            <a:extLst>
              <a:ext uri="{FF2B5EF4-FFF2-40B4-BE49-F238E27FC236}">
                <a16:creationId xmlns:a16="http://schemas.microsoft.com/office/drawing/2014/main" id="{AC7F2762-F5A6-C985-EBB2-A348710EA733}"/>
              </a:ext>
            </a:extLst>
          </p:cNvPr>
          <p:cNvPicPr>
            <a:picLocks noChangeAspect="1"/>
          </p:cNvPicPr>
          <p:nvPr/>
        </p:nvPicPr>
        <p:blipFill>
          <a:blip r:embed="rId2"/>
          <a:stretch>
            <a:fillRect/>
          </a:stretch>
        </p:blipFill>
        <p:spPr>
          <a:xfrm>
            <a:off x="143436" y="1385186"/>
            <a:ext cx="3840229" cy="2417117"/>
          </a:xfrm>
          <a:prstGeom prst="rect">
            <a:avLst/>
          </a:prstGeom>
          <a:ln>
            <a:solidFill>
              <a:schemeClr val="tx1"/>
            </a:solidFill>
          </a:ln>
        </p:spPr>
      </p:pic>
      <p:pic>
        <p:nvPicPr>
          <p:cNvPr id="10" name="Picture 9">
            <a:extLst>
              <a:ext uri="{FF2B5EF4-FFF2-40B4-BE49-F238E27FC236}">
                <a16:creationId xmlns:a16="http://schemas.microsoft.com/office/drawing/2014/main" id="{3785A372-1948-EF6D-CCBF-C3971085C91C}"/>
              </a:ext>
            </a:extLst>
          </p:cNvPr>
          <p:cNvPicPr>
            <a:picLocks noChangeAspect="1"/>
          </p:cNvPicPr>
          <p:nvPr/>
        </p:nvPicPr>
        <p:blipFill>
          <a:blip r:embed="rId3"/>
          <a:stretch>
            <a:fillRect/>
          </a:stretch>
        </p:blipFill>
        <p:spPr>
          <a:xfrm>
            <a:off x="4144822" y="976998"/>
            <a:ext cx="4855742" cy="3233495"/>
          </a:xfrm>
          <a:prstGeom prst="rect">
            <a:avLst/>
          </a:prstGeom>
          <a:ln>
            <a:solidFill>
              <a:schemeClr val="tx1"/>
            </a:solidFill>
          </a:ln>
        </p:spPr>
      </p:pic>
    </p:spTree>
    <p:extLst>
      <p:ext uri="{BB962C8B-B14F-4D97-AF65-F5344CB8AC3E}">
        <p14:creationId xmlns:p14="http://schemas.microsoft.com/office/powerpoint/2010/main" val="14799154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
          <a:extLst>
            <a:ext uri="{FF2B5EF4-FFF2-40B4-BE49-F238E27FC236}">
              <a16:creationId xmlns:a16="http://schemas.microsoft.com/office/drawing/2014/main" id="{435FE882-3384-DD5E-D88D-A0963EEE90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E58049-0FCA-731D-9420-CB95C396CA29}"/>
              </a:ext>
            </a:extLst>
          </p:cNvPr>
          <p:cNvSpPr txBox="1"/>
          <p:nvPr/>
        </p:nvSpPr>
        <p:spPr>
          <a:xfrm>
            <a:off x="429768" y="338328"/>
            <a:ext cx="6135624" cy="400110"/>
          </a:xfrm>
          <a:prstGeom prst="rect">
            <a:avLst/>
          </a:prstGeom>
          <a:noFill/>
        </p:spPr>
        <p:txBody>
          <a:bodyPr wrap="square" rtlCol="0">
            <a:spAutoFit/>
          </a:bodyPr>
          <a:lstStyle/>
          <a:p>
            <a:r>
              <a:rPr lang="en-IN" sz="2000" b="1" dirty="0">
                <a:solidFill>
                  <a:srgbClr val="0D47A1"/>
                </a:solidFill>
                <a:latin typeface="Georgia" panose="02040502050405020303" pitchFamily="18" charset="0"/>
              </a:rPr>
              <a:t>Sample result</a:t>
            </a:r>
          </a:p>
        </p:txBody>
      </p:sp>
      <p:sp>
        <p:nvSpPr>
          <p:cNvPr id="5" name="TextBox 4">
            <a:extLst>
              <a:ext uri="{FF2B5EF4-FFF2-40B4-BE49-F238E27FC236}">
                <a16:creationId xmlns:a16="http://schemas.microsoft.com/office/drawing/2014/main" id="{A48714AA-460C-E50F-88AF-A4A41CC525D0}"/>
              </a:ext>
            </a:extLst>
          </p:cNvPr>
          <p:cNvSpPr txBox="1"/>
          <p:nvPr/>
        </p:nvSpPr>
        <p:spPr>
          <a:xfrm>
            <a:off x="506683" y="1153145"/>
            <a:ext cx="3347517" cy="1107996"/>
          </a:xfrm>
          <a:prstGeom prst="rect">
            <a:avLst/>
          </a:prstGeom>
          <a:noFill/>
        </p:spPr>
        <p:txBody>
          <a:bodyPr wrap="square">
            <a:spAutoFit/>
          </a:bodyPr>
          <a:lstStyle/>
          <a:p>
            <a:pPr>
              <a:spcAft>
                <a:spcPts val="600"/>
              </a:spcAft>
            </a:pPr>
            <a:r>
              <a:rPr lang="en-IN" b="1" dirty="0">
                <a:solidFill>
                  <a:schemeClr val="tx1"/>
                </a:solidFill>
                <a:latin typeface="Georgia" panose="02040502050405020303" pitchFamily="18" charset="0"/>
              </a:rPr>
              <a:t>Service Type : </a:t>
            </a:r>
            <a:r>
              <a:rPr lang="en-IN" dirty="0">
                <a:solidFill>
                  <a:schemeClr val="tx1"/>
                </a:solidFill>
                <a:latin typeface="Georgia" panose="02040502050405020303" pitchFamily="18" charset="0"/>
              </a:rPr>
              <a:t>Inpatient</a:t>
            </a:r>
          </a:p>
          <a:p>
            <a:pPr algn="l">
              <a:spcAft>
                <a:spcPts val="600"/>
              </a:spcAft>
            </a:pPr>
            <a:r>
              <a:rPr lang="en-IN" b="1" dirty="0">
                <a:solidFill>
                  <a:schemeClr val="tx1"/>
                </a:solidFill>
                <a:latin typeface="Georgia" panose="02040502050405020303" pitchFamily="18" charset="0"/>
              </a:rPr>
              <a:t>Procedure  :</a:t>
            </a:r>
            <a:r>
              <a:rPr lang="en-IN" b="1" dirty="0">
                <a:solidFill>
                  <a:srgbClr val="D4D4D4"/>
                </a:solidFill>
                <a:effectLst/>
                <a:latin typeface="Georgia" panose="02040502050405020303" pitchFamily="18" charset="0"/>
              </a:rPr>
              <a:t> </a:t>
            </a:r>
            <a:r>
              <a:rPr lang="en-IN" b="0" i="0" dirty="0">
                <a:solidFill>
                  <a:srgbClr val="31333F"/>
                </a:solidFill>
                <a:effectLst/>
                <a:latin typeface="Georgia" panose="02040502050405020303" pitchFamily="18" charset="0"/>
              </a:rPr>
              <a:t>039 - EXTRACRANIAL PROCEDURES W/O CC/MCC</a:t>
            </a:r>
          </a:p>
          <a:p>
            <a:pPr algn="l">
              <a:spcAft>
                <a:spcPts val="600"/>
              </a:spcAft>
            </a:pPr>
            <a:r>
              <a:rPr lang="en-IN" b="1" i="0" dirty="0">
                <a:solidFill>
                  <a:srgbClr val="31333F"/>
                </a:solidFill>
                <a:effectLst/>
                <a:latin typeface="Georgia" panose="02040502050405020303" pitchFamily="18" charset="0"/>
              </a:rPr>
              <a:t>State : </a:t>
            </a:r>
            <a:r>
              <a:rPr lang="en-IN" b="0" i="0" dirty="0">
                <a:solidFill>
                  <a:srgbClr val="31333F"/>
                </a:solidFill>
                <a:effectLst/>
                <a:latin typeface="Georgia" panose="02040502050405020303" pitchFamily="18" charset="0"/>
              </a:rPr>
              <a:t>AZ</a:t>
            </a:r>
          </a:p>
        </p:txBody>
      </p:sp>
      <p:sp>
        <p:nvSpPr>
          <p:cNvPr id="12" name="TextBox 11">
            <a:extLst>
              <a:ext uri="{FF2B5EF4-FFF2-40B4-BE49-F238E27FC236}">
                <a16:creationId xmlns:a16="http://schemas.microsoft.com/office/drawing/2014/main" id="{53B18F21-A248-AB93-6DA1-C3C04070F476}"/>
              </a:ext>
            </a:extLst>
          </p:cNvPr>
          <p:cNvSpPr txBox="1"/>
          <p:nvPr/>
        </p:nvSpPr>
        <p:spPr>
          <a:xfrm>
            <a:off x="4873752" y="1153144"/>
            <a:ext cx="2523744" cy="1107996"/>
          </a:xfrm>
          <a:prstGeom prst="rect">
            <a:avLst/>
          </a:prstGeom>
          <a:noFill/>
        </p:spPr>
        <p:txBody>
          <a:bodyPr wrap="square">
            <a:spAutoFit/>
          </a:bodyPr>
          <a:lstStyle/>
          <a:p>
            <a:pPr>
              <a:spcAft>
                <a:spcPts val="600"/>
              </a:spcAft>
            </a:pPr>
            <a:r>
              <a:rPr lang="en-IN" b="1" dirty="0">
                <a:solidFill>
                  <a:schemeClr val="tx1"/>
                </a:solidFill>
                <a:latin typeface="Georgia" panose="02040502050405020303" pitchFamily="18" charset="0"/>
              </a:rPr>
              <a:t>Service Type : </a:t>
            </a:r>
            <a:r>
              <a:rPr lang="en-IN" dirty="0">
                <a:solidFill>
                  <a:schemeClr val="tx1"/>
                </a:solidFill>
                <a:latin typeface="Georgia" panose="02040502050405020303" pitchFamily="18" charset="0"/>
              </a:rPr>
              <a:t>Outpatient</a:t>
            </a:r>
          </a:p>
          <a:p>
            <a:pPr>
              <a:spcAft>
                <a:spcPts val="600"/>
              </a:spcAft>
            </a:pPr>
            <a:r>
              <a:rPr lang="en-IN" b="1" dirty="0">
                <a:solidFill>
                  <a:schemeClr val="tx1"/>
                </a:solidFill>
                <a:latin typeface="Georgia" panose="02040502050405020303" pitchFamily="18" charset="0"/>
              </a:rPr>
              <a:t>Procedure  :</a:t>
            </a:r>
            <a:r>
              <a:rPr lang="en-IN" b="1" dirty="0">
                <a:solidFill>
                  <a:srgbClr val="D4D4D4"/>
                </a:solidFill>
                <a:effectLst/>
                <a:latin typeface="Georgia" panose="02040502050405020303" pitchFamily="18" charset="0"/>
              </a:rPr>
              <a:t> </a:t>
            </a:r>
            <a:r>
              <a:rPr lang="en-IN" b="0" i="0" dirty="0">
                <a:solidFill>
                  <a:srgbClr val="31333F"/>
                </a:solidFill>
                <a:effectLst/>
                <a:latin typeface="Georgia" panose="02040502050405020303" pitchFamily="18" charset="0"/>
              </a:rPr>
              <a:t>0012 - Level I Debridement &amp; Destruction</a:t>
            </a:r>
          </a:p>
          <a:p>
            <a:pPr algn="l">
              <a:spcAft>
                <a:spcPts val="600"/>
              </a:spcAft>
            </a:pPr>
            <a:r>
              <a:rPr lang="en-IN" b="1" i="0" dirty="0">
                <a:solidFill>
                  <a:srgbClr val="31333F"/>
                </a:solidFill>
                <a:effectLst/>
                <a:latin typeface="Georgia" panose="02040502050405020303" pitchFamily="18" charset="0"/>
              </a:rPr>
              <a:t>State : </a:t>
            </a:r>
            <a:r>
              <a:rPr lang="en-IN" i="0" dirty="0">
                <a:solidFill>
                  <a:srgbClr val="31333F"/>
                </a:solidFill>
                <a:effectLst/>
                <a:latin typeface="Georgia" panose="02040502050405020303" pitchFamily="18" charset="0"/>
              </a:rPr>
              <a:t>AR</a:t>
            </a:r>
          </a:p>
        </p:txBody>
      </p:sp>
      <p:sp>
        <p:nvSpPr>
          <p:cNvPr id="18" name="TextBox 17">
            <a:extLst>
              <a:ext uri="{FF2B5EF4-FFF2-40B4-BE49-F238E27FC236}">
                <a16:creationId xmlns:a16="http://schemas.microsoft.com/office/drawing/2014/main" id="{BEAA88CC-0B89-CF2A-70EE-7484E9D3A6F0}"/>
              </a:ext>
            </a:extLst>
          </p:cNvPr>
          <p:cNvSpPr txBox="1"/>
          <p:nvPr/>
        </p:nvSpPr>
        <p:spPr>
          <a:xfrm>
            <a:off x="506683" y="845367"/>
            <a:ext cx="1307592" cy="307777"/>
          </a:xfrm>
          <a:prstGeom prst="rect">
            <a:avLst/>
          </a:prstGeom>
          <a:noFill/>
        </p:spPr>
        <p:txBody>
          <a:bodyPr wrap="square" rtlCol="0">
            <a:spAutoFit/>
          </a:bodyPr>
          <a:lstStyle/>
          <a:p>
            <a:r>
              <a:rPr lang="en-IN" b="1" dirty="0">
                <a:solidFill>
                  <a:srgbClr val="FF0000"/>
                </a:solidFill>
                <a:latin typeface="Georgia" panose="02040502050405020303" pitchFamily="18" charset="0"/>
              </a:rPr>
              <a:t>Sample 1</a:t>
            </a:r>
          </a:p>
        </p:txBody>
      </p:sp>
      <p:sp>
        <p:nvSpPr>
          <p:cNvPr id="19" name="TextBox 18">
            <a:extLst>
              <a:ext uri="{FF2B5EF4-FFF2-40B4-BE49-F238E27FC236}">
                <a16:creationId xmlns:a16="http://schemas.microsoft.com/office/drawing/2014/main" id="{EADBE5B6-35E6-2400-BDC3-00592C9B3CE4}"/>
              </a:ext>
            </a:extLst>
          </p:cNvPr>
          <p:cNvSpPr txBox="1"/>
          <p:nvPr/>
        </p:nvSpPr>
        <p:spPr>
          <a:xfrm>
            <a:off x="4873752" y="834424"/>
            <a:ext cx="1307592" cy="307777"/>
          </a:xfrm>
          <a:prstGeom prst="rect">
            <a:avLst/>
          </a:prstGeom>
          <a:noFill/>
        </p:spPr>
        <p:txBody>
          <a:bodyPr wrap="square" rtlCol="0">
            <a:spAutoFit/>
          </a:bodyPr>
          <a:lstStyle/>
          <a:p>
            <a:r>
              <a:rPr lang="en-IN" b="1" dirty="0">
                <a:solidFill>
                  <a:srgbClr val="FF0000"/>
                </a:solidFill>
                <a:latin typeface="Georgia" panose="02040502050405020303" pitchFamily="18" charset="0"/>
              </a:rPr>
              <a:t>Sample 2</a:t>
            </a:r>
          </a:p>
        </p:txBody>
      </p:sp>
      <p:pic>
        <p:nvPicPr>
          <p:cNvPr id="4" name="Picture 3">
            <a:extLst>
              <a:ext uri="{FF2B5EF4-FFF2-40B4-BE49-F238E27FC236}">
                <a16:creationId xmlns:a16="http://schemas.microsoft.com/office/drawing/2014/main" id="{07294189-DBB0-73F4-C72B-B462357635D1}"/>
              </a:ext>
            </a:extLst>
          </p:cNvPr>
          <p:cNvPicPr>
            <a:picLocks noChangeAspect="1"/>
          </p:cNvPicPr>
          <p:nvPr/>
        </p:nvPicPr>
        <p:blipFill>
          <a:blip r:embed="rId2"/>
          <a:stretch>
            <a:fillRect/>
          </a:stretch>
        </p:blipFill>
        <p:spPr>
          <a:xfrm>
            <a:off x="429768" y="2550971"/>
            <a:ext cx="3477110" cy="1924319"/>
          </a:xfrm>
          <a:prstGeom prst="rect">
            <a:avLst/>
          </a:prstGeom>
          <a:ln>
            <a:solidFill>
              <a:schemeClr val="tx1"/>
            </a:solidFill>
          </a:ln>
        </p:spPr>
      </p:pic>
      <p:pic>
        <p:nvPicPr>
          <p:cNvPr id="7" name="Picture 6">
            <a:extLst>
              <a:ext uri="{FF2B5EF4-FFF2-40B4-BE49-F238E27FC236}">
                <a16:creationId xmlns:a16="http://schemas.microsoft.com/office/drawing/2014/main" id="{43EF3933-AE41-708A-2ADE-7201841FB426}"/>
              </a:ext>
            </a:extLst>
          </p:cNvPr>
          <p:cNvPicPr>
            <a:picLocks noChangeAspect="1"/>
          </p:cNvPicPr>
          <p:nvPr/>
        </p:nvPicPr>
        <p:blipFill>
          <a:blip r:embed="rId3"/>
          <a:stretch>
            <a:fillRect/>
          </a:stretch>
        </p:blipFill>
        <p:spPr>
          <a:xfrm>
            <a:off x="4873752" y="2545080"/>
            <a:ext cx="3458058" cy="1924319"/>
          </a:xfrm>
          <a:prstGeom prst="rect">
            <a:avLst/>
          </a:prstGeom>
          <a:ln>
            <a:solidFill>
              <a:schemeClr val="tx1"/>
            </a:solidFill>
          </a:ln>
        </p:spPr>
      </p:pic>
    </p:spTree>
    <p:extLst>
      <p:ext uri="{BB962C8B-B14F-4D97-AF65-F5344CB8AC3E}">
        <p14:creationId xmlns:p14="http://schemas.microsoft.com/office/powerpoint/2010/main" val="33232753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E3F2FD"/>
        </a:solidFill>
        <a:effectLst/>
      </p:bgPr>
    </p:bg>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4226986" y="3519162"/>
            <a:ext cx="4870500" cy="792600"/>
          </a:xfrm>
          <a:prstGeom prst="rect">
            <a:avLst/>
          </a:prstGeom>
          <a:noFill/>
          <a:ln>
            <a:noFill/>
          </a:ln>
        </p:spPr>
        <p:txBody>
          <a:bodyPr spcFirstLastPara="1" wrap="square" lIns="91425" tIns="91425" rIns="91425" bIns="91425" anchor="ctr" anchorCtr="0">
            <a:normAutofit/>
          </a:bodyPr>
          <a:lstStyle/>
          <a:p>
            <a:pPr marL="457200" lvl="0" indent="-342900" algn="ctr" rtl="0">
              <a:lnSpc>
                <a:spcPct val="100000"/>
              </a:lnSpc>
              <a:spcBef>
                <a:spcPts val="0"/>
              </a:spcBef>
              <a:spcAft>
                <a:spcPts val="0"/>
              </a:spcAft>
              <a:buSzPts val="2400"/>
              <a:buNone/>
            </a:pPr>
            <a:r>
              <a:rPr lang="en-US" sz="3600" b="1" dirty="0">
                <a:solidFill>
                  <a:srgbClr val="0D47A1"/>
                </a:solidFill>
              </a:rPr>
              <a:t>Thank you!</a:t>
            </a:r>
            <a:endParaRPr sz="3600" b="1" dirty="0">
              <a:solidFill>
                <a:srgbClr val="0D47A1"/>
              </a:solidFill>
            </a:endParaRPr>
          </a:p>
        </p:txBody>
      </p:sp>
    </p:spTree>
    <p:extLst>
      <p:ext uri="{BB962C8B-B14F-4D97-AF65-F5344CB8AC3E}">
        <p14:creationId xmlns:p14="http://schemas.microsoft.com/office/powerpoint/2010/main" val="3656772840"/>
      </p:ext>
    </p:extLst>
  </p:cSld>
  <p:clrMapOvr>
    <a:masterClrMapping/>
  </p:clrMapOvr>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78913</TotalTime>
  <Words>2830</Words>
  <Application>Microsoft Office PowerPoint</Application>
  <PresentationFormat>On-screen Show (16:9)</PresentationFormat>
  <Paragraphs>329</Paragraphs>
  <Slides>59</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Courier New</vt:lpstr>
      <vt:lpstr>Raleway</vt:lpstr>
      <vt:lpstr>Wingdings</vt:lpstr>
      <vt:lpstr>PT Sans Narrow</vt:lpstr>
      <vt:lpstr>Arial</vt:lpstr>
      <vt:lpstr>Open Sans</vt:lpstr>
      <vt:lpstr>Georgia</vt:lpstr>
      <vt:lpstr>Calibri</vt:lpstr>
      <vt:lpstr>Tropic</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Chandra</dc:creator>
  <cp:lastModifiedBy>Sakthi Janani</cp:lastModifiedBy>
  <cp:revision>234</cp:revision>
  <cp:lastPrinted>2023-08-03T06:18:45Z</cp:lastPrinted>
  <dcterms:modified xsi:type="dcterms:W3CDTF">2025-03-07T15:57:36Z</dcterms:modified>
</cp:coreProperties>
</file>